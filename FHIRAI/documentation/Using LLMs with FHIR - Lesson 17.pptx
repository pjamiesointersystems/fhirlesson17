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35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351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61"/>
  </p:normalViewPr>
  <p:slideViewPr>
    <p:cSldViewPr snapToGrid="0" snapToObjects="1">
      <p:cViewPr varScale="1">
        <p:scale>
          <a:sx n="114" d="100"/>
          <a:sy n="114" d="100"/>
        </p:scale>
        <p:origin x="66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65FDB4-EAE0-FE48-8D4E-1C834B28EA95}" type="datetimeFigureOut">
              <a:rPr lang="en-US" smtClean="0"/>
              <a:t>10/9/26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33F9DC-4D4A-D24F-B2B9-4F199BA22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389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47688" y="1065213"/>
            <a:ext cx="5762625" cy="3241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A23D1-645A-47C4-AAAF-6F2DE82A7D3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119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3F9DC-4D4A-D24F-B2B9-4F199BA2288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7572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E1AF1-B141-00A4-4C67-1D2F55339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3E3ABA-2454-EF0A-7D8C-8D506A203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2B83A6-B8A3-4AA8-1ACC-42E2BD1495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D29D5-492D-9C3C-A3C9-0FCB4954B8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3F9DC-4D4A-D24F-B2B9-4F199BA2288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655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BF18A95F-822F-229F-A0BF-10A729682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B85E32FB-4806-4CE5-ABEE-6BCA78A618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4497EFA2-4C61-D748-741F-C082D00F1F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83436D26-E073-A6C9-2CBD-48EDCB3140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F83BEDDB-B444-A88C-2248-99A0583EA9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5ECAAA8B-8445-9744-60A0-F49244F1F3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CC8F160E-FE83-2115-5E46-0CE08D779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6DE80FD6-26F0-E015-861D-2BE267EB8BE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0CD13A72-2060-1CF5-04C1-18F7447FA9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4">
            <a:extLst>
              <a:ext uri="{FF2B5EF4-FFF2-40B4-BE49-F238E27FC236}">
                <a16:creationId xmlns:a16="http://schemas.microsoft.com/office/drawing/2014/main" id="{46A8EFA4-0243-EDB6-9BF0-3C61456348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AD1687A3-AF02-D5F7-1B89-78EAA2AE4F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2A8CACA-42F1-BA82-AA9F-3F5BDAE9F6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4">
            <a:extLst>
              <a:ext uri="{FF2B5EF4-FFF2-40B4-BE49-F238E27FC236}">
                <a16:creationId xmlns:a16="http://schemas.microsoft.com/office/drawing/2014/main" id="{B9D0DF85-2746-F4C5-70AF-529AEABF2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ED5B715C-2EEE-360D-C141-C662B96FA32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F73773CB-67AF-C84B-BD12-2CD1FF274F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C24DC36A-0D87-6746-D3D8-E194F1A97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2CC7A128-7B1B-3F19-B562-3B464FC6BFB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D39B8B17-A56F-F9D8-7C65-0125D722C9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reeform: Shape 5">
            <a:extLst>
              <a:ext uri="{FF2B5EF4-FFF2-40B4-BE49-F238E27FC236}">
                <a16:creationId xmlns:a16="http://schemas.microsoft.com/office/drawing/2014/main" id="{FABC4C4E-A132-AEC0-8D90-0B701800B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11553" y="179763"/>
            <a:ext cx="12192000" cy="6858001"/>
          </a:xfrm>
          <a:custGeom>
            <a:avLst/>
            <a:gdLst>
              <a:gd name="connsiteX0" fmla="*/ 0 w 12192000"/>
              <a:gd name="connsiteY0" fmla="*/ 0 h 6858001"/>
              <a:gd name="connsiteX1" fmla="*/ 5154384 w 12192000"/>
              <a:gd name="connsiteY1" fmla="*/ 0 h 6858001"/>
              <a:gd name="connsiteX2" fmla="*/ 12192000 w 12192000"/>
              <a:gd name="connsiteY2" fmla="*/ 3506141 h 6858001"/>
              <a:gd name="connsiteX3" fmla="*/ 12192000 w 12192000"/>
              <a:gd name="connsiteY3" fmla="*/ 6858001 h 6858001"/>
              <a:gd name="connsiteX4" fmla="*/ 3513465 w 12192000"/>
              <a:gd name="connsiteY4" fmla="*/ 6858001 h 6858001"/>
              <a:gd name="connsiteX5" fmla="*/ 0 w 12192000"/>
              <a:gd name="connsiteY5" fmla="*/ 510759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1">
                <a:moveTo>
                  <a:pt x="0" y="0"/>
                </a:moveTo>
                <a:lnTo>
                  <a:pt x="5154384" y="0"/>
                </a:lnTo>
                <a:lnTo>
                  <a:pt x="12192000" y="3506141"/>
                </a:lnTo>
                <a:lnTo>
                  <a:pt x="12192000" y="6858001"/>
                </a:lnTo>
                <a:lnTo>
                  <a:pt x="3513465" y="6858001"/>
                </a:lnTo>
                <a:lnTo>
                  <a:pt x="0" y="5107593"/>
                </a:lnTo>
                <a:close/>
              </a:path>
            </a:pathLst>
          </a:custGeom>
          <a:gradFill>
            <a:gsLst>
              <a:gs pos="30000">
                <a:schemeClr val="bg2">
                  <a:lumMod val="10000"/>
                  <a:alpha val="0"/>
                </a:schemeClr>
              </a:gs>
              <a:gs pos="100000">
                <a:schemeClr val="tx2">
                  <a:lumMod val="10000"/>
                  <a:alpha val="35000"/>
                </a:schemeClr>
              </a:gs>
              <a:gs pos="0">
                <a:schemeClr val="bg2">
                  <a:lumMod val="10000"/>
                  <a:alpha val="0"/>
                </a:schemeClr>
              </a:gs>
              <a:gs pos="70000">
                <a:schemeClr val="bg2">
                  <a:lumMod val="10000"/>
                  <a:alpha val="25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90000" bIns="90000" rtlCol="0" anchor="t">
            <a:noAutofit/>
          </a:bodyPr>
          <a:lstStyle/>
          <a:p>
            <a:pPr lvl="0"/>
            <a:endParaRPr lang="en-US" noProof="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A048B0AA-65D8-EEA9-FDB8-9C4F97DEC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F3383547-9522-76E3-AFF0-70D183904E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F30B7E6C-5B52-5544-F92D-86813158F7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EF34D13-BC3E-86EA-9D4F-856E5490C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11553" y="179763"/>
            <a:ext cx="12192000" cy="6858001"/>
          </a:xfrm>
          <a:custGeom>
            <a:avLst/>
            <a:gdLst>
              <a:gd name="connsiteX0" fmla="*/ 0 w 12192000"/>
              <a:gd name="connsiteY0" fmla="*/ 0 h 6858001"/>
              <a:gd name="connsiteX1" fmla="*/ 5154384 w 12192000"/>
              <a:gd name="connsiteY1" fmla="*/ 0 h 6858001"/>
              <a:gd name="connsiteX2" fmla="*/ 12192000 w 12192000"/>
              <a:gd name="connsiteY2" fmla="*/ 3506141 h 6858001"/>
              <a:gd name="connsiteX3" fmla="*/ 12192000 w 12192000"/>
              <a:gd name="connsiteY3" fmla="*/ 6858001 h 6858001"/>
              <a:gd name="connsiteX4" fmla="*/ 3513465 w 12192000"/>
              <a:gd name="connsiteY4" fmla="*/ 6858001 h 6858001"/>
              <a:gd name="connsiteX5" fmla="*/ 0 w 12192000"/>
              <a:gd name="connsiteY5" fmla="*/ 510759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1">
                <a:moveTo>
                  <a:pt x="0" y="0"/>
                </a:moveTo>
                <a:lnTo>
                  <a:pt x="5154384" y="0"/>
                </a:lnTo>
                <a:lnTo>
                  <a:pt x="12192000" y="3506141"/>
                </a:lnTo>
                <a:lnTo>
                  <a:pt x="12192000" y="6858001"/>
                </a:lnTo>
                <a:lnTo>
                  <a:pt x="3513465" y="6858001"/>
                </a:lnTo>
                <a:lnTo>
                  <a:pt x="0" y="5107593"/>
                </a:lnTo>
                <a:close/>
              </a:path>
            </a:pathLst>
          </a:custGeom>
          <a:gradFill>
            <a:gsLst>
              <a:gs pos="30000">
                <a:schemeClr val="bg2">
                  <a:lumMod val="10000"/>
                  <a:alpha val="0"/>
                </a:schemeClr>
              </a:gs>
              <a:gs pos="100000">
                <a:schemeClr val="tx2">
                  <a:lumMod val="10000"/>
                  <a:alpha val="35000"/>
                </a:schemeClr>
              </a:gs>
              <a:gs pos="0">
                <a:schemeClr val="bg2">
                  <a:lumMod val="10000"/>
                  <a:alpha val="0"/>
                </a:schemeClr>
              </a:gs>
              <a:gs pos="70000">
                <a:schemeClr val="bg2">
                  <a:lumMod val="10000"/>
                  <a:alpha val="25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90000" bIns="90000" rtlCol="0" anchor="t">
            <a:noAutofit/>
          </a:bodyPr>
          <a:lstStyle/>
          <a:p>
            <a:pPr lvl="0"/>
            <a:endParaRPr lang="en-US" noProof="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23" name="Graphic 10">
            <a:extLst>
              <a:ext uri="{FF2B5EF4-FFF2-40B4-BE49-F238E27FC236}">
                <a16:creationId xmlns:a16="http://schemas.microsoft.com/office/drawing/2014/main" id="{606B902F-16EC-BD3F-C2B0-EDF7B1D4A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845150" y="2170744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92C0E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8" name="Graphic 10">
            <a:extLst>
              <a:ext uri="{FF2B5EF4-FFF2-40B4-BE49-F238E27FC236}">
                <a16:creationId xmlns:a16="http://schemas.microsoft.com/office/drawing/2014/main" id="{7E1C6CE2-5FA1-930F-518C-E8962B562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845150" y="-1472200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44000">
                  <a:srgbClr val="FFFFFF"/>
                </a:gs>
                <a:gs pos="100000">
                  <a:srgbClr val="C5B4E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2FFED81-82B3-0F39-1B70-0286BC448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500677" y="-1260132"/>
            <a:ext cx="691323" cy="2520264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C5B4E2"/>
              </a:gs>
              <a:gs pos="100000">
                <a:srgbClr val="2F2A95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C5B4E2"/>
                </a:gs>
                <a:gs pos="99000">
                  <a:srgbClr val="C5B4E2">
                    <a:lumMod val="75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1" name="Graphic 10">
            <a:extLst>
              <a:ext uri="{FF2B5EF4-FFF2-40B4-BE49-F238E27FC236}">
                <a16:creationId xmlns:a16="http://schemas.microsoft.com/office/drawing/2014/main" id="{129C23D1-F20D-428E-17F6-8BF23C191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140854" y="-1048064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44000">
                  <a:srgbClr val="FFFFFF"/>
                </a:gs>
                <a:gs pos="100000">
                  <a:srgbClr val="C5B4E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D2717CF-8B90-65F9-DB2B-9474078F5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809354" y="-835997"/>
            <a:ext cx="691323" cy="2520264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C5B4E2"/>
              </a:gs>
              <a:gs pos="100000">
                <a:srgbClr val="C5B4E2">
                  <a:lumMod val="75000"/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C5B4E2"/>
                </a:gs>
                <a:gs pos="100000">
                  <a:srgbClr val="C5B4E2">
                    <a:lumMod val="75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4" name="Graphic 10">
            <a:extLst>
              <a:ext uri="{FF2B5EF4-FFF2-40B4-BE49-F238E27FC236}">
                <a16:creationId xmlns:a16="http://schemas.microsoft.com/office/drawing/2014/main" id="{49B57647-9E99-1BD2-0328-42F2B3BE2A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451913" y="-623929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75000">
                  <a:srgbClr val="C5B4E2"/>
                </a:gs>
                <a:gs pos="33000">
                  <a:srgbClr val="FFFFFF"/>
                </a:gs>
                <a:gs pos="100000">
                  <a:srgbClr val="92C0E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AC99965-25BD-CBAA-FC4D-F4F62E4C9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8032" y="-411862"/>
            <a:ext cx="691323" cy="2520264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78E3DE"/>
              </a:gs>
              <a:gs pos="100000">
                <a:srgbClr val="2F2A95">
                  <a:alpha val="90000"/>
                </a:srgbClr>
              </a:gs>
              <a:gs pos="62000">
                <a:srgbClr val="00B2A9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/>
                </a:gs>
                <a:gs pos="100000">
                  <a:srgbClr val="00B2A9">
                    <a:lumMod val="5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821A11DD-4151-5B32-18DB-FC4A4A096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762972" y="-199794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0000">
                  <a:srgbClr val="FFFFFF"/>
                </a:gs>
                <a:gs pos="100000">
                  <a:srgbClr val="00B2A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696B326-0E44-36CA-5B5E-F85C34E36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426709" y="12273"/>
            <a:ext cx="691323" cy="2520264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78E3DE"/>
              </a:gs>
              <a:gs pos="100000">
                <a:srgbClr val="00B2A9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/>
                </a:gs>
                <a:gs pos="100000">
                  <a:srgbClr val="00B2A9">
                    <a:lumMod val="5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8" name="Graphic 10">
            <a:extLst>
              <a:ext uri="{FF2B5EF4-FFF2-40B4-BE49-F238E27FC236}">
                <a16:creationId xmlns:a16="http://schemas.microsoft.com/office/drawing/2014/main" id="{0CA1C9E4-3B4D-A4CF-B041-6D864C7A6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081111" y="224340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0000">
                  <a:srgbClr val="FFFFFF"/>
                </a:gs>
                <a:gs pos="100000">
                  <a:srgbClr val="00B2A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53C2D26D-B1F0-CDC1-8642-009998811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500677" y="2396826"/>
            <a:ext cx="691323" cy="2520264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C5B4E2"/>
              </a:gs>
              <a:gs pos="100000">
                <a:srgbClr val="2F2A95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C5B4E2"/>
                </a:gs>
                <a:gs pos="99000">
                  <a:srgbClr val="2F2A95"/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0" name="Graphic 10">
            <a:extLst>
              <a:ext uri="{FF2B5EF4-FFF2-40B4-BE49-F238E27FC236}">
                <a16:creationId xmlns:a16="http://schemas.microsoft.com/office/drawing/2014/main" id="{E2C97942-CEAB-B2F1-3625-6F9F09D14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156206" y="2608894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92C0E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F7DF1CEA-7E83-84E1-F96B-E5D038570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811735" y="2820961"/>
            <a:ext cx="691323" cy="2520264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99083">
                <a:srgbClr val="006990">
                  <a:alpha val="90000"/>
                </a:srgbClr>
              </a:gs>
              <a:gs pos="41000">
                <a:srgbClr val="92C0E9"/>
              </a:gs>
              <a:gs pos="59000">
                <a:srgbClr val="92C0E9">
                  <a:alpha val="90000"/>
                </a:srgbClr>
              </a:gs>
              <a:gs pos="0">
                <a:srgbClr val="C5B4E2">
                  <a:lumMod val="75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C5B4E2"/>
                </a:gs>
                <a:gs pos="100000">
                  <a:srgbClr val="92C0E9"/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2" name="Graphic 10">
            <a:extLst>
              <a:ext uri="{FF2B5EF4-FFF2-40B4-BE49-F238E27FC236}">
                <a16:creationId xmlns:a16="http://schemas.microsoft.com/office/drawing/2014/main" id="{4A4823D3-ED44-05BC-A945-98A0F20AE1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467264" y="3033029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92C0E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EAEE620-70FB-E19F-EB40-6A81E6237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22793" y="3245096"/>
            <a:ext cx="691323" cy="2520264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78E3DE">
                  <a:lumMod val="94000"/>
                </a:srgbClr>
              </a:gs>
              <a:gs pos="100000">
                <a:srgbClr val="2F2A95">
                  <a:alpha val="90000"/>
                </a:srgbClr>
              </a:gs>
              <a:gs pos="62000">
                <a:srgbClr val="00B2A9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/>
                </a:gs>
                <a:gs pos="100000">
                  <a:srgbClr val="2F2A95"/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5" name="Graphic 10">
            <a:extLst>
              <a:ext uri="{FF2B5EF4-FFF2-40B4-BE49-F238E27FC236}">
                <a16:creationId xmlns:a16="http://schemas.microsoft.com/office/drawing/2014/main" id="{F2EDAAE7-C03C-6F5A-1743-0167B19C2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778323" y="3457164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00B2A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2FEEE33B-2152-E922-1E6C-6267D69AFF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433852" y="3669231"/>
            <a:ext cx="691323" cy="2520264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78E3DE"/>
              </a:gs>
              <a:gs pos="100000">
                <a:srgbClr val="00B2A9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/>
                </a:gs>
                <a:gs pos="100000">
                  <a:srgbClr val="00B2A9">
                    <a:lumMod val="5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7" name="Graphic 10">
            <a:extLst>
              <a:ext uri="{FF2B5EF4-FFF2-40B4-BE49-F238E27FC236}">
                <a16:creationId xmlns:a16="http://schemas.microsoft.com/office/drawing/2014/main" id="{7387A476-7547-353E-37A3-2C00AEF0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089382" y="3881298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00B2A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C9C6F9AD-12FC-D7EB-B9B0-D28E85699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751991" y="4096880"/>
            <a:ext cx="691323" cy="2520264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>
            <a:gsLst>
              <a:gs pos="49500">
                <a:srgbClr val="92C0E9">
                  <a:alpha val="95000"/>
                  <a:lumMod val="95000"/>
                </a:srgbClr>
              </a:gs>
              <a:gs pos="0">
                <a:srgbClr val="00B2A9"/>
              </a:gs>
              <a:gs pos="100000">
                <a:srgbClr val="C5B4E2">
                  <a:alpha val="90000"/>
                </a:srgbClr>
              </a:gs>
            </a:gsLst>
            <a:lin ang="6900000" scaled="0"/>
          </a:gradFill>
          <a:ln w="19050" cap="flat">
            <a:gradFill flip="none" rotWithShape="1">
              <a:gsLst>
                <a:gs pos="27000">
                  <a:srgbClr val="00B2A9"/>
                </a:gs>
                <a:gs pos="100000">
                  <a:srgbClr val="C5B4E2"/>
                </a:gs>
                <a:gs pos="0">
                  <a:srgbClr val="006990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0" name="Graphic 10">
            <a:extLst>
              <a:ext uri="{FF2B5EF4-FFF2-40B4-BE49-F238E27FC236}">
                <a16:creationId xmlns:a16="http://schemas.microsoft.com/office/drawing/2014/main" id="{0D47CF11-5798-6A08-DC19-3292A6F9E2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8400441" y="4305433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C5B4E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8C579C1B-711E-EE0E-B282-3E5464BECE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65995" y="4517500"/>
            <a:ext cx="691323" cy="2520264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100000">
                <a:srgbClr val="2F2A95">
                  <a:alpha val="90000"/>
                </a:srgbClr>
              </a:gs>
              <a:gs pos="0">
                <a:srgbClr val="92C0E9"/>
              </a:gs>
              <a:gs pos="64198">
                <a:srgbClr val="C5B4E2"/>
              </a:gs>
              <a:gs pos="33000">
                <a:srgbClr val="92C0E9"/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>
                    <a:lumMod val="75000"/>
                  </a:srgbClr>
                </a:gs>
                <a:gs pos="100000">
                  <a:srgbClr val="2F2A95"/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2" name="Graphic 10">
            <a:extLst>
              <a:ext uri="{FF2B5EF4-FFF2-40B4-BE49-F238E27FC236}">
                <a16:creationId xmlns:a16="http://schemas.microsoft.com/office/drawing/2014/main" id="{8697D1A3-DD74-D19A-14F1-24272475E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711500" y="4729568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C5B4E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907A79E4-9519-4E03-F4ED-354128202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374548" y="4941636"/>
            <a:ext cx="691323" cy="2520264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>
            <a:gsLst>
              <a:gs pos="100000">
                <a:srgbClr val="C5B4E2">
                  <a:lumMod val="75000"/>
                  <a:alpha val="63000"/>
                </a:srgbClr>
              </a:gs>
              <a:gs pos="0">
                <a:srgbClr val="92C0E9"/>
              </a:gs>
              <a:gs pos="61000">
                <a:srgbClr val="2F2A95">
                  <a:alpha val="90000"/>
                </a:srgbClr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/>
                </a:gs>
                <a:gs pos="100000">
                  <a:srgbClr val="C5B4E2">
                    <a:lumMod val="5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4" name="Graphic 10">
            <a:extLst>
              <a:ext uri="{FF2B5EF4-FFF2-40B4-BE49-F238E27FC236}">
                <a16:creationId xmlns:a16="http://schemas.microsoft.com/office/drawing/2014/main" id="{C7AEA665-3421-363B-9EE4-BCE6B2FED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022559" y="5153703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C5B4E2">
                    <a:lumMod val="5000"/>
                    <a:lumOff val="95000"/>
                  </a:srgbClr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2AF25AB-2E60-09C3-5621-27D775DA3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78088" y="5365770"/>
            <a:ext cx="691323" cy="2520264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>
            <a:gsLst>
              <a:gs pos="100000">
                <a:srgbClr val="2F2A95">
                  <a:lumMod val="96000"/>
                  <a:alpha val="90000"/>
                </a:srgbClr>
              </a:gs>
              <a:gs pos="0">
                <a:srgbClr val="92C0E9"/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6" name="Graphic 10">
            <a:extLst>
              <a:ext uri="{FF2B5EF4-FFF2-40B4-BE49-F238E27FC236}">
                <a16:creationId xmlns:a16="http://schemas.microsoft.com/office/drawing/2014/main" id="{C6069EAA-0851-B7F6-6662-71EFBC6E9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333617" y="5577838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9600">
                  <a:srgbClr val="92C0E9"/>
                </a:gs>
                <a:gs pos="0">
                  <a:srgbClr val="FFFFFF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937CA5C-1A69-7886-E26E-D35E41C2B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89146" y="5789905"/>
            <a:ext cx="691323" cy="2520264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100000">
                <a:srgbClr val="92C0E9">
                  <a:lumMod val="50000"/>
                  <a:alpha val="90000"/>
                </a:srgbClr>
              </a:gs>
              <a:gs pos="84000">
                <a:srgbClr val="92C0E9">
                  <a:lumMod val="75000"/>
                  <a:alpha val="90000"/>
                </a:srgbClr>
              </a:gs>
              <a:gs pos="0">
                <a:srgbClr val="92C0E9"/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/>
                </a:gs>
                <a:gs pos="100000">
                  <a:srgbClr val="92C0E9">
                    <a:lumMod val="5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8" name="Graphic 10">
            <a:extLst>
              <a:ext uri="{FF2B5EF4-FFF2-40B4-BE49-F238E27FC236}">
                <a16:creationId xmlns:a16="http://schemas.microsoft.com/office/drawing/2014/main" id="{D7C75355-3FCF-9A19-33B5-DB7B4CFC4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644676" y="6001973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9600">
                  <a:srgbClr val="92C0E9"/>
                </a:gs>
                <a:gs pos="0">
                  <a:srgbClr val="FFFFFF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B64912BB-A58F-4ED2-43CB-3EF92A7DB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07285" y="6217553"/>
            <a:ext cx="677162" cy="2513238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100000">
                <a:srgbClr val="92C0E9">
                  <a:lumMod val="75000"/>
                </a:srgbClr>
              </a:gs>
              <a:gs pos="0">
                <a:srgbClr val="92C0E9"/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/>
                </a:gs>
                <a:gs pos="100000">
                  <a:srgbClr val="92C0E9">
                    <a:lumMod val="5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0" name="Graphic 10">
            <a:extLst>
              <a:ext uri="{FF2B5EF4-FFF2-40B4-BE49-F238E27FC236}">
                <a16:creationId xmlns:a16="http://schemas.microsoft.com/office/drawing/2014/main" id="{2AD040A3-CAF2-46CD-85F0-0F7F81D081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4955735" y="6426108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9600">
                  <a:srgbClr val="92C0E9"/>
                </a:gs>
                <a:gs pos="0">
                  <a:srgbClr val="FFFFFF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pic>
        <p:nvPicPr>
          <p:cNvPr id="41" name="Graphic 40" descr="InterSystems: Creative data technology">
            <a:extLst>
              <a:ext uri="{FF2B5EF4-FFF2-40B4-BE49-F238E27FC236}">
                <a16:creationId xmlns:a16="http://schemas.microsoft.com/office/drawing/2014/main" id="{6D1F4415-3901-E314-2AC4-920569B1FA27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" r="-7033"/>
          <a:stretch/>
        </p:blipFill>
        <p:spPr>
          <a:xfrm>
            <a:off x="570977" y="459740"/>
            <a:ext cx="2375423" cy="591820"/>
          </a:xfrm>
          <a:prstGeom prst="rect">
            <a:avLst/>
          </a:prstGeom>
        </p:spPr>
      </p:pic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D9EDAB84-7CD5-33C6-2CD8-F5E79A4E634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352801" y="355600"/>
            <a:ext cx="2679700" cy="787400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</a:t>
            </a:r>
            <a:br>
              <a:rPr lang="en-US"/>
            </a:br>
            <a:r>
              <a:rPr lang="en-US"/>
              <a:t>additional logo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2C2119-78F4-9184-FB31-A0593C55D7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6100" y="1524001"/>
            <a:ext cx="7023100" cy="2317750"/>
          </a:xfrm>
        </p:spPr>
        <p:txBody>
          <a:bodyPr vert="horz" lIns="0" tIns="0" rIns="72000" bIns="0" rtlCol="0" anchor="b" anchorCtr="0">
            <a:normAutofit/>
          </a:bodyPr>
          <a:lstStyle>
            <a:lvl1pPr>
              <a:defRPr lang="en-US" sz="4400" dirty="0">
                <a:solidFill>
                  <a:schemeClr val="accent2"/>
                </a:solidFill>
                <a:ea typeface="+mn-ea"/>
                <a:cs typeface="+mn-cs"/>
              </a:defRPr>
            </a:lvl1pPr>
          </a:lstStyle>
          <a:p>
            <a:pPr lvl="0">
              <a:spcAft>
                <a:spcPts val="0"/>
              </a:spcAft>
              <a:buClrTx/>
              <a:buSzTx/>
              <a:buFontTx/>
            </a:pPr>
            <a:r>
              <a:rPr lang="en-US"/>
              <a:t>Click to Add Title, Use Font Size 44, Title Case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E8C6115-E794-4726-A3EE-ED83C2ACA1A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6100" y="3967163"/>
            <a:ext cx="7023100" cy="1224466"/>
          </a:xfr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2000" baseline="0"/>
            </a:lvl1pPr>
          </a:lstStyle>
          <a:p>
            <a:pPr lvl="0"/>
            <a:r>
              <a:rPr lang="en-US"/>
              <a:t>Click to add subtitle, use font size 20, sentence case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EFE08-00A6-55F9-5732-FD5336FE36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A3245-AD40-EEBE-F50E-1413AF197F9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10/9/26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911603-80E8-510B-6678-4A3F6BEE5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5226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decel="10000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2.5E-6 0.03889 L -2.5E-6 -3.7037E-6 " pathEditMode="relative" rAng="0" ptsTypes="AA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path" presetSubtype="0" decel="10000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2.5E-6 -0.03472 L -2.5E-6 -2.59259E-6 " pathEditMode="relative" rAng="0" ptsTypes="AA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8.476181E-02 -9.276817E-02 E" pathEditMode="relative" ptsTypes="">
                                      <p:cBhvr>
                                        <p:cTn id="113" dur="15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4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130157 -0.1236909 E" pathEditMode="relative" ptsTypes="">
                                      <p:cBhvr>
                                        <p:cTn id="115" dur="150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6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425288 -0.1546136 E" pathEditMode="relative" ptsTypes="">
                                      <p:cBhvr>
                                        <p:cTn id="117" dur="15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8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697187 -0.1855362 E" pathEditMode="relative" ptsTypes="">
                                      <p:cBhvr>
                                        <p:cTn id="119" dur="15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990365 -0.2164589 E" pathEditMode="relative" ptsTypes="">
                                      <p:cBhvr>
                                        <p:cTn id="121" dur="150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264217 -0.2473815 E" pathEditMode="relative" ptsTypes="">
                                      <p:cBhvr>
                                        <p:cTn id="123" dur="15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4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55441 -0.2783042 E" pathEditMode="relative" ptsTypes="">
                                      <p:cBhvr>
                                        <p:cTn id="125" dur="150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6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831247 -0.3092268 E" pathEditMode="relative" ptsTypes="">
                                      <p:cBhvr>
                                        <p:cTn id="127" dur="150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8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11471 -0.3401493 E" pathEditMode="relative" ptsTypes="">
                                      <p:cBhvr>
                                        <p:cTn id="129" dur="1500" spd="-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8.476181E-02 -9.583333E-02 E" pathEditMode="relative" ptsTypes="">
                                      <p:cBhvr>
                                        <p:cTn id="131" dur="150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130157 -0.1287996 E" pathEditMode="relative" ptsTypes="">
                                      <p:cBhvr>
                                        <p:cTn id="133" dur="1500" spd="-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4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412697 -0.1597222 E" pathEditMode="relative" ptsTypes="">
                                      <p:cBhvr>
                                        <p:cTn id="135" dur="1500" spd="-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6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695235 -0.1906448 E" pathEditMode="relative" ptsTypes="">
                                      <p:cBhvr>
                                        <p:cTn id="137" dur="150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8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977774 -0.2215675 E" pathEditMode="relative" ptsTypes="">
                                      <p:cBhvr>
                                        <p:cTn id="139" dur="150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260312 -0.2524902 E" pathEditMode="relative" ptsTypes="">
                                      <p:cBhvr>
                                        <p:cTn id="141" dur="1500" spd="-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4285 -0.2834128 E" pathEditMode="relative" ptsTypes="">
                                      <p:cBhvr>
                                        <p:cTn id="143" dur="150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4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825388 -0.3143355 E" pathEditMode="relative" ptsTypes="">
                                      <p:cBhvr>
                                        <p:cTn id="145" dur="15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6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107927 -0.345258 E" pathEditMode="relative" ptsTypes="">
                                      <p:cBhvr>
                                        <p:cTn id="147" dur="15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8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384657 -0.3766932 E" pathEditMode="relative" ptsTypes="">
                                      <p:cBhvr>
                                        <p:cTn id="149" dur="1500" spd="-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673003 -0.4071032 E" pathEditMode="relative" ptsTypes="">
                                      <p:cBhvr>
                                        <p:cTn id="151" dur="1500" spd="-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947318 -0.4380259 E" pathEditMode="relative" ptsTypes="">
                                      <p:cBhvr>
                                        <p:cTn id="153" dur="1500" spd="-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4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4238079 -0.4689485 E" pathEditMode="relative" ptsTypes="">
                                      <p:cBhvr>
                                        <p:cTn id="155" dur="1500" spd="-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6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451445 -0.4998713 E" pathEditMode="relative" ptsTypes="">
                                      <p:cBhvr>
                                        <p:cTn id="157" dur="15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8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4803155 -0.5307938 E" pathEditMode="relative" ptsTypes="">
                                      <p:cBhvr>
                                        <p:cTn id="159" dur="1500" spd="-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085694 -0.5617166 E" pathEditMode="relative" ptsTypes="">
                                      <p:cBhvr>
                                        <p:cTn id="161" dur="1500" spd="-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368233 -0.5926391 E" pathEditMode="relative" ptsTypes="">
                                      <p:cBhvr>
                                        <p:cTn id="163" dur="1500" spd="-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4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650771 -0.6235618 E" pathEditMode="relative" ptsTypes="">
                                      <p:cBhvr>
                                        <p:cTn id="165" dur="1500" spd="-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6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933309 -0.6544845 E" pathEditMode="relative" ptsTypes="">
                                      <p:cBhvr>
                                        <p:cTn id="167" dur="1500" spd="-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8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6215847 -0.685407 E" pathEditMode="relative" ptsTypes="">
                                      <p:cBhvr>
                                        <p:cTn id="169" dur="1500" spd="-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6498385 -0.7163297 E" pathEditMode="relative" ptsTypes="">
                                      <p:cBhvr>
                                        <p:cTn id="171" dur="1500" spd="-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2" presetID="2" presetClass="entr" presetSubtype="1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3" grpId="0" animBg="1"/>
      <p:bldP spid="23" grpId="1" animBg="1"/>
      <p:bldP spid="28" grpId="0" animBg="1"/>
      <p:bldP spid="28" grpId="1" animBg="1"/>
      <p:bldP spid="9" grpId="0" animBg="1"/>
      <p:bldP spid="9" grpId="1" animBg="1"/>
      <p:bldP spid="11" grpId="0" animBg="1"/>
      <p:bldP spid="11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  <p:bldP spid="3" grpId="0"/>
      <p:bldP spid="2" grpId="0"/>
      <p:bldP spid="2" grpId="1"/>
      <p:bldP spid="8" grpId="0">
        <p:tmplLst>
          <p:tmpl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800"/>
                  </p:stCondLst>
                  <p:childTnLst>
                    <p:animMotion origin="layout" path="M -2.5E-6 -0.03472 L -2.5E-6 -2.59259E-6 " pathEditMode="relative" rAng="0" ptsTypes="AA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1736"/>
                    </p:animMotion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42A57C19-59BF-61D8-C3FE-0D0729845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82810140-45EA-ADA4-ACA7-8F328CF874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152EDEE0-137E-35AC-95A7-0506C5C1F6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45FBFD7-AA60-6502-6103-489CAFD0CF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6100" y="1292772"/>
            <a:ext cx="7023100" cy="3993931"/>
          </a:xfrm>
        </p:spPr>
        <p:txBody>
          <a:bodyPr>
            <a:normAutofit fontScale="90000"/>
          </a:bodyPr>
          <a:lstStyle/>
          <a:p>
            <a:br>
              <a:rPr lang="en-US" sz="3100" dirty="0"/>
            </a:br>
            <a:br>
              <a:rPr lang="en-US" sz="3100" dirty="0"/>
            </a:br>
            <a:r>
              <a:rPr lang="en-US" sz="3100" dirty="0"/>
              <a:t>Using Large Language Models (LLMs) with FHIR – </a:t>
            </a:r>
            <a:r>
              <a:rPr lang="en-US" sz="3200" dirty="0"/>
              <a:t>Concepts, Exercises &amp; Safety Foundations</a:t>
            </a:r>
            <a:br>
              <a:rPr lang="en-US" sz="3100" dirty="0"/>
            </a:br>
            <a:br>
              <a:rPr lang="en-US" dirty="0"/>
            </a:br>
            <a:r>
              <a:rPr lang="en-US" sz="2700" dirty="0"/>
              <a:t>Patrick W. Jamieson, M.D.</a:t>
            </a:r>
            <a:br>
              <a:rPr lang="en-US" sz="2700" dirty="0"/>
            </a:br>
            <a:r>
              <a:rPr lang="en-US" sz="2700" dirty="0"/>
              <a:t>Technical Product Manager</a:t>
            </a:r>
            <a:br>
              <a:rPr lang="en-US" sz="2700" dirty="0"/>
            </a:br>
            <a:br>
              <a:rPr lang="en-US" sz="2700" dirty="0"/>
            </a:br>
            <a:r>
              <a:rPr lang="en-US" sz="2700" dirty="0"/>
              <a:t>Russ Leftwich, M.D.</a:t>
            </a:r>
            <a:br>
              <a:rPr lang="en-US" sz="2700" dirty="0"/>
            </a:br>
            <a:r>
              <a:rPr lang="en-US" sz="2700" dirty="0"/>
              <a:t>Senior Clinical Advisor, Interoperability</a:t>
            </a:r>
            <a:br>
              <a:rPr lang="en-US" dirty="0"/>
            </a:b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A0C32A43-8C09-AEAD-3C75-BFC55D69EA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br>
              <a:rPr lang="en-US" sz="3200" dirty="0">
                <a:solidFill>
                  <a:schemeClr val="accent1"/>
                </a:solidFill>
              </a:rPr>
            </a:b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460568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3366"/>
                </a:solidFill>
                <a:latin typeface="Calibri"/>
              </a:defRPr>
            </a:pPr>
            <a:r>
              <a:t>The AI+FHIR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3C3C3C"/>
                </a:solidFill>
                <a:latin typeface="Calibri"/>
              </a:defRPr>
            </a:pPr>
            <a:r>
              <a:rPr lang="en-US" dirty="0"/>
              <a:t>This is </a:t>
            </a:r>
            <a:r>
              <a:rPr dirty="0"/>
              <a:t>the first lesson in a four-part series that takes you from AI foundations to production-ready healthcare AI applications.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10881360" cy="960120"/>
          </a:xfrm>
          <a:prstGeom prst="roundRect">
            <a:avLst/>
          </a:prstGeom>
          <a:solidFill>
            <a:srgbClr val="DCF0FA"/>
          </a:solidFill>
          <a:ln w="1905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084832"/>
            <a:ext cx="2286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6699"/>
                </a:solidFill>
                <a:latin typeface="Calibri"/>
              </a:defRPr>
            </a:pPr>
            <a:r>
              <a:rPr dirty="0"/>
              <a:t>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084832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C3C3C"/>
                </a:solidFill>
                <a:latin typeface="Calibri"/>
              </a:defRPr>
            </a:pPr>
            <a:r>
              <a:t>AI foundations, hands-on exercises,</a:t>
            </a:r>
            <a:br/>
            <a:r>
              <a:t>safety framing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084832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787878"/>
                </a:solidFill>
                <a:latin typeface="Calibri"/>
              </a:defRPr>
            </a:pPr>
            <a:r>
              <a:t>Patient summarization</a:t>
            </a:r>
            <a:br/>
            <a:r>
              <a:t>CLI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08960"/>
            <a:ext cx="10881360" cy="960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182112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3366"/>
                </a:solidFill>
                <a:latin typeface="Calibri"/>
              </a:defRPr>
            </a:pPr>
            <a:r>
              <a:t>Agentic AI</a:t>
            </a:r>
            <a:br/>
            <a:r>
              <a:t>Part 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182112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C3C3C"/>
                </a:solidFill>
                <a:latin typeface="Calibri"/>
              </a:defRPr>
            </a:pPr>
            <a:r>
              <a:t>Agent architecture, MCP, tool-use,</a:t>
            </a:r>
            <a:br/>
            <a:r>
              <a:t>structured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182112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787878"/>
                </a:solidFill>
                <a:latin typeface="Calibri"/>
              </a:defRPr>
            </a:pPr>
            <a:r>
              <a:t>FHIR-connected AI agent</a:t>
            </a:r>
            <a:br/>
            <a:r>
              <a:t>with audit logging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206240"/>
            <a:ext cx="10881360" cy="960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279392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3366"/>
                </a:solidFill>
                <a:latin typeface="Calibri"/>
              </a:defRPr>
            </a:pPr>
            <a:r>
              <a:t>Agentic AI</a:t>
            </a:r>
            <a:br/>
            <a:r>
              <a:t>Part Two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279392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C3C3C"/>
                </a:solidFill>
                <a:latin typeface="Calibri"/>
              </a:defRPr>
            </a:pPr>
            <a:r>
              <a:t>FHIR as knowledge layer, subagents,</a:t>
            </a:r>
            <a:br/>
            <a:r>
              <a:t>human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279392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787878"/>
                </a:solidFill>
                <a:latin typeface="Calibri"/>
              </a:defRPr>
            </a:pPr>
            <a:r>
              <a:t>Multi-agent clinical</a:t>
            </a:r>
            <a:br/>
            <a:r>
              <a:t>workflow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03520"/>
            <a:ext cx="10881360" cy="960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5376672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3366"/>
                </a:solidFill>
                <a:latin typeface="Calibri"/>
              </a:defRPr>
            </a:pPr>
            <a:r>
              <a:t>RAG Lab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5376672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C3C3C"/>
                </a:solidFill>
                <a:latin typeface="Calibri"/>
              </a:defRPr>
            </a:pPr>
            <a:r>
              <a:t>Embeddings, vector stores,</a:t>
            </a:r>
            <a:br/>
            <a:r>
              <a:t>retrieval-augmented generation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5376672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787878"/>
                </a:solidFill>
                <a:latin typeface="Calibri"/>
              </a:defRPr>
            </a:pPr>
            <a:r>
              <a:t>Retrieval pipeline grounded</a:t>
            </a:r>
            <a:br/>
            <a:r>
              <a:t>in patient data</a:t>
            </a:r>
          </a:p>
        </p:txBody>
      </p:sp>
      <p:grpSp>
        <p:nvGrpSpPr>
          <p:cNvPr id="21" name="Group 4">
            <a:extLst>
              <a:ext uri="{FF2B5EF4-FFF2-40B4-BE49-F238E27FC236}">
                <a16:creationId xmlns:a16="http://schemas.microsoft.com/office/drawing/2014/main" id="{65271EE2-644E-DD24-21EF-160F6C1B4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60257" y="24003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621EA8B8-8601-08D5-AD75-11B637CAD1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8C2A2B4F-845E-C7D3-A60E-981D042511E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3366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1.  Explain core LLM concepts (tokens, embeddings, context windows, temperature, prompts, hallucination) using healthcare analogies</a:t>
            </a:r>
          </a:p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2.  Set up and interact with a local LLM (Ollama) from Python</a:t>
            </a:r>
          </a:p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3.  Transform a FHIR patient bundle into LLM-ready input through resource grouping and feature extraction</a:t>
            </a:r>
          </a:p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4.  Build a patient summarization pipeline that reduces ~100K tokens to ~1K tokens</a:t>
            </a:r>
          </a:p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5.  Apply prompt engineering techniques and observe how they change LLM output</a:t>
            </a:r>
          </a:p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6.  Articulate AI safety and governance principles for healthcare AI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A8BCC32-C37D-9FAD-9FAD-E41898323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45205" y="212988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8E329C1C-1360-59EE-2265-F4B3C9AB23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A6350B99-4B84-D332-BBEB-E0FB9730CA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40102"/>
            <a:ext cx="12191695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3366"/>
                </a:solidFill>
                <a:latin typeface="Calibri"/>
              </a:defRPr>
            </a:pPr>
            <a:r>
              <a:t>Lesson Structure: Three Phases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0881360" cy="15544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37160" cy="15544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006699"/>
                </a:solidFill>
                <a:latin typeface="Calibri"/>
              </a:defRPr>
            </a:pPr>
            <a:r>
              <a:t>Phase 1: AI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46304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C3C3C"/>
                </a:solidFill>
                <a:latin typeface="Calibri"/>
              </a:defRPr>
            </a:pPr>
            <a:r>
              <a:t>9 core concepts with healthcare analogies</a:t>
            </a:r>
            <a:br/>
            <a:r>
              <a:t>What is an LLM? Tokens, context windows, embeddings,</a:t>
            </a:r>
            <a:br/>
            <a:r>
              <a:t>temperature, prompts, hallucination, local vs. cloud, model selection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15544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8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3108960"/>
            <a:ext cx="137160" cy="1554480"/>
          </a:xfrm>
          <a:prstGeom prst="rect">
            <a:avLst/>
          </a:prstGeom>
          <a:solidFill>
            <a:srgbClr val="28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200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28783C"/>
                </a:solidFill>
                <a:latin typeface="Calibri"/>
              </a:defRPr>
            </a:pPr>
            <a:r>
              <a:t>Phase 2: Hands-On Exercises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2004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C3C3C"/>
                </a:solidFill>
                <a:latin typeface="Calibri"/>
              </a:defRPr>
            </a:pPr>
            <a:r>
              <a:t>Exercise 1: LLM Hello World</a:t>
            </a:r>
            <a:br/>
            <a:r>
              <a:t>Exercise 2: FHIR Bundle Exploration</a:t>
            </a:r>
            <a:br/>
            <a:r>
              <a:t>Exercise 3: Patient Summarization Pipeline</a:t>
            </a:r>
            <a:br/>
            <a:r>
              <a:t>Exercise 4: Prompt Engineering Comparison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46320"/>
            <a:ext cx="10881360" cy="15544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B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4846320"/>
            <a:ext cx="137160" cy="1554480"/>
          </a:xfrm>
          <a:prstGeom prst="rect">
            <a:avLst/>
          </a:prstGeom>
          <a:solidFill>
            <a:srgbClr val="B4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937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B42828"/>
                </a:solidFill>
                <a:latin typeface="Calibri"/>
              </a:defRPr>
            </a:pPr>
            <a:r>
              <a:t>Phase 3: Safety &amp; Series Bridge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4937760"/>
            <a:ext cx="64008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C3C3C"/>
                </a:solidFill>
                <a:latin typeface="Calibri"/>
              </a:defRPr>
            </a:pPr>
            <a:r>
              <a:rPr dirty="0"/>
              <a:t>The Golden Rule of validation</a:t>
            </a:r>
            <a:br>
              <a:rPr dirty="0"/>
            </a:br>
            <a:r>
              <a:rPr dirty="0"/>
              <a:t>Hallucination risks, PHI/HIPAA, human-in-the-loop</a:t>
            </a:r>
            <a:br>
              <a:rPr dirty="0"/>
            </a:br>
            <a:r>
              <a:rPr dirty="0"/>
              <a:t>Regulatory awareness (ONC HTI-1, FDA)</a:t>
            </a:r>
            <a:br>
              <a:rPr dirty="0"/>
            </a:br>
            <a:r>
              <a:rPr dirty="0"/>
              <a:t>How Lesson connects to </a:t>
            </a:r>
            <a:r>
              <a:rPr lang="en-US" dirty="0"/>
              <a:t>the rest of the series</a:t>
            </a:r>
            <a:endParaRPr dirty="0"/>
          </a:p>
        </p:txBody>
      </p:sp>
      <p:grpSp>
        <p:nvGrpSpPr>
          <p:cNvPr id="16" name="Group 4">
            <a:extLst>
              <a:ext uri="{FF2B5EF4-FFF2-40B4-BE49-F238E27FC236}">
                <a16:creationId xmlns:a16="http://schemas.microsoft.com/office/drawing/2014/main" id="{5D65E023-BA06-7BC4-EBAA-3F449BA343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80667E65-EFC3-A50F-E9D5-88C0312FA9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5AE58BE2-69D4-CBEB-4141-485616D2FE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AI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229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DCE6F0"/>
                </a:solidFill>
                <a:latin typeface="Calibri"/>
              </a:defRPr>
            </a:pPr>
            <a:r>
              <a:rPr dirty="0"/>
              <a:t>9 core concepts, grounded in a healthcare</a:t>
            </a:r>
            <a:br>
              <a:rPr dirty="0"/>
            </a:br>
            <a:r>
              <a:rPr dirty="0"/>
              <a:t>No prior AI/ML knowledge required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3366"/>
                </a:solidFill>
                <a:latin typeface="Calibri"/>
              </a:defRPr>
            </a:pPr>
            <a:r>
              <a:t>1. What Is a Large Language Model?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3C3C3C"/>
                </a:solidFill>
                <a:latin typeface="Calibri"/>
              </a:defRPr>
            </a:pPr>
            <a:r>
              <a:t>A software system trained on vast amounts of text to predict what comes next in a sequence. Given a prompt, it generates a response word by word, selecting each word based on patterns learned during training.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560320"/>
            <a:ext cx="10881360" cy="1828800"/>
          </a:xfrm>
          <a:prstGeom prst="roundRect">
            <a:avLst/>
          </a:prstGeom>
          <a:solidFill>
            <a:srgbClr val="F0F8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6699"/>
                </a:solidFill>
                <a:latin typeface="Calibri"/>
              </a:defRPr>
            </a:pPr>
            <a:r>
              <a:t>Healthcare</a:t>
            </a:r>
            <a:br/>
            <a:r>
              <a:t>Analogy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651760"/>
            <a:ext cx="8503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3C3C3C"/>
                </a:solidFill>
                <a:latin typeface="Calibri"/>
              </a:defRPr>
            </a:pPr>
            <a:r>
              <a:t>Think of an LLM as a clinician who has read every textbook, every journal article, and every clinical note ever written — but has never seen an actual patient. The knowledge is vast but indirect: learned from text, not from lived clinical experience.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548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LLMs process text patterns — they don't "understand" FHIR resources like a FHIR server does</a:t>
            </a:r>
          </a:p>
          <a:p>
            <a:pPr>
              <a:spcAft>
                <a:spcPts val="6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An LLM has no database, no schema validation — only patterns in language</a:t>
            </a:r>
          </a:p>
          <a:p>
            <a:pPr>
              <a:spcAft>
                <a:spcPts val="6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When we combine LLMs with FHIR, we provide the structured data the LLM lacks</a:t>
            </a:r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13E3C10D-2F32-06EC-C731-C7464EEED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60257" y="179813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DEC3CB1B-135B-8580-1187-7D54BBDD01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3B9520DC-E929-8B05-2FF2-DA48D68D309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0041"/>
            <a:ext cx="12191695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3366"/>
                </a:solidFill>
                <a:latin typeface="Calibri"/>
              </a:defRPr>
            </a:pPr>
            <a:r>
              <a:t>2. Tokens and Tokenization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3C3C3C"/>
                </a:solidFill>
                <a:latin typeface="Calibri"/>
              </a:defRPr>
            </a:pPr>
            <a:r>
              <a:t>Before an LLM can process text, it breaks the input into tokens — the fundamental units the model reads. A token is typically a word or subword fragment.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10881360" cy="914400"/>
          </a:xfrm>
          <a:prstGeom prst="roundRect">
            <a:avLst/>
          </a:prstGeom>
          <a:solidFill>
            <a:srgbClr val="F5F5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3C3C3C"/>
                </a:solidFill>
                <a:latin typeface="Consolas"/>
              </a:defRPr>
            </a:pPr>
            <a:r>
              <a:t>"The patient's hemoglobin A1c was 7.2%"</a:t>
            </a:r>
            <a:br/>
            <a:r>
              <a:t>   ["The", " patient", "'s", " hem", "oglobin", " A", "1", "c", " was", " 7", ".", "2", "%"]    (13 tokens)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91840"/>
            <a:ext cx="5029200" cy="1828800"/>
          </a:xfrm>
          <a:prstGeom prst="roundRect">
            <a:avLst/>
          </a:prstGeom>
          <a:solidFill>
            <a:srgbClr val="F0F8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6699"/>
                </a:solidFill>
                <a:latin typeface="Calibri"/>
              </a:defRPr>
            </a:pPr>
            <a:r>
              <a:t>Pharmacist Reading a Prescription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39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3C3C3C"/>
                </a:solidFill>
                <a:latin typeface="Calibri"/>
              </a:defRPr>
            </a:pPr>
            <a:r>
              <a:t>A pharmacist parses a prescription into discrete units: drug name, dosage, route, frequency. Token boundaries don't always match word boundaries.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291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3366"/>
                </a:solidFill>
                <a:latin typeface="Calibri"/>
              </a:defRPr>
            </a:pPr>
            <a:r>
              <a:t>Why This Matters for FHIR: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749039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A Patient/$everything bundle = tens of thousands of tokens</a:t>
            </a:r>
          </a:p>
          <a:p>
            <a:pPr>
              <a:spcAft>
                <a:spcPts val="6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Raw FHIR JSON is token-inefficient (braces, quotes, URLs)</a:t>
            </a:r>
          </a:p>
          <a:p>
            <a:pPr>
              <a:spcAft>
                <a:spcPts val="6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Token count determines if data fits in the LLM's window</a:t>
            </a:r>
          </a:p>
          <a:p>
            <a:pPr>
              <a:spcAft>
                <a:spcPts val="6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Exercise 2 demonstrates this with real numbers</a:t>
            </a:r>
          </a:p>
        </p:txBody>
      </p:sp>
      <p:grpSp>
        <p:nvGrpSpPr>
          <p:cNvPr id="12" name="Group 4">
            <a:extLst>
              <a:ext uri="{FF2B5EF4-FFF2-40B4-BE49-F238E27FC236}">
                <a16:creationId xmlns:a16="http://schemas.microsoft.com/office/drawing/2014/main" id="{C2AB2004-1669-B91C-C28E-9A3AEC13CB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A0864E97-523C-F7D8-B4BC-F8EE1F82EB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4F7B4D4-4109-5D13-B410-50D5848FFA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3366"/>
                </a:solidFill>
                <a:latin typeface="Calibri"/>
              </a:defRPr>
            </a:pPr>
            <a:r>
              <a:t>3. Context Windows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3C3C3C"/>
                </a:solidFill>
                <a:latin typeface="Calibri"/>
              </a:defRPr>
            </a:pPr>
            <a:r>
              <a:t>The context window is the maximum number of tokens an LLM can process in a single interaction — both input and output must fit.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5029200" cy="502920"/>
          </a:xfrm>
          <a:prstGeom prst="roundRect">
            <a:avLst/>
          </a:prstGeom>
          <a:solidFill>
            <a:srgbClr val="DC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3C3C3C"/>
                </a:solidFill>
                <a:latin typeface="Calibri"/>
              </a:defRPr>
            </a:pPr>
            <a:r>
              <a:t>Small local (3B)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1488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3C3C3C"/>
                </a:solidFill>
                <a:latin typeface="Calibri"/>
              </a:defRPr>
            </a:pPr>
            <a:r>
              <a:t>4K–8K tokens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97480"/>
            <a:ext cx="5029200" cy="502920"/>
          </a:xfrm>
          <a:prstGeom prst="round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3C3C3C"/>
                </a:solidFill>
                <a:latin typeface="Calibri"/>
              </a:defRPr>
            </a:pPr>
            <a:r>
              <a:t>Medium local (7B)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7432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3C3C3C"/>
                </a:solidFill>
                <a:latin typeface="Calibri"/>
              </a:defRPr>
            </a:pPr>
            <a:r>
              <a:t>8K–32K tokens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91840"/>
            <a:ext cx="5029200" cy="502920"/>
          </a:xfrm>
          <a:prstGeom prst="roundRect">
            <a:avLst/>
          </a:prstGeom>
          <a:solidFill>
            <a:srgbClr val="F0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3375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3C3C3C"/>
                </a:solidFill>
                <a:latin typeface="Calibri"/>
              </a:defRPr>
            </a:pPr>
            <a:r>
              <a:t>Large cloud (GPT-4, Claude)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3375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3C3C3C"/>
                </a:solidFill>
                <a:latin typeface="Calibri"/>
              </a:defRPr>
            </a:pPr>
            <a:r>
              <a:t>128K–1M+ tokens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14800"/>
            <a:ext cx="5029200" cy="1645920"/>
          </a:xfrm>
          <a:prstGeom prst="roundRect">
            <a:avLst/>
          </a:prstGeom>
          <a:solidFill>
            <a:srgbClr val="F0F8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2062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6699"/>
                </a:solidFill>
                <a:latin typeface="Calibri"/>
              </a:defRPr>
            </a:pPr>
            <a:r>
              <a:t>Clinician Working Memory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57200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3C3C3C"/>
                </a:solidFill>
                <a:latin typeface="Calibri"/>
              </a:defRPr>
            </a:pPr>
            <a:r>
              <a:t>A physician reviewing a complex chart can't hold the entire record in mind at once. They focus on a subset: recent visits, active problems, current medications. The context window is the LLM's equivalent of this limit.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2103120"/>
            <a:ext cx="5577840" cy="3657600"/>
          </a:xfrm>
          <a:prstGeom prst="roundRect">
            <a:avLst/>
          </a:prstGeom>
          <a:solidFill>
            <a:srgbClr val="FFF5F0"/>
          </a:solidFill>
          <a:ln>
            <a:solidFill>
              <a:srgbClr val="B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0" y="21945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B42828"/>
                </a:solidFill>
                <a:latin typeface="Calibri"/>
              </a:defRPr>
            </a:pPr>
            <a:r>
              <a:t>The Problem (Exercise 2 reveals this):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651760"/>
            <a:ext cx="5212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3C3C3C"/>
                </a:solidFill>
                <a:latin typeface="Calibri"/>
              </a:defRPr>
            </a:pPr>
            <a:r>
              <a:t>A typical Synthea patient bundle:</a:t>
            </a:r>
            <a:br/>
            <a:r>
              <a:t>   ~310,000 characters</a:t>
            </a:r>
            <a:br/>
            <a:r>
              <a:t>   ~101,000 tokens</a:t>
            </a:r>
            <a:br/>
            <a:r>
              <a:t>   ~1,263% of an 8K window</a:t>
            </a:r>
            <a:br/>
            <a:br/>
            <a:r>
              <a:t>The data is 12x too large for a small</a:t>
            </a:r>
            <a:br/>
            <a:r>
              <a:t>model's context window.</a:t>
            </a:r>
            <a:br/>
            <a:br/>
            <a:r>
              <a:t>This is why Exercise 3 extracts features —</a:t>
            </a:r>
            <a:br/>
            <a:r>
              <a:t>reducing 101K tokens to ~1K tokens (99% reduction).</a:t>
            </a:r>
          </a:p>
        </p:txBody>
      </p:sp>
      <p:grpSp>
        <p:nvGrpSpPr>
          <p:cNvPr id="20" name="Group 4">
            <a:extLst>
              <a:ext uri="{FF2B5EF4-FFF2-40B4-BE49-F238E27FC236}">
                <a16:creationId xmlns:a16="http://schemas.microsoft.com/office/drawing/2014/main" id="{35EA94CB-743D-B451-4021-3492E2CDF7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14725" y="13716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D2F3564D-0432-A13D-A227-D29E290742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744A5BF-E64B-DDCC-A697-F72D269A8BC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3366"/>
                </a:solidFill>
                <a:latin typeface="Calibri"/>
              </a:defRPr>
            </a:pPr>
            <a:r>
              <a:t>4. Embeddings — Meaning as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3C3C3C"/>
                </a:solidFill>
                <a:latin typeface="Calibri"/>
              </a:defRPr>
            </a:pPr>
            <a:r>
              <a:t>An embedding is a list of numbers (a vector) that represents the meaning of a word, sentence, or document. Words with similar meanings have similar vectors.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10881360" cy="1518796"/>
          </a:xfrm>
          <a:prstGeom prst="roundRect">
            <a:avLst/>
          </a:prstGeom>
          <a:solidFill>
            <a:srgbClr val="F5F5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3C3C3C"/>
                </a:solidFill>
                <a:latin typeface="Calibri"/>
              </a:defRPr>
            </a:pPr>
            <a:r>
              <a:rPr dirty="0"/>
              <a:t>"hypertension"  ~  "high blood pressure"     (close in embedding space)</a:t>
            </a:r>
            <a:br>
              <a:rPr dirty="0"/>
            </a:br>
            <a:r>
              <a:rPr dirty="0"/>
              <a:t>"hypertension"  ≠  "appendectomy"              (far apart in embedding space)</a:t>
            </a:r>
            <a:br>
              <a:rPr dirty="0"/>
            </a:br>
            <a:br>
              <a:rPr dirty="0"/>
            </a:br>
            <a:r>
              <a:rPr dirty="0"/>
              <a:t>Like how clinicians know "MI" = "myocardial infarction" = "heart attack"</a:t>
            </a:r>
            <a:br>
              <a:rPr dirty="0"/>
            </a:br>
            <a:r>
              <a:rPr dirty="0"/>
              <a:t>— embeddings give computers this same 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931920"/>
            <a:ext cx="10881360" cy="1097280"/>
          </a:xfrm>
          <a:prstGeom prst="roundRect">
            <a:avLst/>
          </a:prstGeom>
          <a:solidFill>
            <a:srgbClr val="FFFAE6"/>
          </a:solidFill>
          <a:ln>
            <a:solidFill>
              <a:srgbClr val="B48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3C3C3C"/>
                </a:solidFill>
                <a:latin typeface="Calibri"/>
              </a:defRPr>
            </a:pPr>
            <a:r>
              <a:t>We introduce the concept here; the RAG Lab covers embeddings, vector stores, and similarity search in depth. Embeddings are the foundation of Retrieval-Augmented Generation (RAG) — finding relevant documents by comparing vector similarity before sending them to an LLM.</a:t>
            </a:r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BF6E3479-F1C1-B908-42E8-CA7F75F2F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60257" y="13716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47DC893B-348C-5A51-097A-141760E72E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B3CCA580-0F3E-754B-0539-145697C8F7C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3366"/>
                </a:solidFill>
                <a:latin typeface="Calibri"/>
              </a:defRPr>
            </a:pPr>
            <a:r>
              <a:t>5. Temperature and Sampling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3C3C3C"/>
                </a:solidFill>
                <a:latin typeface="Calibri"/>
              </a:defRPr>
            </a:pPr>
            <a:r>
              <a:t>Temperature controls how the LLM chooses its next word. Low = focused and predictable. High = creative and variable.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10881360" cy="1280160"/>
          </a:xfrm>
          <a:prstGeom prst="roundRect">
            <a:avLst/>
          </a:prstGeom>
          <a:solidFill>
            <a:srgbClr val="EBFAEB"/>
          </a:solidFill>
          <a:ln w="19050">
            <a:solidFill>
              <a:srgbClr val="28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28783C"/>
                </a:solidFill>
                <a:latin typeface="Calibri"/>
              </a:defRPr>
            </a:pPr>
            <a:r>
              <a:t>Low (0.1)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28783C"/>
                </a:solidFill>
                <a:latin typeface="Calibri"/>
              </a:defRPr>
            </a:pPr>
            <a:r>
              <a:t>Confident Specialist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28600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C3C3C"/>
                </a:solidFill>
                <a:latin typeface="Calibri"/>
              </a:defRPr>
            </a:pPr>
            <a:r>
              <a:t>Almost always picks the most likely word. Deterministic, focused. Like a specialist following established guidelines.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520440"/>
            <a:ext cx="10881360" cy="1280160"/>
          </a:xfrm>
          <a:prstGeom prst="roundRect">
            <a:avLst/>
          </a:prstGeom>
          <a:solidFill>
            <a:srgbClr val="EBF5FF"/>
          </a:solidFill>
          <a:ln w="1905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6699"/>
                </a:solidFill>
                <a:latin typeface="Calibri"/>
              </a:defRPr>
            </a:pPr>
            <a:r>
              <a:t>Medium (0.7)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006699"/>
                </a:solidFill>
                <a:latin typeface="Calibri"/>
              </a:defRPr>
            </a:pPr>
            <a:r>
              <a:t>Experienced Clinician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70332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C3C3C"/>
                </a:solidFill>
                <a:latin typeface="Calibri"/>
              </a:defRPr>
            </a:pPr>
            <a:r>
              <a:t>Balanced — mostly follows evidence but exercises clinical judgment. Default for most tasks.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937760"/>
            <a:ext cx="10881360" cy="1280160"/>
          </a:xfrm>
          <a:prstGeom prst="roundRect">
            <a:avLst/>
          </a:prstGeom>
          <a:solidFill>
            <a:srgbClr val="FFF0F0"/>
          </a:solidFill>
          <a:ln w="19050">
            <a:solidFill>
              <a:srgbClr val="B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5029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B42828"/>
                </a:solidFill>
                <a:latin typeface="Calibri"/>
              </a:defRPr>
            </a:pPr>
            <a:r>
              <a:t>High (1.0+)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486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B42828"/>
                </a:solidFill>
                <a:latin typeface="Calibri"/>
              </a:defRPr>
            </a:pPr>
            <a:r>
              <a:t>Creative Brainstormer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512064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C3C3C"/>
                </a:solidFill>
                <a:latin typeface="Calibri"/>
              </a:defRPr>
            </a:pPr>
            <a:r>
              <a:t>Samples more broadly. Creative, diverse, sometimes incoherent. Like generating a differential diagnosis — casts a wide net.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22963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3366"/>
                </a:solidFill>
                <a:latin typeface="Calibri"/>
              </a:defRPr>
            </a:pPr>
            <a:r>
              <a:rPr dirty="0"/>
              <a:t>For clinical summarization, lower temperature (0.1–0.3) is typically safer. Exercise 4 demonstrates this side-by-side.</a:t>
            </a:r>
          </a:p>
        </p:txBody>
      </p:sp>
      <p:grpSp>
        <p:nvGrpSpPr>
          <p:cNvPr id="18" name="Group 4">
            <a:extLst>
              <a:ext uri="{FF2B5EF4-FFF2-40B4-BE49-F238E27FC236}">
                <a16:creationId xmlns:a16="http://schemas.microsoft.com/office/drawing/2014/main" id="{307D6144-4A5E-762A-4D92-6031F7CC8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523670" y="13716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DAED0452-B7CB-2535-B137-F9855575001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9429183F-F290-73A2-D8D9-3070547950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3366"/>
                </a:solidFill>
                <a:latin typeface="Calibri"/>
              </a:defRPr>
            </a:pPr>
            <a:r>
              <a:t>6. Prompts and System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03366"/>
                </a:solidFill>
                <a:latin typeface="Calibri"/>
              </a:defRPr>
            </a:pPr>
            <a:r>
              <a:t>System Prompt (Standing Orders)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257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Sets the LLM's role and behavior rules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Persists across the conversation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"You are a clinical AI assistant"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"Do not invent information"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280160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03366"/>
                </a:solidFill>
                <a:latin typeface="Calibri"/>
              </a:defRPr>
            </a:pPr>
            <a:r>
              <a:t>User Prompt (Clinical Question)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737360"/>
            <a:ext cx="5257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The specific question or data for this interaction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"Summarize this patient's conditions"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Changes with each request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Contains the actual FHIR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40480"/>
            <a:ext cx="10881360" cy="1371600"/>
          </a:xfrm>
          <a:prstGeom prst="roundRect">
            <a:avLst/>
          </a:prstGeom>
          <a:solidFill>
            <a:srgbClr val="F0F8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6699"/>
                </a:solidFill>
                <a:latin typeface="Calibri"/>
              </a:defRPr>
            </a:pPr>
            <a:r>
              <a:t>Healthcare Analogy — Clinical Protocols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C3C3C"/>
                </a:solidFill>
                <a:latin typeface="Calibri"/>
              </a:defRPr>
            </a:pPr>
            <a:r>
              <a:t>A system prompt is like a hospital policy: "Always verify allergies before prescribing." It shapes every interaction without being restated. The user prompt is the specific clinical question: "What are this patient's active conditions?"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486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C3C3C"/>
                </a:solidFill>
                <a:latin typeface="Calibri"/>
              </a:defRPr>
            </a:pPr>
            <a:r>
              <a:t>Prompt Engineering Techniques:  1) Role specification  2) Output format  3) Safety constraints  4) Few-shot examples</a:t>
            </a:r>
            <a:br/>
            <a:r>
              <a:t>Exercise 4 compares these side-by-side.</a:t>
            </a:r>
          </a:p>
        </p:txBody>
      </p:sp>
      <p:grpSp>
        <p:nvGrpSpPr>
          <p:cNvPr id="12" name="Group 4">
            <a:extLst>
              <a:ext uri="{FF2B5EF4-FFF2-40B4-BE49-F238E27FC236}">
                <a16:creationId xmlns:a16="http://schemas.microsoft.com/office/drawing/2014/main" id="{903AF6C2-04DC-9BE7-27B3-A28635122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506165" y="13716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DC0E686B-3ABF-35AE-3EB9-7D7065F90D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A6744E86-01CB-09D2-99DB-32684DD76E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3366"/>
                </a:solidFill>
                <a:latin typeface="Calibri"/>
              </a:defRPr>
            </a:pPr>
            <a:r>
              <a:t>7. Hallucination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3C3C3C"/>
                </a:solidFill>
                <a:latin typeface="Calibri"/>
              </a:defRPr>
            </a:pPr>
            <a:r>
              <a:t>Hallucination: when an LLM generates plausible-sounding but factually incorrect or entirely fabricated information — with full confidence.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10881360" cy="1188720"/>
          </a:xfrm>
          <a:prstGeom prst="roundRect">
            <a:avLst/>
          </a:prstGeom>
          <a:solidFill>
            <a:srgbClr val="F0F8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6699"/>
                </a:solidFill>
                <a:latin typeface="Calibri"/>
              </a:defRPr>
            </a:pPr>
            <a:r>
              <a:t>Healthcare Analogy — Clinical Confabulation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C3C3C"/>
                </a:solidFill>
                <a:latin typeface="Calibri"/>
              </a:defRPr>
            </a:pPr>
            <a:r>
              <a:t>In neurology, confabulation is when a patient with memory impairment fills gaps with fabricated memories, presented with full confidence. LLM hallucination works the same way.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66160"/>
            <a:ext cx="5303520" cy="2560320"/>
          </a:xfrm>
          <a:prstGeom prst="roundRect">
            <a:avLst/>
          </a:prstGeom>
          <a:solidFill>
            <a:srgbClr val="FFF0F0"/>
          </a:solidFill>
          <a:ln>
            <a:solidFill>
              <a:srgbClr val="B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B42828"/>
                </a:solidFill>
                <a:latin typeface="Calibri"/>
              </a:defRPr>
            </a:pPr>
            <a:r>
              <a:t>Danger in Healthcare AI: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2336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Invents a medication the patient never took</a:t>
            </a:r>
          </a:p>
          <a:p>
            <a:pPr>
              <a:spcAft>
                <a:spcPts val="6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Fabricates a lab value not in the FHIR record</a:t>
            </a:r>
          </a:p>
          <a:p>
            <a:pPr>
              <a:spcAft>
                <a:spcPts val="6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Conflates two patients' data in batch processing</a:t>
            </a:r>
          </a:p>
          <a:p>
            <a:pPr>
              <a:spcAft>
                <a:spcPts val="6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Cites a clinical guideline that doesn't exist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566160"/>
            <a:ext cx="5303520" cy="2560320"/>
          </a:xfrm>
          <a:prstGeom prst="roundRect">
            <a:avLst/>
          </a:prstGeom>
          <a:solidFill>
            <a:srgbClr val="EBFAEB"/>
          </a:solidFill>
          <a:ln>
            <a:solidFill>
              <a:srgbClr val="28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3657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28783C"/>
                </a:solidFill>
                <a:latin typeface="Calibri"/>
              </a:defRPr>
            </a:pPr>
            <a:r>
              <a:t>Mitigation Strategies: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02336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Grounding: provide actual FHIR data</a:t>
            </a:r>
          </a:p>
          <a:p>
            <a:pPr>
              <a:spcAft>
                <a:spcPts val="6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"Do not invent" system prompt instructions</a:t>
            </a:r>
          </a:p>
          <a:p>
            <a:pPr>
              <a:spcAft>
                <a:spcPts val="6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Human-in-the-loop validation</a:t>
            </a:r>
          </a:p>
          <a:p>
            <a:pPr>
              <a:spcAft>
                <a:spcPts val="6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RAG: retrieve source docs first (RAG Lab)</a:t>
            </a:r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id="{CDB76F43-DFBE-05CF-B273-9B546EDDD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45205" y="16002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5ABF652B-BC49-3C3E-B3CA-967DDF1ABE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E160D0C4-0A07-D4DA-B9DA-C2EAC5016D5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3366"/>
                </a:solidFill>
                <a:latin typeface="Calibri"/>
              </a:defRPr>
            </a:pPr>
            <a:r>
              <a:t>8. Local vs. Cloud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03366"/>
                </a:solidFill>
                <a:latin typeface="Calibri"/>
              </a:defRPr>
            </a:pPr>
            <a:r>
              <a:t>Local Models (Ollama, LM Studio)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257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Data never leaves your machine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No BAA needed — PHI stays local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Limited by your hardware (3B–13B typical)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Free after hardware investment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Always available (your machine)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280160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03366"/>
                </a:solidFill>
                <a:latin typeface="Calibri"/>
              </a:defRPr>
            </a:pPr>
            <a:r>
              <a:t>Cloud Models (GPT-4, Claude, Gemini)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737360"/>
            <a:ext cx="5257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Data sent to third-party servers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Requires BAA for PHI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Access to largest models (100B+ params)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Pay per token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Depends on service uptime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754880"/>
            <a:ext cx="10881360" cy="1371600"/>
          </a:xfrm>
          <a:prstGeom prst="roundRect">
            <a:avLst/>
          </a:prstGeom>
          <a:solidFill>
            <a:srgbClr val="F0F8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6699"/>
                </a:solidFill>
                <a:latin typeface="Calibri"/>
              </a:defRPr>
            </a:pPr>
            <a:r>
              <a:t>Healthcare Analogy — Local Lab vs. Reference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C3C3C"/>
                </a:solidFill>
                <a:latin typeface="Calibri"/>
              </a:defRPr>
            </a:pPr>
            <a:r>
              <a:t>Local lab: fast turnaround, specimens stay on-site (privacy), but limited test menu. Reference lab: specialized tests, but specimens shipped off-site, slower, more expensive.</a:t>
            </a:r>
            <a:br/>
            <a:r>
              <a:t>Our exercises use Ollama (local) — even with synthetic data, we practice the privacy-first pattern.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3366"/>
                </a:solidFill>
                <a:latin typeface="Calibri"/>
              </a:defRPr>
            </a:pPr>
            <a:r>
              <a:t>9. Model Selection Basics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0881360" cy="914400"/>
          </a:xfrm>
          <a:prstGeom prst="roundRect">
            <a:avLst/>
          </a:prstGeom>
          <a:solidFill>
            <a:srgbClr val="DC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444752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3366"/>
                </a:solidFill>
                <a:latin typeface="Calibri"/>
              </a:defRPr>
            </a:pPr>
            <a:r>
              <a:t>Small (1B–3B)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787878"/>
                </a:solidFill>
                <a:latin typeface="Calibri"/>
              </a:defRPr>
            </a:pPr>
            <a:r>
              <a:t>Llama 3.2 1B/3B, Phi-3 Mini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783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28783C"/>
                </a:solidFill>
                <a:latin typeface="Calibri"/>
              </a:defRPr>
            </a:pPr>
            <a:r>
              <a:t>Fast, runs on laptops, 8GB 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7830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B42828"/>
                </a:solidFill>
                <a:latin typeface="Calibri"/>
              </a:defRPr>
            </a:pPr>
            <a:r>
              <a:t>Limited reasoning, shorter outputs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23160"/>
            <a:ext cx="10881360" cy="914400"/>
          </a:xfrm>
          <a:prstGeom prst="round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496312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3366"/>
                </a:solidFill>
                <a:latin typeface="Calibri"/>
              </a:defRPr>
            </a:pPr>
            <a:r>
              <a:t>Medium (7B–13B)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468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787878"/>
                </a:solidFill>
                <a:latin typeface="Calibri"/>
              </a:defRPr>
            </a:pPr>
            <a:r>
              <a:t>Llama 3.1 8B, Mistral 7B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34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28783C"/>
                </a:solidFill>
                <a:latin typeface="Calibri"/>
              </a:defRPr>
            </a:pPr>
            <a:r>
              <a:t>Good balance of quality and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8346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B42828"/>
                </a:solidFill>
                <a:latin typeface="Calibri"/>
              </a:defRPr>
            </a:pPr>
            <a:r>
              <a:t>May struggle with complex reasoning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74720"/>
            <a:ext cx="10881360" cy="914400"/>
          </a:xfrm>
          <a:prstGeom prst="roundRect">
            <a:avLst/>
          </a:prstGeom>
          <a:solidFill>
            <a:srgbClr val="FA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547872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3366"/>
                </a:solidFill>
                <a:latin typeface="Calibri"/>
              </a:defRPr>
            </a:pPr>
            <a:r>
              <a:t>Large (30B–70B)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520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787878"/>
                </a:solidFill>
                <a:latin typeface="Calibri"/>
              </a:defRPr>
            </a:pPr>
            <a:r>
              <a:t>Llama 3.1 70B, Mixtral 8x7B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886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28783C"/>
                </a:solidFill>
                <a:latin typeface="Calibri"/>
              </a:defRPr>
            </a:pPr>
            <a:r>
              <a:t>Strong reasoning, nuanced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38862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B42828"/>
                </a:solidFill>
                <a:latin typeface="Calibri"/>
              </a:defRPr>
            </a:pPr>
            <a:r>
              <a:t>Requires 32–64GB+ RAM or GPU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526280"/>
            <a:ext cx="10881360" cy="91440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4599432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3366"/>
                </a:solidFill>
                <a:latin typeface="Calibri"/>
              </a:defRPr>
            </a:pPr>
            <a:r>
              <a:t>Cloud-scale (100B+)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787878"/>
                </a:solidFill>
                <a:latin typeface="Calibri"/>
              </a:defRPr>
            </a:pPr>
            <a:r>
              <a:t>GPT-4, Claude, Gemini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937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28783C"/>
                </a:solidFill>
                <a:latin typeface="Calibri"/>
              </a:defRPr>
            </a:pPr>
            <a:r>
              <a:t>State-of-the-art capability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49377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B42828"/>
                </a:solidFill>
                <a:latin typeface="Calibri"/>
              </a:defRPr>
            </a:pPr>
            <a:r>
              <a:t>Cloud-only, cost, privacy concerns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577840"/>
            <a:ext cx="10881360" cy="914400"/>
          </a:xfrm>
          <a:prstGeom prst="roundRect">
            <a:avLst/>
          </a:prstGeom>
          <a:solidFill>
            <a:srgbClr val="DCF0FA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56692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3366"/>
                </a:solidFill>
                <a:latin typeface="Calibri"/>
              </a:defRPr>
            </a:pPr>
            <a:r>
              <a:t>For this course: We use llama3.2:3b via Ollama — small enough for any modern laptop, capable enough for summarization and prompt engineering. Change LLM_MODEL in .env to try larger models.</a:t>
            </a:r>
          </a:p>
        </p:txBody>
      </p:sp>
      <p:grpSp>
        <p:nvGrpSpPr>
          <p:cNvPr id="26" name="Group 4">
            <a:extLst>
              <a:ext uri="{FF2B5EF4-FFF2-40B4-BE49-F238E27FC236}">
                <a16:creationId xmlns:a16="http://schemas.microsoft.com/office/drawing/2014/main" id="{9F2CEC21-52BF-8598-669B-10CC363A0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87243" y="21717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27" name="Freeform 5">
              <a:extLst>
                <a:ext uri="{FF2B5EF4-FFF2-40B4-BE49-F238E27FC236}">
                  <a16:creationId xmlns:a16="http://schemas.microsoft.com/office/drawing/2014/main" id="{3BF5312C-8337-9651-CA76-0B5810E809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28" name="Freeform 6">
              <a:extLst>
                <a:ext uri="{FF2B5EF4-FFF2-40B4-BE49-F238E27FC236}">
                  <a16:creationId xmlns:a16="http://schemas.microsoft.com/office/drawing/2014/main" id="{D799F1CD-AEC5-D662-2C49-8229F9C906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78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Hands-On Exercises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DCE6F0"/>
                </a:solidFill>
                <a:latin typeface="Calibri"/>
              </a:defRPr>
            </a:pPr>
            <a:r>
              <a:t>4 exercises that progressively build from LLM connectivity</a:t>
            </a:r>
            <a:br/>
            <a:r>
              <a:t>to a complete FHIR patient summarization pipeline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3366"/>
                </a:solidFill>
                <a:latin typeface="Calibri"/>
              </a:defRPr>
            </a:pPr>
            <a:r>
              <a:t>Exercise 1: LLM Hello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1">
                <a:solidFill>
                  <a:srgbClr val="006699"/>
                </a:solidFill>
                <a:latin typeface="Calibri"/>
              </a:defRPr>
            </a:pPr>
            <a:r>
              <a:t>Verify your local LLM setup and see your first AI response from Python.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5943600" cy="27432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8DCC8"/>
                </a:solidFill>
                <a:latin typeface="Consolas"/>
              </a:defRPr>
            </a:pPr>
            <a:r>
              <a:t>$ python exercise1_llm_chat.py</a:t>
            </a:r>
            <a:br/>
            <a:br/>
            <a:r>
              <a:t>=== Exercise 1: LLM Hello World ===</a:t>
            </a:r>
            <a:br/>
            <a:br/>
            <a:r>
              <a:t>Sending prompt to llama3.2:3b...</a:t>
            </a:r>
            <a:br/>
            <a:br/>
            <a:r>
              <a:t>Response:</a:t>
            </a:r>
            <a:br/>
            <a:r>
              <a:t>An A1c test, also called a hemoglobin</a:t>
            </a:r>
            <a:br/>
            <a:r>
              <a:t>A1c or HbA1c test, measures your</a:t>
            </a:r>
            <a:br/>
            <a:r>
              <a:t>average blood sugar level over the</a:t>
            </a:r>
            <a:br/>
            <a:r>
              <a:t>past 2-3 months...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920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3366"/>
                </a:solidFill>
                <a:latin typeface="Calibri"/>
              </a:defRPr>
            </a:pPr>
            <a:r>
              <a:t>What to Notice: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37744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System prompt sets the role:</a:t>
            </a:r>
            <a:br/>
            <a:r>
              <a:t>  "clinical AI assistant"</a:t>
            </a:r>
          </a:p>
          <a:p>
            <a:pPr>
              <a:spcAft>
                <a:spcPts val="10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User prompt asks a specific question:</a:t>
            </a:r>
            <a:br/>
            <a:r>
              <a:t>  "Explain what an A1c test measures"</a:t>
            </a:r>
          </a:p>
          <a:p>
            <a:pPr>
              <a:spcAft>
                <a:spcPts val="10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The LLM generates natural language</a:t>
            </a:r>
            <a:br/>
            <a:r>
              <a:t>  from a structured prompt</a:t>
            </a:r>
          </a:p>
          <a:p>
            <a:pPr>
              <a:spcAft>
                <a:spcPts val="10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If you get a connection error, Ollama</a:t>
            </a:r>
            <a:br/>
            <a:r>
              <a:t>  isn't running — start it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29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C3C3C"/>
                </a:solidFill>
                <a:latin typeface="Calibri"/>
              </a:defRPr>
            </a:pPr>
            <a:r>
              <a:t>Setup: Ensure Ollama is running (ollama serve) with the model loaded.</a:t>
            </a:r>
            <a:br/>
            <a:r>
              <a:t>Run:  python exercise1_llm_chat.py</a:t>
            </a:r>
          </a:p>
        </p:txBody>
      </p:sp>
      <p:grpSp>
        <p:nvGrpSpPr>
          <p:cNvPr id="10" name="Group 4">
            <a:extLst>
              <a:ext uri="{FF2B5EF4-FFF2-40B4-BE49-F238E27FC236}">
                <a16:creationId xmlns:a16="http://schemas.microsoft.com/office/drawing/2014/main" id="{E73D72AC-5E79-D6D1-C2F6-0C24F72F8E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60257" y="19431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D3D7FF18-B3C3-A7D1-D456-670C2B844EE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2F677E5A-2AA2-137C-5217-FC44B68063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835" y="41910"/>
            <a:ext cx="12191695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3366"/>
                </a:solidFill>
                <a:latin typeface="Calibri"/>
              </a:defRPr>
            </a:pPr>
            <a:r>
              <a:t>Exercise 2: FHIR Bundle Exploration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1">
                <a:solidFill>
                  <a:srgbClr val="006699"/>
                </a:solidFill>
                <a:latin typeface="Calibri"/>
              </a:defRPr>
            </a:pPr>
            <a:r>
              <a:t>How large is a real FHIR patient bundle? Can it fit in a context window?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5943600" cy="36576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DCC8"/>
                </a:solidFill>
                <a:latin typeface="Consolas"/>
              </a:defRPr>
            </a:pPr>
            <a:r>
              <a:t>$ python exercise2_fhir_explore.py</a:t>
            </a:r>
            <a:br/>
            <a:br/>
            <a:r>
              <a:t>=== FHIR Bundle Statistics ===</a:t>
            </a:r>
            <a:br/>
            <a:r>
              <a:t>Total characters:     310,482</a:t>
            </a:r>
            <a:br/>
            <a:r>
              <a:t>Estimated tokens:     ~101,049</a:t>
            </a:r>
            <a:br/>
            <a:r>
              <a:t>Total resources:      224</a:t>
            </a:r>
            <a:br/>
            <a:br/>
            <a:r>
              <a:t>=== Resource Breakdown ===</a:t>
            </a:r>
            <a:br/>
            <a:r>
              <a:t>ExplanationOfBenefit    72</a:t>
            </a:r>
            <a:br/>
            <a:r>
              <a:t>Encounter               47</a:t>
            </a:r>
            <a:br/>
            <a:r>
              <a:t>Observation             43</a:t>
            </a:r>
            <a:br/>
            <a:r>
              <a:t>Claim                   25</a:t>
            </a:r>
            <a:br/>
            <a:r>
              <a:t>Condition               14</a:t>
            </a:r>
            <a:br/>
            <a:r>
              <a:t>...</a:t>
            </a:r>
            <a:br/>
            <a:br/>
            <a:r>
              <a:t>=== Context Window Analysis ===</a:t>
            </a:r>
            <a:br/>
            <a:r>
              <a:t>This bundle is ~1,263% of an</a:t>
            </a:r>
            <a:br/>
            <a:r>
              <a:t>8,000-token context window.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920240"/>
            <a:ext cx="4846320" cy="2011680"/>
          </a:xfrm>
          <a:prstGeom prst="roundRect">
            <a:avLst/>
          </a:prstGeom>
          <a:solidFill>
            <a:srgbClr val="FFF5F0"/>
          </a:solidFill>
          <a:ln>
            <a:solidFill>
              <a:srgbClr val="B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0" y="20116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B42828"/>
                </a:solidFill>
                <a:latin typeface="Calibri"/>
              </a:defRPr>
            </a:pPr>
            <a:r>
              <a:t>The Key Insight: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468880"/>
            <a:ext cx="4480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C3C3C"/>
                </a:solidFill>
                <a:latin typeface="Calibri"/>
              </a:defRPr>
            </a:pPr>
            <a:r>
              <a:t>One patient's data is 12x too large for a small model's context window.</a:t>
            </a:r>
            <a:br/>
            <a:br/>
            <a:r>
              <a:t>We can't just paste FHIR JSON into an LLM.</a:t>
            </a:r>
            <a:br/>
            <a:r>
              <a:t>We need a smarter approach...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4206240"/>
            <a:ext cx="4846320" cy="1371600"/>
          </a:xfrm>
          <a:prstGeom prst="roundRect">
            <a:avLst/>
          </a:prstGeom>
          <a:solidFill>
            <a:srgbClr val="F0F8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0" y="42976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6699"/>
                </a:solidFill>
                <a:latin typeface="Calibri"/>
              </a:defRPr>
            </a:pPr>
            <a:r>
              <a:t>Discussion: What Are Our Options?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4663440"/>
            <a:ext cx="4480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1. Bigger model (expensive, cloud, privacy)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2. Extract &amp; reduce (Exercise 3)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3. Retrieve relevant parts (RAG Lab)</a:t>
            </a:r>
          </a:p>
        </p:txBody>
      </p:sp>
      <p:grpSp>
        <p:nvGrpSpPr>
          <p:cNvPr id="13" name="Group 4">
            <a:extLst>
              <a:ext uri="{FF2B5EF4-FFF2-40B4-BE49-F238E27FC236}">
                <a16:creationId xmlns:a16="http://schemas.microsoft.com/office/drawing/2014/main" id="{6E09C19A-7504-003F-C6A5-2D24BFD589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521440" y="23622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1A8FB73-59E3-4B80-EA16-531F5F3FEF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39957B35-99DE-733E-82AC-02E7EF7179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3366"/>
                </a:solidFill>
                <a:latin typeface="Calibri"/>
              </a:defRPr>
            </a:pPr>
            <a:r>
              <a:t>Exercise 3: Patient Summarization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1">
                <a:solidFill>
                  <a:srgbClr val="006699"/>
                </a:solidFill>
                <a:latin typeface="Calibri"/>
              </a:defRPr>
            </a:pPr>
            <a:r>
              <a:t>The core exercise — transform a FHIR bundle into a clinical narrative using a local LLM.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103120"/>
            <a:ext cx="2148840" cy="2743200"/>
          </a:xfrm>
          <a:prstGeom prst="roundRect">
            <a:avLst/>
          </a:prstGeom>
          <a:solidFill>
            <a:srgbClr val="DCEB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19456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003366"/>
                </a:solidFill>
                <a:latin typeface="Calibri"/>
              </a:defRPr>
            </a:pPr>
            <a:r>
              <a:t>1. FETCH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43200"/>
            <a:ext cx="187451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3C3C3C"/>
                </a:solidFill>
                <a:latin typeface="Calibri"/>
              </a:defRPr>
            </a:pPr>
            <a:r>
              <a:t>Retrieve Patient/$everything</a:t>
            </a:r>
            <a:br/>
            <a:r>
              <a:t>bundle from FHIR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30175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78787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2103120"/>
            <a:ext cx="2148840" cy="2743200"/>
          </a:xfrm>
          <a:prstGeom prst="roundRect">
            <a:avLst/>
          </a:prstGeom>
          <a:solidFill>
            <a:srgbClr val="E6F5FF"/>
          </a:solidFill>
          <a:ln w="254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34640" y="219456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006699"/>
                </a:solidFill>
                <a:latin typeface="Calibri"/>
              </a:defRPr>
            </a:pPr>
            <a:r>
              <a:t>2. 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743200"/>
            <a:ext cx="187451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3C3C3C"/>
                </a:solidFill>
                <a:latin typeface="Calibri"/>
              </a:defRPr>
            </a:pPr>
            <a:r>
              <a:t>Organize resources by type:</a:t>
            </a:r>
            <a:br/>
            <a:r>
              <a:t>Condition, Observation,</a:t>
            </a:r>
            <a:br/>
            <a:r>
              <a:t>MedicationRequest, etc.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0175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78787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2103120"/>
            <a:ext cx="2148840" cy="2743200"/>
          </a:xfrm>
          <a:prstGeom prst="roundRect">
            <a:avLst/>
          </a:prstGeom>
          <a:solidFill>
            <a:srgbClr val="EBF8F5"/>
          </a:solidFill>
          <a:ln w="254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66360" y="219456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006699"/>
                </a:solidFill>
                <a:latin typeface="Calibri"/>
              </a:defRPr>
            </a:pPr>
            <a:r>
              <a:t>3. EXTRACT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743200"/>
            <a:ext cx="187451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3C3C3C"/>
                </a:solidFill>
                <a:latin typeface="Calibri"/>
              </a:defRPr>
            </a:pPr>
            <a:r>
              <a:t>Pull clinically relevant</a:t>
            </a:r>
            <a:br/>
            <a:r>
              <a:t>features from each type:</a:t>
            </a:r>
            <a:br/>
            <a:r>
              <a:t>demographics, conditions,</a:t>
            </a:r>
            <a:br/>
            <a:r>
              <a:t>labs, medications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30175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78787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2103120"/>
            <a:ext cx="2148840" cy="2743200"/>
          </a:xfrm>
          <a:prstGeom prst="roundRect">
            <a:avLst/>
          </a:prstGeom>
          <a:solidFill>
            <a:srgbClr val="EBFAEB"/>
          </a:solidFill>
          <a:ln w="25400">
            <a:solidFill>
              <a:srgbClr val="28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0" y="219456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28783C"/>
                </a:solidFill>
                <a:latin typeface="Calibri"/>
              </a:defRPr>
            </a:pPr>
            <a:r>
              <a:t>4. SUMMARIZE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2743200"/>
            <a:ext cx="187451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3C3C3C"/>
                </a:solidFill>
                <a:latin typeface="Calibri"/>
              </a:defRPr>
            </a:pPr>
            <a:r>
              <a:t>Send extracted features</a:t>
            </a:r>
            <a:br/>
            <a:r>
              <a:t>(~1K tokens) to LLM with</a:t>
            </a:r>
            <a:br/>
            <a:r>
              <a:t>clinical system prompt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30175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78787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2103120"/>
            <a:ext cx="2148840" cy="2743200"/>
          </a:xfrm>
          <a:prstGeom prst="roundRect">
            <a:avLst/>
          </a:prstGeom>
          <a:solidFill>
            <a:srgbClr val="F0EBFA"/>
          </a:solidFill>
          <a:ln w="25400">
            <a:solidFill>
              <a:srgbClr val="643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29800" y="219456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643C8C"/>
                </a:solidFill>
                <a:latin typeface="Calibri"/>
              </a:defRPr>
            </a:pPr>
            <a:r>
              <a:t>5.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2743200"/>
            <a:ext cx="187451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3C3C3C"/>
                </a:solidFill>
                <a:latin typeface="Calibri"/>
              </a:defRPr>
            </a:pPr>
            <a:r>
              <a:t>Print clinical narrative</a:t>
            </a:r>
            <a:br/>
            <a:r>
              <a:t>summary and token</a:t>
            </a:r>
            <a:br/>
            <a:r>
              <a:t>reduction statistics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212080"/>
            <a:ext cx="10881360" cy="1097280"/>
          </a:xfrm>
          <a:prstGeom prst="roundRect">
            <a:avLst/>
          </a:prstGeom>
          <a:solidFill>
            <a:srgbClr val="EBFAEB"/>
          </a:solidFill>
          <a:ln w="25400">
            <a:solidFill>
              <a:srgbClr val="28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5303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3366"/>
                </a:solidFill>
                <a:latin typeface="Calibri"/>
              </a:defRPr>
            </a:pPr>
            <a:r>
              <a:t>Result: ~101,000 tokens  --&gt;  ~1,040 tokens  (99% reduction)</a:t>
            </a:r>
            <a:br/>
            <a:r>
              <a:t>The LLM receives only clinically relevant features, not raw JSON. Run: python exercise3_summarizer.py</a:t>
            </a:r>
          </a:p>
        </p:txBody>
      </p:sp>
      <p:grpSp>
        <p:nvGrpSpPr>
          <p:cNvPr id="26" name="Group 4">
            <a:extLst>
              <a:ext uri="{FF2B5EF4-FFF2-40B4-BE49-F238E27FC236}">
                <a16:creationId xmlns:a16="http://schemas.microsoft.com/office/drawing/2014/main" id="{7B4F6BDF-2758-CC5E-27D3-AC660A5575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551920" y="24003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27" name="Freeform 5">
              <a:extLst>
                <a:ext uri="{FF2B5EF4-FFF2-40B4-BE49-F238E27FC236}">
                  <a16:creationId xmlns:a16="http://schemas.microsoft.com/office/drawing/2014/main" id="{926B1C0E-B871-74E2-CFEF-D83462AC08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28" name="Freeform 6">
              <a:extLst>
                <a:ext uri="{FF2B5EF4-FFF2-40B4-BE49-F238E27FC236}">
                  <a16:creationId xmlns:a16="http://schemas.microsoft.com/office/drawing/2014/main" id="{8F9A80E3-430C-F888-B1C2-9A86466C599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3366"/>
                </a:solidFill>
                <a:latin typeface="Calibri"/>
              </a:defRPr>
            </a:pPr>
            <a:r>
              <a:t>Exercise 3: The "Do Not Invent" Instruction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10881360" cy="22860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C8DCC8"/>
                </a:solidFill>
                <a:latin typeface="Consolas"/>
              </a:defRPr>
            </a:pPr>
            <a:r>
              <a:t>System Prompt (from exercise3_summarizer.py):</a:t>
            </a:r>
            <a:br/>
            <a:br/>
            <a:r>
              <a:t>"You are a clinical AI assistant reviewing FHIR patient data.</a:t>
            </a:r>
            <a:br/>
            <a:r>
              <a:t> Provide a concise clinical summary organized by:</a:t>
            </a:r>
            <a:br/>
            <a:r>
              <a:t> Demographics, Active Conditions, Current Medications,</a:t>
            </a:r>
            <a:br/>
            <a:r>
              <a:t> Recent Observations, Recent Encounters, Allergies, and</a:t>
            </a:r>
            <a:br/>
            <a:r>
              <a:t> Notable Findings.</a:t>
            </a:r>
            <a:br/>
            <a:br/>
            <a:r>
              <a:t> Do not invent or assume information not present in the data."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840480"/>
            <a:ext cx="5303520" cy="2560320"/>
          </a:xfrm>
          <a:prstGeom prst="roundRect">
            <a:avLst/>
          </a:prstGeom>
          <a:solidFill>
            <a:srgbClr val="FFF5F0"/>
          </a:solidFill>
          <a:ln>
            <a:solidFill>
              <a:srgbClr val="B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3931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B42828"/>
                </a:solidFill>
                <a:latin typeface="Calibri"/>
              </a:defRPr>
            </a:pPr>
            <a:r>
              <a:t>Why Is This Instruction Critical?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8912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Without it, the LLM may fabricate data</a:t>
            </a:r>
          </a:p>
          <a:p>
            <a:pPr>
              <a:spcAft>
                <a:spcPts val="6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Example: invents Metformin for a diabetic</a:t>
            </a:r>
            <a:br/>
            <a:r>
              <a:t>  patient who was never prescribed it</a:t>
            </a:r>
          </a:p>
          <a:p>
            <a:pPr>
              <a:spcAft>
                <a:spcPts val="6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Clinician acting on hallucinated data</a:t>
            </a:r>
            <a:br/>
            <a:r>
              <a:t>  → medication reconciliation error</a:t>
            </a:r>
          </a:p>
          <a:p>
            <a:pPr>
              <a:spcAft>
                <a:spcPts val="6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This is a prompt-level safety guardrail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5303520" cy="2560320"/>
          </a:xfrm>
          <a:prstGeom prst="roundRect">
            <a:avLst/>
          </a:prstGeom>
          <a:solidFill>
            <a:srgbClr val="F0F8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3931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006699"/>
                </a:solidFill>
                <a:latin typeface="Calibri"/>
              </a:defRPr>
            </a:pPr>
            <a:r>
              <a:t>Discussion Question: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38912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C3C3C"/>
                </a:solidFill>
                <a:latin typeface="Calibri"/>
              </a:defRPr>
            </a:pPr>
            <a:r>
              <a:t>"Could a clinician use this summary directly in patient care?"</a:t>
            </a:r>
            <a:br/>
            <a:br/>
            <a:r>
              <a:t>Answer: No — it requires human verification against source data.</a:t>
            </a:r>
            <a:br/>
            <a:br/>
            <a:r>
              <a:t>This is the "golden rule" we'll discuss in Phase 3.</a:t>
            </a:r>
          </a:p>
        </p:txBody>
      </p:sp>
      <p:grpSp>
        <p:nvGrpSpPr>
          <p:cNvPr id="12" name="Group 4">
            <a:extLst>
              <a:ext uri="{FF2B5EF4-FFF2-40B4-BE49-F238E27FC236}">
                <a16:creationId xmlns:a16="http://schemas.microsoft.com/office/drawing/2014/main" id="{F6A6F845-37DC-8351-FDF1-E911F6700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523670" y="21717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2A765062-0085-E2BF-DA48-D4E4F6E1BD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F3EDCF7-CAAE-3D11-D1FA-8604F02E5D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3366"/>
                </a:solidFill>
                <a:latin typeface="Calibri"/>
              </a:defRPr>
            </a:pPr>
            <a:r>
              <a:t>Exercise 4: Prompt Engineering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1">
                <a:solidFill>
                  <a:srgbClr val="006699"/>
                </a:solidFill>
                <a:latin typeface="Calibri"/>
              </a:defRPr>
            </a:pPr>
            <a:r>
              <a:t>Same patient data, different prompts — see how prompt design changes everything.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10881360" cy="1188720"/>
          </a:xfrm>
          <a:prstGeom prst="roundRect">
            <a:avLst/>
          </a:prstGeom>
          <a:solidFill>
            <a:srgbClr val="FFF0F0"/>
          </a:solidFill>
          <a:ln w="19050">
            <a:solidFill>
              <a:srgbClr val="B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B42828"/>
                </a:solidFill>
                <a:latin typeface="Calibri"/>
              </a:defRPr>
            </a:pPr>
            <a:r>
              <a:t>Strategy 1: Minimal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3C3C3C"/>
                </a:solidFill>
                <a:latin typeface="Calibri"/>
              </a:defRPr>
            </a:pPr>
            <a:r>
              <a:t>"You are a helpful assistant."</a:t>
            </a:r>
            <a:br/>
            <a:r>
              <a:t>"Summarize this patient data."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0574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C3C3C"/>
                </a:solidFill>
                <a:latin typeface="Calibri"/>
              </a:defRPr>
            </a:pPr>
            <a:r>
              <a:t>Unstructured paragraph, no consistent format,</a:t>
            </a:r>
            <a:br/>
            <a:r>
              <a:t>may hallucinate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46120"/>
            <a:ext cx="10881360" cy="1188720"/>
          </a:xfrm>
          <a:prstGeom prst="roundRect">
            <a:avLst/>
          </a:prstGeom>
          <a:solidFill>
            <a:srgbClr val="EBFAEB"/>
          </a:solidFill>
          <a:ln w="19050">
            <a:solidFill>
              <a:srgbClr val="28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291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28783C"/>
                </a:solidFill>
                <a:latin typeface="Calibri"/>
              </a:defRPr>
            </a:pPr>
            <a:r>
              <a:t>Strategy 2: Structured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576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3C3C3C"/>
                </a:solidFill>
                <a:latin typeface="Calibri"/>
              </a:defRPr>
            </a:pPr>
            <a:r>
              <a:t>Clinical role + section format +</a:t>
            </a:r>
            <a:br/>
            <a:r>
              <a:t>"do not invent" constraint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3832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C3C3C"/>
                </a:solidFill>
                <a:latin typeface="Calibri"/>
              </a:defRPr>
            </a:pPr>
            <a:r>
              <a:t>Organized sections matching requested format,</a:t>
            </a:r>
            <a:br/>
            <a:r>
              <a:t>safer, more predictable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72000"/>
            <a:ext cx="10881360" cy="1188720"/>
          </a:xfrm>
          <a:prstGeom prst="roundRect">
            <a:avLst/>
          </a:prstGeom>
          <a:solidFill>
            <a:srgbClr val="EBF5FF"/>
          </a:solidFill>
          <a:ln w="1905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617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6699"/>
                </a:solidFill>
                <a:latin typeface="Calibri"/>
              </a:defRPr>
            </a:pPr>
            <a:r>
              <a:t>Strategy 3: Few-Shot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834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3C3C3C"/>
                </a:solidFill>
                <a:latin typeface="Calibri"/>
              </a:defRPr>
            </a:pPr>
            <a:r>
              <a:t>Includes an example input/output pair</a:t>
            </a:r>
            <a:br/>
            <a:r>
              <a:t>before the real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7091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C3C3C"/>
                </a:solidFill>
                <a:latin typeface="Calibri"/>
              </a:defRPr>
            </a:pPr>
            <a:r>
              <a:t>Mimics the example format and style without</a:t>
            </a:r>
            <a:br/>
            <a:r>
              <a:t>explicit format instructions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60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C3C3C"/>
                </a:solidFill>
                <a:latin typeface="Calibri"/>
              </a:defRPr>
            </a:pPr>
            <a:r>
              <a:t>Also includes temperature comparison (0.1, 0.7, 1.0) on Strategy 2. Prompt constants are at the top of the file — students can edit and re-run.</a:t>
            </a:r>
            <a:br/>
            <a:r>
              <a:t>Run:  python exercise4_prompt_compare.py</a:t>
            </a:r>
          </a:p>
        </p:txBody>
      </p:sp>
      <p:grpSp>
        <p:nvGrpSpPr>
          <p:cNvPr id="18" name="Group 4">
            <a:extLst>
              <a:ext uri="{FF2B5EF4-FFF2-40B4-BE49-F238E27FC236}">
                <a16:creationId xmlns:a16="http://schemas.microsoft.com/office/drawing/2014/main" id="{4E9D6FF7-6C3D-99D3-7FE5-9F4914F64B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45205" y="13716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B2B220CA-FE38-5F5F-237B-D0BD7F735C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81722661-EC5C-A95B-0A05-6C9C8C3558E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3366"/>
                </a:solidFill>
                <a:latin typeface="Calibri"/>
              </a:defRPr>
            </a:pPr>
            <a:r>
              <a:t>Exercise 4: Temperature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1">
                <a:solidFill>
                  <a:srgbClr val="006699"/>
                </a:solidFill>
                <a:latin typeface="Calibri"/>
              </a:defRPr>
            </a:pPr>
            <a:r>
              <a:t>Same prompt (Strategy 2), same data — only temperature changes.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10881360" cy="1371600"/>
          </a:xfrm>
          <a:prstGeom prst="roundRect">
            <a:avLst/>
          </a:prstGeom>
          <a:solidFill>
            <a:srgbClr val="EBFAEB"/>
          </a:solidFill>
          <a:ln w="25400">
            <a:solidFill>
              <a:srgbClr val="28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28783C"/>
                </a:solidFill>
                <a:latin typeface="Calibri"/>
              </a:defRPr>
            </a:pPr>
            <a:r>
              <a:t>Temperature 0.1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28783C"/>
                </a:solidFill>
                <a:latin typeface="Calibri"/>
              </a:defRPr>
            </a:pPr>
            <a:r>
              <a:t>Focused, deterministic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103120"/>
            <a:ext cx="7589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C3C3C"/>
                </a:solidFill>
                <a:latin typeface="Calibri"/>
              </a:defRPr>
            </a:pPr>
            <a:r>
              <a:t>Nearly identical output each run. Picks the highest-probability words consistently. Best for clinical summarization where accuracy and reproducibility matter.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429000"/>
            <a:ext cx="10881360" cy="1371600"/>
          </a:xfrm>
          <a:prstGeom prst="roundRect">
            <a:avLst/>
          </a:prstGeom>
          <a:solidFill>
            <a:srgbClr val="EBF5FF"/>
          </a:solidFill>
          <a:ln w="254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6699"/>
                </a:solidFill>
                <a:latin typeface="Calibri"/>
              </a:defRPr>
            </a:pPr>
            <a:r>
              <a:t>Temperature 0.7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77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006699"/>
                </a:solidFill>
                <a:latin typeface="Calibri"/>
              </a:defRPr>
            </a:pPr>
            <a:r>
              <a:t>Balanced (default)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611880"/>
            <a:ext cx="7589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C3C3C"/>
                </a:solidFill>
                <a:latin typeface="Calibri"/>
              </a:defRPr>
            </a:pPr>
            <a:r>
              <a:t>Reasonable variety in phrasing while maintaining accuracy. Good general-purpose setting. Some creative choices in wording.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937760"/>
            <a:ext cx="10881360" cy="1371600"/>
          </a:xfrm>
          <a:prstGeom prst="roundRect">
            <a:avLst/>
          </a:prstGeom>
          <a:solidFill>
            <a:srgbClr val="FFF0F0"/>
          </a:solidFill>
          <a:ln w="25400">
            <a:solidFill>
              <a:srgbClr val="B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5029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B42828"/>
                </a:solidFill>
                <a:latin typeface="Calibri"/>
              </a:defRPr>
            </a:pPr>
            <a:r>
              <a:t>Temperature 1.0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486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B42828"/>
                </a:solidFill>
                <a:latin typeface="Calibri"/>
              </a:defRPr>
            </a:pPr>
            <a:r>
              <a:t>Creative, variable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5120640"/>
            <a:ext cx="7589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C3C3C"/>
                </a:solidFill>
                <a:latin typeface="Calibri"/>
              </a:defRPr>
            </a:pPr>
            <a:r>
              <a:t>Output varies significantly across runs. May introduce unexpected phrasings or tangents. Higher hallucination risk. Useful for brainstorming, not clinical reporting.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003366"/>
                </a:solidFill>
                <a:latin typeface="Calibri"/>
              </a:defRPr>
            </a:pPr>
            <a:r>
              <a:t>Takeaway: For clinical applications, use low temperature. Reproducibility = verifiability = safety.</a:t>
            </a:r>
          </a:p>
        </p:txBody>
      </p:sp>
      <p:grpSp>
        <p:nvGrpSpPr>
          <p:cNvPr id="18" name="Group 4">
            <a:extLst>
              <a:ext uri="{FF2B5EF4-FFF2-40B4-BE49-F238E27FC236}">
                <a16:creationId xmlns:a16="http://schemas.microsoft.com/office/drawing/2014/main" id="{05A017E4-F74D-EB29-B41C-371E01EEE4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521440" y="26289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FFAB4B39-A94B-CB3D-AEBC-7DACC340CE9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27835C94-9555-5D92-8181-2A709C8F85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2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Safety, Governance &amp;</a:t>
            </a:r>
            <a:br/>
            <a:r>
              <a:t>Series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DCE6F0"/>
                </a:solidFill>
                <a:latin typeface="Calibri"/>
              </a:defRPr>
            </a:pPr>
            <a:r>
              <a:t>AI safety is not a single topic — it is a design constraint</a:t>
            </a:r>
            <a:br/>
            <a:r>
              <a:t>that runs through the entire AI+FHIR series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3366"/>
                </a:solidFill>
                <a:latin typeface="Calibri"/>
              </a:defRPr>
            </a:pPr>
            <a:r>
              <a:t>The Golden Rule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418320" cy="1828800"/>
          </a:xfrm>
          <a:prstGeom prst="roundRect">
            <a:avLst/>
          </a:prstGeom>
          <a:solidFill>
            <a:srgbClr val="FFF8DC"/>
          </a:solidFill>
          <a:ln w="38100">
            <a:solidFill>
              <a:srgbClr val="B48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503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8C6400"/>
                </a:solidFill>
                <a:latin typeface="Calibri"/>
              </a:defRPr>
            </a:pPr>
            <a:r>
              <a:t>Never use LLM output in a clinical context</a:t>
            </a:r>
            <a:br/>
            <a:r>
              <a:t>without verifying it against the source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03366"/>
                </a:solidFill>
                <a:latin typeface="Calibri"/>
              </a:defRPr>
            </a:pPr>
            <a:r>
              <a:t>Validation Strategies: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891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>
                <a:latin typeface="Calibri"/>
              </a:defRPr>
            </a:pPr>
            <a:r>
              <a:rPr sz="1700" b="1">
                <a:solidFill>
                  <a:srgbClr val="3C3C3C"/>
                </a:solidFill>
                <a:latin typeface="Calibri"/>
              </a:rPr>
              <a:t>Cross-reference against source FHIR data: </a:t>
            </a:r>
            <a:r>
              <a:rPr sz="1700">
                <a:solidFill>
                  <a:srgbClr val="3C3C3C"/>
                </a:solidFill>
                <a:latin typeface="Calibri"/>
              </a:rPr>
              <a:t>Does the summary match the actual resources?</a:t>
            </a:r>
          </a:p>
          <a:p>
            <a:pPr>
              <a:spcAft>
                <a:spcPts val="1000"/>
              </a:spcAft>
              <a:defRPr>
                <a:latin typeface="Calibri"/>
              </a:defRPr>
            </a:pPr>
            <a:r>
              <a:rPr sz="1700" b="1">
                <a:solidFill>
                  <a:srgbClr val="3C3C3C"/>
                </a:solidFill>
                <a:latin typeface="Calibri"/>
              </a:rPr>
              <a:t>Structured output validation: </a:t>
            </a:r>
            <a:r>
              <a:rPr sz="1700">
                <a:solidFill>
                  <a:srgbClr val="3C3C3C"/>
                </a:solidFill>
                <a:latin typeface="Calibri"/>
              </a:rPr>
              <a:t>Does the LLM output conform to the expected schema?</a:t>
            </a:r>
          </a:p>
          <a:p>
            <a:pPr>
              <a:spcAft>
                <a:spcPts val="1000"/>
              </a:spcAft>
              <a:defRPr>
                <a:latin typeface="Calibri"/>
              </a:defRPr>
            </a:pPr>
            <a:r>
              <a:rPr sz="1700" b="1">
                <a:solidFill>
                  <a:srgbClr val="3C3C3C"/>
                </a:solidFill>
                <a:latin typeface="Calibri"/>
              </a:rPr>
              <a:t>Human spot-checking: </a:t>
            </a:r>
            <a:r>
              <a:rPr sz="1700">
                <a:solidFill>
                  <a:srgbClr val="3C3C3C"/>
                </a:solidFill>
                <a:latin typeface="Calibri"/>
              </a:rPr>
              <a:t>Clinician verifies medications, allergies, active diagnoses</a:t>
            </a:r>
          </a:p>
          <a:p>
            <a:pPr>
              <a:spcAft>
                <a:spcPts val="1000"/>
              </a:spcAft>
              <a:defRPr>
                <a:latin typeface="Calibri"/>
              </a:defRPr>
            </a:pPr>
            <a:r>
              <a:rPr sz="1700" b="1">
                <a:solidFill>
                  <a:srgbClr val="3C3C3C"/>
                </a:solidFill>
                <a:latin typeface="Calibri"/>
              </a:rPr>
              <a:t>Reproducibility testing: </a:t>
            </a:r>
            <a:r>
              <a:rPr sz="1700">
                <a:solidFill>
                  <a:srgbClr val="3C3C3C"/>
                </a:solidFill>
                <a:latin typeface="Calibri"/>
              </a:rPr>
              <a:t>Run the same input twice — significant factual differences suggest hallucination</a:t>
            </a:r>
          </a:p>
        </p:txBody>
      </p:sp>
      <p:grpSp>
        <p:nvGrpSpPr>
          <p:cNvPr id="8" name="Group 4">
            <a:extLst>
              <a:ext uri="{FF2B5EF4-FFF2-40B4-BE49-F238E27FC236}">
                <a16:creationId xmlns:a16="http://schemas.microsoft.com/office/drawing/2014/main" id="{0167C6D7-C843-8184-D909-7ECF3DCA6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551920" y="21717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D45E311F-7BB8-89C1-381C-952BBB93E3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2F2D4480-51F5-00E9-4FC0-A4A16B3E2C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989" y="114300"/>
            <a:ext cx="12191695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3366"/>
                </a:solidFill>
                <a:latin typeface="Calibri"/>
              </a:defRPr>
            </a:pPr>
            <a:r>
              <a:t>Hallucination Risks in Clinical Contexts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0881360" cy="1463040"/>
          </a:xfrm>
          <a:prstGeom prst="roundRect">
            <a:avLst/>
          </a:prstGeom>
          <a:solidFill>
            <a:srgbClr val="FFF5F3"/>
          </a:solidFill>
          <a:ln w="19050">
            <a:solidFill>
              <a:srgbClr val="B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B42828"/>
                </a:solidFill>
                <a:latin typeface="Calibri"/>
              </a:defRPr>
            </a:pPr>
            <a:r>
              <a:t>Invented Medication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C3C3C"/>
                </a:solidFill>
                <a:latin typeface="Calibri"/>
              </a:defRPr>
            </a:pPr>
            <a:r>
              <a:t>LLM summary says "Metformin 500mg twice daily" — but there is no Metformin MedicationRequest in the FHIR bundle. The LLM inferred it from the diabetes diagnosis.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971800"/>
            <a:ext cx="10881360" cy="1463040"/>
          </a:xfrm>
          <a:prstGeom prst="roundRect">
            <a:avLst/>
          </a:prstGeom>
          <a:solidFill>
            <a:srgbClr val="FFF5F3"/>
          </a:solidFill>
          <a:ln w="19050">
            <a:solidFill>
              <a:srgbClr val="B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B42828"/>
                </a:solidFill>
                <a:latin typeface="Calibri"/>
              </a:defRPr>
            </a:pPr>
            <a:r>
              <a:t>Fabricated Lab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C3C3C"/>
                </a:solidFill>
                <a:latin typeface="Calibri"/>
              </a:defRPr>
            </a:pPr>
            <a:r>
              <a:t>Summary reports "Most recent A1c: 8.2%" — but no A1c Observation exists. The LLM filled a gap with a plausible-sounding number.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572000"/>
            <a:ext cx="10881360" cy="1463040"/>
          </a:xfrm>
          <a:prstGeom prst="roundRect">
            <a:avLst/>
          </a:prstGeom>
          <a:solidFill>
            <a:srgbClr val="FFF5F3"/>
          </a:solidFill>
          <a:ln w="19050">
            <a:solidFill>
              <a:srgbClr val="B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B42828"/>
                </a:solidFill>
                <a:latin typeface="Calibri"/>
              </a:defRPr>
            </a:pPr>
            <a:r>
              <a:t>Patient Conflation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C3C3C"/>
                </a:solidFill>
                <a:latin typeface="Calibri"/>
              </a:defRPr>
            </a:pPr>
            <a:r>
              <a:t>In batch processing, the LLM blends Patient A's medications into Patient B's summary — especially if context windows are reused without clearing.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3366"/>
                </a:solidFill>
                <a:latin typeface="Calibri"/>
              </a:defRPr>
            </a:pPr>
            <a:r>
              <a:t>Each of these can cause patient harm if a clinician acts on the LLM output without verifying against the source FHIR data.</a:t>
            </a:r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id="{B6D25AAC-6B57-3AFC-1AD4-5DB52F2F8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78252" y="33147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2F20FD2A-B3F2-6BFA-2BEB-640796CA3B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A3D675E5-DEDB-9F6C-DCA0-EBE518E78D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3366"/>
                </a:solidFill>
                <a:latin typeface="Calibri"/>
              </a:defRPr>
            </a:pPr>
            <a:r>
              <a:t>PHI and HIPAA Considerations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0881360" cy="1463040"/>
          </a:xfrm>
          <a:prstGeom prst="roundRect">
            <a:avLst/>
          </a:prstGeom>
          <a:solidFill>
            <a:srgbClr val="FFF0F0"/>
          </a:solidFill>
          <a:ln w="25400">
            <a:solidFill>
              <a:srgbClr val="B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3C3C3C"/>
                </a:solidFill>
                <a:latin typeface="Calibri"/>
              </a:defRPr>
            </a:pPr>
            <a:r>
              <a:t>Scenario: A developer copies a patient's FHIR Patient/$everything bundle — 300,000 characters of clinical data including names, dates of birth, diagnoses, and medications — and pastes it into ChatGPT to generate a summary.</a:t>
            </a:r>
            <a:br/>
            <a:br/>
            <a:r>
              <a:t>This is a HIPAA violation. The data is now on external servers, potentially logged, and outside the covered entity's control.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03366"/>
                </a:solidFill>
                <a:latin typeface="Calibri"/>
              </a:defRPr>
            </a:pPr>
            <a:r>
              <a:t>Local Model (Ollama)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5257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Data stays on your machine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No BAA needed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No risk of external exposure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This is why our exercises use Ollama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3200400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03366"/>
                </a:solidFill>
                <a:latin typeface="Calibri"/>
              </a:defRPr>
            </a:pPr>
            <a:r>
              <a:t>Cloud API (with BAA)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3657600"/>
            <a:ext cx="5257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BAA required with API provider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Azure OpenAI offers BAA-backed endpoints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De-identified data may be acceptable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Know where your data goes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43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3366"/>
                </a:solidFill>
                <a:latin typeface="Calibri"/>
              </a:defRPr>
            </a:pPr>
            <a:r>
              <a:t>Key principle: Know where your data goes and what protections are in place.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8BD0A265-B055-FF83-58C9-27EA67DA2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551920" y="21717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82087E10-99C4-8703-E338-3EB823F02F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EAEC5EC3-5459-094C-C339-67BBBAF9832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3366"/>
                </a:solidFill>
                <a:latin typeface="Calibri"/>
              </a:defRPr>
            </a:pPr>
            <a:r>
              <a:t>Human-in-the-Loop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003366"/>
                </a:solidFill>
                <a:latin typeface="Calibri"/>
              </a:defRPr>
            </a:pPr>
            <a:r>
              <a:t>AI as Decision Support, Not Decision Maker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3474720" cy="2286000"/>
          </a:xfrm>
          <a:prstGeom prst="roundRect">
            <a:avLst/>
          </a:prstGeom>
          <a:solidFill>
            <a:srgbClr val="EBF5FF"/>
          </a:solidFill>
          <a:ln w="254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6699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94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6699"/>
                </a:solidFill>
                <a:latin typeface="Calibri"/>
              </a:defRPr>
            </a:pPr>
            <a:r>
              <a:t>LLM Processes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3C3C3C"/>
                </a:solidFill>
                <a:latin typeface="Calibri"/>
              </a:defRPr>
            </a:pPr>
            <a:r>
              <a:t>LLM processes data and</a:t>
            </a:r>
            <a:br/>
            <a:r>
              <a:t>generates a summary</a:t>
            </a:r>
            <a:br/>
            <a:r>
              <a:t>or suggestion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8346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78787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03120"/>
            <a:ext cx="3474720" cy="2286000"/>
          </a:xfrm>
          <a:prstGeom prst="roundRect">
            <a:avLst/>
          </a:prstGeom>
          <a:solidFill>
            <a:srgbClr val="FFF8E6"/>
          </a:solidFill>
          <a:ln w="25400">
            <a:solidFill>
              <a:srgbClr val="B48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B48C14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B48C14"/>
                </a:solidFill>
                <a:latin typeface="Calibri"/>
              </a:defRPr>
            </a:pPr>
            <a:r>
              <a:t>Clinician Reviews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7432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3C3C3C"/>
                </a:solidFill>
                <a:latin typeface="Calibri"/>
              </a:defRPr>
            </a:pPr>
            <a:r>
              <a:t>Clinician reviews output</a:t>
            </a:r>
            <a:br/>
            <a:r>
              <a:t>against source FHIR data</a:t>
            </a:r>
            <a:br/>
            <a:r>
              <a:t>and clinical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0" y="28346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78787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103120"/>
            <a:ext cx="3474720" cy="2286000"/>
          </a:xfrm>
          <a:prstGeom prst="roundRect">
            <a:avLst/>
          </a:prstGeom>
          <a:solidFill>
            <a:srgbClr val="EBFAEB"/>
          </a:solidFill>
          <a:ln w="25400">
            <a:solidFill>
              <a:srgbClr val="28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28783C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194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28783C"/>
                </a:solidFill>
                <a:latin typeface="Calibri"/>
              </a:defRPr>
            </a:pPr>
            <a:r>
              <a:t>Clinician Decides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7432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3C3C3C"/>
                </a:solidFill>
                <a:latin typeface="Calibri"/>
              </a:defRPr>
            </a:pPr>
            <a:r>
              <a:t>Clinician makes the</a:t>
            </a:r>
            <a:br/>
            <a:r>
              <a:t>clinical decision based</a:t>
            </a:r>
            <a:br/>
            <a:r>
              <a:t>on verified information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54879"/>
            <a:ext cx="10881360" cy="1835491"/>
          </a:xfrm>
          <a:prstGeom prst="roundRect">
            <a:avLst/>
          </a:prstGeom>
          <a:solidFill>
            <a:srgbClr val="F0F8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8463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6699"/>
                </a:solidFill>
                <a:latin typeface="Calibri"/>
              </a:defRPr>
            </a:pPr>
            <a:r>
              <a:t>The Analogy: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120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C3C3C"/>
                </a:solidFill>
                <a:latin typeface="Calibri"/>
              </a:defRPr>
            </a:pPr>
            <a:r>
              <a:rPr dirty="0"/>
              <a:t>A resident presents a case summary to an attending. The attending doesn't sign off without reviewing the chart. LLM output deserves the same scrutiny.</a:t>
            </a:r>
            <a:br>
              <a:rPr dirty="0"/>
            </a:br>
            <a:br>
              <a:rPr dirty="0"/>
            </a:br>
            <a:r>
              <a:rPr dirty="0"/>
              <a:t>LLMs cannot assess clinical context not in the data, cannot take responsibility for outcomes, and regulatory frameworks increasingly require human oversight.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BE8BD6-4DEA-1392-EE56-2847EC070303}"/>
              </a:ext>
            </a:extLst>
          </p:cNvPr>
          <p:cNvSpPr txBox="1"/>
          <p:nvPr/>
        </p:nvSpPr>
        <p:spPr>
          <a:xfrm>
            <a:off x="64008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3366"/>
                </a:solidFill>
                <a:latin typeface="Calibri"/>
              </a:defRPr>
            </a:pPr>
            <a:r>
              <a:t>Human-in-the-Loop</a:t>
            </a:r>
          </a:p>
        </p:txBody>
      </p:sp>
      <p:grpSp>
        <p:nvGrpSpPr>
          <p:cNvPr id="23" name="Group 4">
            <a:extLst>
              <a:ext uri="{FF2B5EF4-FFF2-40B4-BE49-F238E27FC236}">
                <a16:creationId xmlns:a16="http://schemas.microsoft.com/office/drawing/2014/main" id="{FA5A0D78-ECAD-EC77-199E-5F9C2042F0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60257" y="21717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D5FF1AC3-7968-51C4-D1B2-D89F1191EC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CDBDECB0-C855-4F8C-4F9A-B7449CA4DC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-26670"/>
            <a:ext cx="12191695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3366"/>
                </a:solidFill>
                <a:latin typeface="Calibri"/>
              </a:defRPr>
            </a:pPr>
            <a:r>
              <a:t>Regulatory Awareness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1">
                <a:solidFill>
                  <a:srgbClr val="787878"/>
                </a:solidFill>
                <a:latin typeface="Calibri"/>
              </a:defRPr>
            </a:pPr>
            <a:r>
              <a:t>Awareness level — know these frameworks exist and why they matter.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303520" cy="2743200"/>
          </a:xfrm>
          <a:prstGeom prst="roundRect">
            <a:avLst/>
          </a:prstGeom>
          <a:solidFill>
            <a:srgbClr val="F0F4F8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003366"/>
                </a:solidFill>
                <a:latin typeface="Calibri"/>
              </a:defRPr>
            </a:pPr>
            <a:r>
              <a:t>ONC Health IT Certification (HTI-1)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Transparency requirements for AI-based</a:t>
            </a:r>
            <a:br/>
            <a:r>
              <a:t>  clinical decision support tools</a:t>
            </a:r>
          </a:p>
          <a:p>
            <a:pPr>
              <a:spcAft>
                <a:spcPts val="6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Disclosure requirements for predictive</a:t>
            </a:r>
            <a:br/>
            <a:r>
              <a:t>  models in certified health IT</a:t>
            </a:r>
          </a:p>
          <a:p>
            <a:pPr>
              <a:spcAft>
                <a:spcPts val="6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If your AI+FHIR application is part of</a:t>
            </a:r>
            <a:br/>
            <a:r>
              <a:t>  certified health IT, these rules apply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303520" cy="2743200"/>
          </a:xfrm>
          <a:prstGeom prst="roundRect">
            <a:avLst/>
          </a:prstGeom>
          <a:solidFill>
            <a:srgbClr val="F0F4F8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003366"/>
                </a:solidFill>
                <a:latin typeface="Calibri"/>
              </a:defRPr>
            </a:pPr>
            <a:r>
              <a:t>FDA — AI/ML as Medical Devices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AI tools for diagnosis/treatment may be</a:t>
            </a:r>
            <a:br/>
            <a:r>
              <a:t>  regulated as medical devices</a:t>
            </a:r>
          </a:p>
          <a:p>
            <a:pPr>
              <a:spcAft>
                <a:spcPts val="6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FDA has approved hundreds of AI/ML-</a:t>
            </a:r>
            <a:br/>
            <a:r>
              <a:t>  enabled medical devices</a:t>
            </a:r>
          </a:p>
          <a:p>
            <a:pPr>
              <a:spcAft>
                <a:spcPts val="6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"Patient summary" vs. "clinical</a:t>
            </a:r>
            <a:br/>
            <a:r>
              <a:t>  recommendation" = different regulatory bar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846320"/>
            <a:ext cx="10881360" cy="1645920"/>
          </a:xfrm>
          <a:prstGeom prst="roundRect">
            <a:avLst/>
          </a:prstGeom>
          <a:solidFill>
            <a:srgbClr val="FFF8DC"/>
          </a:solidFill>
          <a:ln>
            <a:solidFill>
              <a:srgbClr val="B48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9377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8C6400"/>
                </a:solidFill>
                <a:latin typeface="Calibri"/>
              </a:defRPr>
            </a:pPr>
            <a:r>
              <a:t>When Building AI+FHIR Applications, Ask: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03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1. Know your intent — informational or clinical?</a:t>
            </a:r>
          </a:p>
          <a:p>
            <a:pPr>
              <a:spcAft>
                <a:spcPts val="6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2. Know your data flow — does PHI leave your infrastructure?</a:t>
            </a:r>
          </a:p>
          <a:p>
            <a:pPr>
              <a:spcAft>
                <a:spcPts val="6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3. Know your audience — will clinicians make decisions from this?</a:t>
            </a:r>
          </a:p>
          <a:p>
            <a:pPr>
              <a:spcAft>
                <a:spcPts val="6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4. Know your obligations — which regulatory frameworks apply?</a:t>
            </a:r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id="{E3B238B2-F23F-60C4-936E-14EE87512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60410" y="13716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461D62CE-4CA8-DA05-BC0A-1577EF6D90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E2CDEA9-F3B1-F2BB-EB5B-220B49B6F6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3366"/>
                </a:solidFill>
                <a:latin typeface="Calibri"/>
              </a:defRPr>
            </a:pPr>
            <a:r>
              <a:t>Real-World Use Cases: LLMs + FHIR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486400" cy="137160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28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3366"/>
                </a:solidFill>
                <a:latin typeface="Calibri"/>
              </a:defRPr>
            </a:pPr>
            <a:r>
              <a:t>Patient Record</a:t>
            </a:r>
            <a:br/>
            <a:r>
              <a:t>Summarization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46304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C3C3C"/>
                </a:solidFill>
                <a:latin typeface="Calibri"/>
              </a:defRPr>
            </a:pPr>
            <a:r>
              <a:t>Mayo Clinic and others use LLMs to</a:t>
            </a:r>
            <a:br/>
            <a:r>
              <a:t>summarize records for diagnostic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2286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28783C"/>
                </a:solidFill>
                <a:latin typeface="Calibri"/>
              </a:defRPr>
            </a:pPr>
            <a:r>
              <a:t>(Our Exercise 3!)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5486400" cy="13716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4630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3366"/>
                </a:solidFill>
                <a:latin typeface="Calibri"/>
              </a:defRPr>
            </a:pPr>
            <a:r>
              <a:t>Clinical Note</a:t>
            </a:r>
            <a:br/>
            <a:r>
              <a:t>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46304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C3C3C"/>
                </a:solidFill>
                <a:latin typeface="Calibri"/>
              </a:defRPr>
            </a:pPr>
            <a:r>
              <a:t>Ambience, Abridge, Amazon HealthScribe</a:t>
            </a:r>
            <a:br/>
            <a:r>
              <a:t>generate SOAP notes from transcripts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26080"/>
            <a:ext cx="5486400" cy="13716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0175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3366"/>
                </a:solidFill>
                <a:latin typeface="Calibri"/>
              </a:defRPr>
            </a:pPr>
            <a:r>
              <a:t>Natural Language</a:t>
            </a:r>
            <a:br/>
            <a:r>
              <a:t>to FHIR Query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0175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C3C3C"/>
                </a:solidFill>
                <a:latin typeface="Calibri"/>
              </a:defRPr>
            </a:pPr>
            <a:r>
              <a:t>"Find all diabetics with A1c &gt; 8" translated</a:t>
            </a:r>
            <a:br/>
            <a:r>
              <a:t>into FHIR search parameters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926080"/>
            <a:ext cx="5486400" cy="13716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30175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3366"/>
                </a:solidFill>
                <a:latin typeface="Calibri"/>
              </a:defRPr>
            </a:pPr>
            <a:r>
              <a:t>Structured Data</a:t>
            </a:r>
            <a:br/>
            <a:r>
              <a:t>Extraction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30175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C3C3C"/>
                </a:solidFill>
                <a:latin typeface="Calibri"/>
              </a:defRPr>
            </a:pPr>
            <a:r>
              <a:t>LLMs extract medications, conditions, labs</a:t>
            </a:r>
            <a:br/>
            <a:r>
              <a:t>from free-text notes into FHIR resources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480560"/>
            <a:ext cx="5486400" cy="13716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45720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3366"/>
                </a:solidFill>
                <a:latin typeface="Calibri"/>
              </a:defRPr>
            </a:pPr>
            <a:r>
              <a:t>Clinical Trial</a:t>
            </a:r>
            <a:br/>
            <a:r>
              <a:t>Matching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45720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C3C3C"/>
                </a:solidFill>
                <a:latin typeface="Calibri"/>
              </a:defRPr>
            </a:pPr>
            <a:r>
              <a:t>Match patient FHIR profiles to trial</a:t>
            </a:r>
            <a:br/>
            <a:r>
              <a:t>eligibility criteria automatically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480560"/>
            <a:ext cx="5486400" cy="13716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45720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3366"/>
                </a:solidFill>
                <a:latin typeface="Calibri"/>
              </a:defRPr>
            </a:pPr>
            <a:r>
              <a:t>Predictive Risk</a:t>
            </a:r>
            <a:br/>
            <a:r>
              <a:t>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45720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C3C3C"/>
                </a:solidFill>
                <a:latin typeface="Calibri"/>
              </a:defRPr>
            </a:pPr>
            <a:r>
              <a:t>Combine clinical notes + structured data</a:t>
            </a:r>
            <a:br/>
            <a:r>
              <a:t>for early detection (sepsis, readmission)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5C94F1-1FF5-A856-4EC6-65793A8E062D}"/>
              </a:ext>
            </a:extLst>
          </p:cNvPr>
          <p:cNvSpPr txBox="1"/>
          <p:nvPr/>
        </p:nvSpPr>
        <p:spPr>
          <a:xfrm>
            <a:off x="640080" y="14831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3366"/>
                </a:solidFill>
                <a:latin typeface="Calibri"/>
              </a:defRPr>
            </a:pPr>
            <a:r>
              <a:t>Real-World Use Cases: LLMs + FHIR</a:t>
            </a:r>
          </a:p>
        </p:txBody>
      </p:sp>
      <p:grpSp>
        <p:nvGrpSpPr>
          <p:cNvPr id="24" name="Group 4">
            <a:extLst>
              <a:ext uri="{FF2B5EF4-FFF2-40B4-BE49-F238E27FC236}">
                <a16:creationId xmlns:a16="http://schemas.microsoft.com/office/drawing/2014/main" id="{8D64F738-94EA-38ED-692C-2024CE522A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45205" y="21717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40DF64B9-0687-7E85-2B55-BF1F942963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10F303B7-71F2-6E3C-FA33-A2A2ECBCB2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3366"/>
                </a:solidFill>
                <a:latin typeface="Calibri"/>
              </a:defRPr>
            </a:pPr>
            <a:r>
              <a:t>Where These Concepts Scale 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657600" cy="822960"/>
          </a:xfrm>
          <a:prstGeom prst="roundRect">
            <a:avLst/>
          </a:prstGeom>
          <a:solidFill>
            <a:srgbClr val="F0F4F8"/>
          </a:solidFill>
          <a:ln>
            <a:solidFill>
              <a:srgbClr val="28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8783C"/>
                </a:solidFill>
                <a:latin typeface="Calibri"/>
              </a:defRPr>
            </a:pPr>
            <a:r>
              <a:t>Summarization Pipeline</a:t>
            </a:r>
            <a:br/>
            <a:r>
              <a:t>(Exercise 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4630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787878"/>
                </a:solidFill>
                <a:latin typeface="Calibri"/>
              </a:defRPr>
            </a:pPr>
            <a:r>
              <a:t>--&gt;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371600"/>
            <a:ext cx="6217920" cy="822960"/>
          </a:xfrm>
          <a:prstGeom prst="roundRect">
            <a:avLst/>
          </a:prstGeom>
          <a:solidFill>
            <a:srgbClr val="F5FAFF"/>
          </a:solidFill>
          <a:ln>
            <a:solidFill>
              <a:srgbClr val="28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0" y="1417320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C3C3C"/>
                </a:solidFill>
                <a:latin typeface="Calibri"/>
              </a:defRPr>
            </a:pPr>
            <a:r>
              <a:t>Becomes a subagent in</a:t>
            </a:r>
            <a:br/>
            <a:r>
              <a:t>Part One's multi-agent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3657600" cy="822960"/>
          </a:xfrm>
          <a:prstGeom prst="roundRect">
            <a:avLst/>
          </a:prstGeom>
          <a:solidFill>
            <a:srgbClr val="F0F4F8"/>
          </a:solidFill>
          <a:ln>
            <a:solidFill>
              <a:srgbClr val="643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643C8C"/>
                </a:solidFill>
                <a:latin typeface="Calibri"/>
              </a:defRPr>
            </a:pPr>
            <a:r>
              <a:t>Feature Extraction</a:t>
            </a:r>
            <a:br/>
            <a:r>
              <a:t>(Exercise 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4231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787878"/>
                </a:solidFill>
                <a:latin typeface="Calibri"/>
              </a:defRPr>
            </a:pPr>
            <a:r>
              <a:t>--&gt;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2331720"/>
            <a:ext cx="6217920" cy="822960"/>
          </a:xfrm>
          <a:prstGeom prst="roundRect">
            <a:avLst/>
          </a:prstGeom>
          <a:solidFill>
            <a:srgbClr val="F5FAFF"/>
          </a:solidFill>
          <a:ln>
            <a:solidFill>
              <a:srgbClr val="643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0" y="2377440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C3C3C"/>
                </a:solidFill>
                <a:latin typeface="Calibri"/>
              </a:defRPr>
            </a:pPr>
            <a:r>
              <a:t>Input to RAG Lab's embedding</a:t>
            </a:r>
            <a:br/>
            <a:r>
              <a:t>and vector store pipeline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291840"/>
            <a:ext cx="3657600" cy="822960"/>
          </a:xfrm>
          <a:prstGeom prst="roundRect">
            <a:avLst/>
          </a:prstGeom>
          <a:solidFill>
            <a:srgbClr val="F0F4F8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3375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6699"/>
                </a:solidFill>
                <a:latin typeface="Calibri"/>
              </a:defRPr>
            </a:pPr>
            <a:r>
              <a:t>Prompt Engineering</a:t>
            </a:r>
            <a:br/>
            <a:r>
              <a:t>(Exercise 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3832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787878"/>
                </a:solidFill>
                <a:latin typeface="Calibri"/>
              </a:defRPr>
            </a:pPr>
            <a:r>
              <a:t>--&gt;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3291840"/>
            <a:ext cx="6217920" cy="822960"/>
          </a:xfrm>
          <a:prstGeom prst="roundRect">
            <a:avLst/>
          </a:prstGeom>
          <a:solidFill>
            <a:srgbClr val="F5FA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0" y="3337560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C3C3C"/>
                </a:solidFill>
                <a:latin typeface="Calibri"/>
              </a:defRPr>
            </a:pPr>
            <a:r>
              <a:t>Applies to agent prompts</a:t>
            </a:r>
            <a:br/>
            <a:r>
              <a:t>in Parts One and Two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51960"/>
            <a:ext cx="3657600" cy="822960"/>
          </a:xfrm>
          <a:prstGeom prst="roundRect">
            <a:avLst/>
          </a:prstGeom>
          <a:solidFill>
            <a:srgbClr val="F0F4F8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42976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3366"/>
                </a:solidFill>
                <a:latin typeface="Calibri"/>
              </a:defRPr>
            </a:pPr>
            <a:r>
              <a:t>Manual FHIR Access</a:t>
            </a:r>
            <a:br/>
            <a:r>
              <a:t>(requests library)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3434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787878"/>
                </a:solidFill>
                <a:latin typeface="Calibri"/>
              </a:defRPr>
            </a:pPr>
            <a:r>
              <a:t>--&gt;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251960"/>
            <a:ext cx="6217920" cy="822960"/>
          </a:xfrm>
          <a:prstGeom prst="roundRect">
            <a:avLst/>
          </a:prstGeom>
          <a:solidFill>
            <a:srgbClr val="F5FA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0" y="4297680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C3C3C"/>
                </a:solidFill>
                <a:latin typeface="Calibri"/>
              </a:defRPr>
            </a:pPr>
            <a:r>
              <a:t>Replaced by MCP — standardized</a:t>
            </a:r>
            <a:br/>
            <a:r>
              <a:t>LLM-to-FHIR protocol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212080"/>
            <a:ext cx="3657600" cy="822960"/>
          </a:xfrm>
          <a:prstGeom prst="roundRect">
            <a:avLst/>
          </a:prstGeom>
          <a:solidFill>
            <a:srgbClr val="F0F4F8"/>
          </a:solidFill>
          <a:ln>
            <a:solidFill>
              <a:srgbClr val="B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52578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B42828"/>
                </a:solidFill>
                <a:latin typeface="Calibri"/>
              </a:defRPr>
            </a:pPr>
            <a:r>
              <a:t>Safety Principles</a:t>
            </a:r>
            <a:br/>
            <a:r>
              <a:t>(Phase 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53035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787878"/>
                </a:solidFill>
                <a:latin typeface="Calibri"/>
              </a:defRPr>
            </a:pPr>
            <a:r>
              <a:t>--&gt;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03520" y="5212080"/>
            <a:ext cx="6217920" cy="822960"/>
          </a:xfrm>
          <a:prstGeom prst="roundRect">
            <a:avLst/>
          </a:prstGeom>
          <a:solidFill>
            <a:srgbClr val="F5FAFF"/>
          </a:solidFill>
          <a:ln>
            <a:solidFill>
              <a:srgbClr val="B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0" y="5257800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C3C3C"/>
                </a:solidFill>
                <a:latin typeface="Calibri"/>
              </a:defRPr>
            </a:pPr>
            <a:r>
              <a:t>Operationalized as least-privilege,</a:t>
            </a:r>
            <a:br/>
            <a:r>
              <a:t>validation, audit logging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003366"/>
                </a:solidFill>
                <a:latin typeface="Calibri"/>
              </a:defRPr>
            </a:pPr>
            <a:r>
              <a:t>Pattern: Learn the concept → build it manually → see it operate at scale in a production-like architecture.</a:t>
            </a:r>
          </a:p>
        </p:txBody>
      </p:sp>
      <p:grpSp>
        <p:nvGrpSpPr>
          <p:cNvPr id="32" name="Group 4">
            <a:extLst>
              <a:ext uri="{FF2B5EF4-FFF2-40B4-BE49-F238E27FC236}">
                <a16:creationId xmlns:a16="http://schemas.microsoft.com/office/drawing/2014/main" id="{BA94D0BA-9D92-4F10-B838-5F7FA48C2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45205" y="21717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33" name="Freeform 5">
              <a:extLst>
                <a:ext uri="{FF2B5EF4-FFF2-40B4-BE49-F238E27FC236}">
                  <a16:creationId xmlns:a16="http://schemas.microsoft.com/office/drawing/2014/main" id="{C0C4C398-6FB9-799B-B81C-660B485C3B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34" name="Freeform 6">
              <a:extLst>
                <a:ext uri="{FF2B5EF4-FFF2-40B4-BE49-F238E27FC236}">
                  <a16:creationId xmlns:a16="http://schemas.microsoft.com/office/drawing/2014/main" id="{256E59F1-4890-A7AD-910A-CF08090C889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3366"/>
                </a:solidFill>
                <a:latin typeface="Calibri"/>
              </a:defRPr>
            </a:pPr>
            <a:r>
              <a:t>Preview: Model Context Protocol (MCP)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1">
                <a:solidFill>
                  <a:srgbClr val="006699"/>
                </a:solidFill>
                <a:latin typeface="Calibri"/>
              </a:defRPr>
            </a:pPr>
            <a:r>
              <a:t>From manual FHIR calls to standardized LLM-to-server communication.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5303520" cy="3200400"/>
          </a:xfrm>
          <a:prstGeom prst="roundRect">
            <a:avLst/>
          </a:prstGeom>
          <a:solidFill>
            <a:srgbClr val="F0F4F8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6699"/>
                </a:solidFill>
                <a:latin typeface="Calibri"/>
              </a:defRPr>
            </a:pPr>
            <a:r>
              <a:t>Lesson 17 — Manual Mode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C3C3C"/>
                </a:solidFill>
                <a:latin typeface="Calibri"/>
              </a:defRPr>
            </a:pPr>
            <a:r>
              <a:t>You write the FHIR query code yourself:</a:t>
            </a:r>
            <a:br/>
            <a:br/>
            <a:r>
              <a:t>  You --&gt; Python code --&gt; FHIR Server</a:t>
            </a:r>
            <a:br/>
            <a:r>
              <a:t>  You --&gt; extracted data --&gt; LLM</a:t>
            </a:r>
            <a:br/>
            <a:r>
              <a:t>  You --&gt; read response --&gt; make decisions</a:t>
            </a:r>
            <a:br/>
            <a:br/>
            <a:r>
              <a:t>You are the intermediary between</a:t>
            </a:r>
            <a:br/>
            <a:r>
              <a:t>the LLM and the FHIR server.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303520" cy="3200400"/>
          </a:xfrm>
          <a:prstGeom prst="roundRect">
            <a:avLst/>
          </a:prstGeom>
          <a:solidFill>
            <a:srgbClr val="EBFAEB"/>
          </a:solidFill>
          <a:ln>
            <a:solidFill>
              <a:srgbClr val="28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28783C"/>
                </a:solidFill>
                <a:latin typeface="Calibri"/>
              </a:defRPr>
            </a:pPr>
            <a:r>
              <a:t>Parts One/Two — MCP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C3C3C"/>
                </a:solidFill>
                <a:latin typeface="Calibri"/>
              </a:defRPr>
            </a:pPr>
            <a:r>
              <a:t>The LLM connects to FHIR via MCP:</a:t>
            </a:r>
            <a:br/>
            <a:br/>
            <a:r>
              <a:t>  User --&gt; LLM --&gt; MCP Server --&gt; FHIR</a:t>
            </a:r>
            <a:br/>
            <a:r>
              <a:t>  FHIR --&gt; MCP Server --&gt; LLM --&gt; User</a:t>
            </a:r>
            <a:br/>
            <a:br/>
            <a:r>
              <a:t>MCP server exposes FHIR operations</a:t>
            </a:r>
            <a:br/>
            <a:r>
              <a:t>as tools the LLM can invoke.</a:t>
            </a:r>
            <a:br/>
            <a:r>
              <a:t>The LLM decides which tool to call.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94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3C3C3C"/>
                </a:solidFill>
                <a:latin typeface="Calibri"/>
              </a:defRPr>
            </a:pPr>
            <a:r>
              <a:t>You need "manual mode" understanding before "autonomous mode" makes sense.</a:t>
            </a:r>
            <a:br/>
            <a:r>
              <a:t>When an MCP-connected agent makes an unexpected FHIR query, you need to understand FHIR endpoints and resource types to debug it.</a:t>
            </a:r>
          </a:p>
        </p:txBody>
      </p:sp>
      <p:grpSp>
        <p:nvGrpSpPr>
          <p:cNvPr id="12" name="Group 4">
            <a:extLst>
              <a:ext uri="{FF2B5EF4-FFF2-40B4-BE49-F238E27FC236}">
                <a16:creationId xmlns:a16="http://schemas.microsoft.com/office/drawing/2014/main" id="{A9D2E7AE-65CE-30AB-6279-6EE8B7CD3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45205" y="21717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F0E23722-F52E-686B-AAF7-787E91CCD9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3BAE6F5B-426B-A3E3-64B9-A53E30579D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3366"/>
                </a:solidFill>
                <a:latin typeface="Calibri"/>
              </a:defRPr>
            </a:pPr>
            <a:r>
              <a:t>Safety as a Series-Long Theme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486400" cy="1371600"/>
          </a:xfrm>
          <a:prstGeom prst="roundRect">
            <a:avLst/>
          </a:prstGeom>
          <a:solidFill>
            <a:srgbClr val="FFF5F0"/>
          </a:solidFill>
          <a:ln w="19050">
            <a:solidFill>
              <a:srgbClr val="B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B42828"/>
                </a:solidFill>
                <a:latin typeface="Calibri"/>
              </a:defRPr>
            </a:pPr>
            <a:r>
              <a:t>Hallucination</a:t>
            </a:r>
            <a:br/>
            <a:r>
              <a:t>Mitigation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50876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C3C3C"/>
                </a:solidFill>
                <a:latin typeface="Calibri"/>
              </a:defRPr>
            </a:pPr>
            <a:r>
              <a:t>Part One: structured validation</a:t>
            </a:r>
            <a:br/>
            <a:r>
              <a:t>patterns for agent outputs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486400" cy="1371600"/>
          </a:xfrm>
          <a:prstGeom prst="roundRect">
            <a:avLst/>
          </a:prstGeom>
          <a:solidFill>
            <a:srgbClr val="FFF5F0"/>
          </a:solidFill>
          <a:ln w="19050">
            <a:solidFill>
              <a:srgbClr val="B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50876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B42828"/>
                </a:solidFill>
                <a:latin typeface="Calibri"/>
              </a:defRPr>
            </a:pPr>
            <a:r>
              <a:t>PHI Protection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150876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C3C3C"/>
                </a:solidFill>
                <a:latin typeface="Calibri"/>
              </a:defRPr>
            </a:pPr>
            <a:r>
              <a:t>Part One: least-privilege FHIR</a:t>
            </a:r>
            <a:br/>
            <a:r>
              <a:t>access scoping for agents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26080"/>
            <a:ext cx="5486400" cy="1371600"/>
          </a:xfrm>
          <a:prstGeom prst="roundRect">
            <a:avLst/>
          </a:prstGeom>
          <a:solidFill>
            <a:srgbClr val="FFF5F0"/>
          </a:solidFill>
          <a:ln w="19050">
            <a:solidFill>
              <a:srgbClr val="B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0632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B42828"/>
                </a:solidFill>
                <a:latin typeface="Calibri"/>
              </a:defRPr>
            </a:pPr>
            <a:r>
              <a:t>Human-in-the-Loop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06324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C3C3C"/>
                </a:solidFill>
                <a:latin typeface="Calibri"/>
              </a:defRPr>
            </a:pPr>
            <a:r>
              <a:t>Part Two: human review checkpoints</a:t>
            </a:r>
            <a:br/>
            <a:r>
              <a:t>in multi-agent pipelines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926080"/>
            <a:ext cx="5486400" cy="1371600"/>
          </a:xfrm>
          <a:prstGeom prst="roundRect">
            <a:avLst/>
          </a:prstGeom>
          <a:solidFill>
            <a:srgbClr val="FFF5F0"/>
          </a:solidFill>
          <a:ln w="19050">
            <a:solidFill>
              <a:srgbClr val="B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30632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B42828"/>
                </a:solidFill>
                <a:latin typeface="Calibri"/>
              </a:defRPr>
            </a:pPr>
            <a:r>
              <a:t>Output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306324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C3C3C"/>
                </a:solidFill>
                <a:latin typeface="Calibri"/>
              </a:defRPr>
            </a:pPr>
            <a:r>
              <a:t>Part One: JSON schema validation</a:t>
            </a:r>
            <a:br/>
            <a:r>
              <a:t>of agent tool calls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80560"/>
            <a:ext cx="5486400" cy="1371600"/>
          </a:xfrm>
          <a:prstGeom prst="roundRect">
            <a:avLst/>
          </a:prstGeom>
          <a:solidFill>
            <a:srgbClr val="FFF5F0"/>
          </a:solidFill>
          <a:ln w="19050">
            <a:solidFill>
              <a:srgbClr val="B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46177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B42828"/>
                </a:solidFill>
                <a:latin typeface="Calibri"/>
              </a:defRPr>
            </a:pPr>
            <a:r>
              <a:t>Audit &amp;</a:t>
            </a:r>
            <a:br/>
            <a:r>
              <a:t>Accountability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46177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C3C3C"/>
                </a:solidFill>
                <a:latin typeface="Calibri"/>
              </a:defRPr>
            </a:pPr>
            <a:r>
              <a:t>Part One: audit logging of all</a:t>
            </a:r>
            <a:br/>
            <a:r>
              <a:t>agent actions and FHIR queries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480560"/>
            <a:ext cx="5486400" cy="1371600"/>
          </a:xfrm>
          <a:prstGeom prst="roundRect">
            <a:avLst/>
          </a:prstGeom>
          <a:solidFill>
            <a:srgbClr val="FFF5F0"/>
          </a:solidFill>
          <a:ln w="19050">
            <a:solidFill>
              <a:srgbClr val="B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46177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B42828"/>
                </a:solidFill>
                <a:latin typeface="Calibri"/>
              </a:defRPr>
            </a:pPr>
            <a:r>
              <a:t>Grounding with</a:t>
            </a:r>
            <a:br/>
            <a:r>
              <a:t>Source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46177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C3C3C"/>
                </a:solidFill>
                <a:latin typeface="Calibri"/>
              </a:defRPr>
            </a:pPr>
            <a:r>
              <a:t>RAG Lab: retrieval-augmented</a:t>
            </a:r>
            <a:br/>
            <a:r>
              <a:t>generation anchors output to sources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126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1">
                <a:solidFill>
                  <a:srgbClr val="003366"/>
                </a:solidFill>
                <a:latin typeface="Calibri"/>
              </a:defRPr>
            </a:pPr>
            <a:r>
              <a:t>Safety in healthcare AI is not about avoiding AI — it's about using it with the same rigor you apply to any clinical tool.</a:t>
            </a:r>
          </a:p>
        </p:txBody>
      </p:sp>
      <p:grpSp>
        <p:nvGrpSpPr>
          <p:cNvPr id="23" name="Group 4">
            <a:extLst>
              <a:ext uri="{FF2B5EF4-FFF2-40B4-BE49-F238E27FC236}">
                <a16:creationId xmlns:a16="http://schemas.microsoft.com/office/drawing/2014/main" id="{2FF4C677-F952-6E50-0093-6D47CD6530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45205" y="21717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164BF9AF-71AD-4BA6-AF30-4000BDFF93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737D4867-DC1A-8925-17FF-E837CC72D7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3366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LLMs are powerful tools for healthcare — AND they require responsible use</a:t>
            </a:r>
          </a:p>
          <a:p>
            <a:pPr>
              <a:spcAft>
                <a:spcPts val="16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Raw FHIR bundles don't fit in context windows — structured extraction solves this</a:t>
            </a:r>
          </a:p>
          <a:p>
            <a:pPr>
              <a:spcAft>
                <a:spcPts val="16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Prompt engineering is a practical skill that directly affects output quality and safety</a:t>
            </a:r>
          </a:p>
          <a:p>
            <a:pPr>
              <a:spcAft>
                <a:spcPts val="16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The "golden rule": never trust LLM output without validating against source data</a:t>
            </a:r>
          </a:p>
          <a:p>
            <a:pPr>
              <a:spcAft>
                <a:spcPts val="16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Local models protect PHI — cloud models require BAAs and careful data handling</a:t>
            </a:r>
          </a:p>
          <a:p>
            <a:pPr>
              <a:spcAft>
                <a:spcPts val="16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Everything you learned today reappears in Parts One, Two, and the RAG Lab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E35D900-294E-0AB6-141E-D1BA49EBB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45205" y="21717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173AC67-C844-FCDF-5C8D-6D93112D02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192C98C0-0F4E-4ADD-F010-4BEAFDA9DB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8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Thank You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C8DCF0"/>
                </a:solidFill>
                <a:latin typeface="Calibri"/>
              </a:defRPr>
            </a:pPr>
            <a:r>
              <a:rPr dirty="0"/>
              <a:t>Using LLMs with FHIR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1">
                <a:solidFill>
                  <a:srgbClr val="B4C8DC"/>
                </a:solidFill>
                <a:latin typeface="Calibri"/>
              </a:defRPr>
            </a:pPr>
            <a:r>
              <a:t>Next in the series: Agentic AI — Part One</a:t>
            </a:r>
            <a:br/>
            <a:r>
              <a:t>Agent architecture, MCP, tool-use, and structured validation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85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CDA56B-55DB-5A35-5561-36798759F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04FCF2-A8F6-2336-0ACA-8316A0F50B3B}"/>
              </a:ext>
            </a:extLst>
          </p:cNvPr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A8062D-3DF8-DE71-2BFB-41B02A51F9A8}"/>
              </a:ext>
            </a:extLst>
          </p:cNvPr>
          <p:cNvSpPr txBox="1"/>
          <p:nvPr/>
        </p:nvSpPr>
        <p:spPr>
          <a:xfrm>
            <a:off x="914400" y="3474720"/>
            <a:ext cx="10058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C8DCF0"/>
                </a:solidFill>
                <a:latin typeface="Calibri"/>
              </a:defRPr>
            </a:pPr>
            <a:r>
              <a:rPr dirty="0"/>
              <a:t>Using LLMs with FHIR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C8E59F-E391-353B-6411-8C6AEDBC2AB2}"/>
              </a:ext>
            </a:extLst>
          </p:cNvPr>
          <p:cNvSpPr txBox="1"/>
          <p:nvPr/>
        </p:nvSpPr>
        <p:spPr>
          <a:xfrm>
            <a:off x="914400" y="4572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1">
                <a:solidFill>
                  <a:srgbClr val="B4C8DC"/>
                </a:solidFill>
                <a:latin typeface="Calibri"/>
              </a:defRPr>
            </a:pPr>
            <a:r>
              <a:t>Next in the series: Agentic AI — Part One</a:t>
            </a:r>
            <a:br/>
            <a:r>
              <a:t>Agent architecture, MCP, tool-use, and structured validation</a:t>
            </a:r>
          </a:p>
        </p:txBody>
      </p:sp>
    </p:spTree>
    <p:extLst>
      <p:ext uri="{BB962C8B-B14F-4D97-AF65-F5344CB8AC3E}">
        <p14:creationId xmlns:p14="http://schemas.microsoft.com/office/powerpoint/2010/main" val="10257346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450,12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1068</TotalTime>
  <Words>3896</Words>
  <Application>Microsoft Macintosh PowerPoint</Application>
  <PresentationFormat>Widescreen</PresentationFormat>
  <Paragraphs>341</Paragraphs>
  <Slides>34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Aptos</vt:lpstr>
      <vt:lpstr>Arial</vt:lpstr>
      <vt:lpstr>Calibri</vt:lpstr>
      <vt:lpstr>Verdana</vt:lpstr>
      <vt:lpstr>Office Theme</vt:lpstr>
      <vt:lpstr>  Using Large Language Models (LLMs) with FHIR – Concepts, Exercises &amp; Safety Foundations  Patrick W. Jamieson, M.D. Technical Product Manager  Russ Leftwich, M.D. Senior Clinical Advisor, Interoperability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Patrick Jamieson</cp:lastModifiedBy>
  <cp:revision>7</cp:revision>
  <dcterms:created xsi:type="dcterms:W3CDTF">2013-01-27T09:14:16Z</dcterms:created>
  <dcterms:modified xsi:type="dcterms:W3CDTF">2026-10-10T10:37:38Z</dcterms:modified>
  <cp:category/>
</cp:coreProperties>
</file>