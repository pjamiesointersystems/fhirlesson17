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6"/>
  </p:notesMasterIdLst>
  <p:sldIdLst>
    <p:sldId id="350" r:id="rId2"/>
    <p:sldId id="2147482468" r:id="rId3"/>
    <p:sldId id="2147482469" r:id="rId4"/>
    <p:sldId id="2147482470" r:id="rId5"/>
    <p:sldId id="2147482471" r:id="rId6"/>
    <p:sldId id="2147482472" r:id="rId7"/>
    <p:sldId id="2147482473" r:id="rId8"/>
    <p:sldId id="2147482485" r:id="rId9"/>
    <p:sldId id="2147482486" r:id="rId10"/>
    <p:sldId id="2147482474" r:id="rId11"/>
    <p:sldId id="2147482475" r:id="rId12"/>
    <p:sldId id="2147482476" r:id="rId13"/>
    <p:sldId id="2147482477" r:id="rId14"/>
    <p:sldId id="2147482478" r:id="rId15"/>
    <p:sldId id="2147482479" r:id="rId16"/>
    <p:sldId id="2147482480" r:id="rId17"/>
    <p:sldId id="2147482481" r:id="rId18"/>
    <p:sldId id="2147482482" r:id="rId19"/>
    <p:sldId id="2147482461" r:id="rId20"/>
    <p:sldId id="2147482460" r:id="rId21"/>
    <p:sldId id="2147482483" r:id="rId22"/>
    <p:sldId id="2147482484" r:id="rId23"/>
    <p:sldId id="2147482487" r:id="rId24"/>
    <p:sldId id="2147482488" r:id="rId25"/>
    <p:sldId id="2147482494" r:id="rId26"/>
    <p:sldId id="2147482495" r:id="rId27"/>
    <p:sldId id="2147482496" r:id="rId28"/>
    <p:sldId id="2147482489" r:id="rId29"/>
    <p:sldId id="2147482490" r:id="rId30"/>
    <p:sldId id="2147482491" r:id="rId31"/>
    <p:sldId id="2147482492" r:id="rId32"/>
    <p:sldId id="2147482493" r:id="rId33"/>
    <p:sldId id="2147482497" r:id="rId34"/>
    <p:sldId id="2147482498" r:id="rId35"/>
    <p:sldId id="2147482500" r:id="rId36"/>
    <p:sldId id="2147482499" r:id="rId37"/>
    <p:sldId id="2147482502" r:id="rId38"/>
    <p:sldId id="2147482462" r:id="rId39"/>
    <p:sldId id="2147482463" r:id="rId40"/>
    <p:sldId id="2147482464" r:id="rId41"/>
    <p:sldId id="2147482466" r:id="rId42"/>
    <p:sldId id="2147482467" r:id="rId43"/>
    <p:sldId id="2147482465" r:id="rId44"/>
    <p:sldId id="214748245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762"/>
  </p:normalViewPr>
  <p:slideViewPr>
    <p:cSldViewPr snapToGrid="0">
      <p:cViewPr varScale="1">
        <p:scale>
          <a:sx n="158" d="100"/>
          <a:sy n="158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696E1-8A59-5F45-9650-F5A97197C8C9}" type="datetimeFigureOut">
              <a:rPr lang="en-US" smtClean="0"/>
              <a:t>5/23/25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C3A29-7A34-324D-B8D6-8ED70F9A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A23D1-645A-47C4-AAAF-6F2DE82A7D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11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6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EF34D13-BC3E-86EA-9D4F-856E5490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3513465 w 12192000"/>
              <a:gd name="connsiteY4" fmla="*/ 6858001 h 6858001"/>
              <a:gd name="connsiteX5" fmla="*/ 0 w 12192000"/>
              <a:gd name="connsiteY5" fmla="*/ 51075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3513465" y="6858001"/>
                </a:lnTo>
                <a:lnTo>
                  <a:pt x="0" y="5107593"/>
                </a:lnTo>
                <a:close/>
              </a:path>
            </a:pathLst>
          </a:custGeom>
          <a:gradFill>
            <a:gsLst>
              <a:gs pos="30000">
                <a:schemeClr val="bg2">
                  <a:lumMod val="10000"/>
                  <a:alpha val="0"/>
                </a:schemeClr>
              </a:gs>
              <a:gs pos="100000">
                <a:schemeClr val="tx2">
                  <a:lumMod val="10000"/>
                  <a:alpha val="35000"/>
                </a:schemeClr>
              </a:gs>
              <a:gs pos="0">
                <a:schemeClr val="bg2">
                  <a:lumMod val="10000"/>
                  <a:alpha val="0"/>
                </a:schemeClr>
              </a:gs>
              <a:gs pos="70000">
                <a:schemeClr val="bg2">
                  <a:lumMod val="10000"/>
                  <a:alpha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/>
            <a:endParaRPr lang="en-US" noProof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06B902F-16EC-BD3F-C2B0-EDF7B1D4A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217074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7E1C6CE2-5FA1-930F-518C-E8962B562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-147220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FFED81-82B3-0F39-1B70-0286BC448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-126013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Graphic 10">
            <a:extLst>
              <a:ext uri="{FF2B5EF4-FFF2-40B4-BE49-F238E27FC236}">
                <a16:creationId xmlns:a16="http://schemas.microsoft.com/office/drawing/2014/main" id="{129C23D1-F20D-428E-17F6-8BF23C19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40854" y="-10480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2717CF-8B90-65F9-DB2B-9474078F5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09354" y="-835997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C5B4E2">
                  <a:lumMod val="75000"/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49B57647-9E99-1BD2-0328-42F2B3BE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1913" y="-6239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5000">
                  <a:srgbClr val="C5B4E2"/>
                </a:gs>
                <a:gs pos="3300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AC99965-25BD-CBAA-FC4D-F4F62E4C9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8032" y="-41186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821A11DD-4151-5B32-18DB-FC4A4A096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62972" y="-1997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96B326-0E44-36CA-5B5E-F85C34E36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6709" y="12273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0CA1C9E4-3B4D-A4CF-B041-6D864C7A6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1111" y="22434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3C2D26D-B1F0-CDC1-8642-009998811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239682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0" name="Graphic 10">
            <a:extLst>
              <a:ext uri="{FF2B5EF4-FFF2-40B4-BE49-F238E27FC236}">
                <a16:creationId xmlns:a16="http://schemas.microsoft.com/office/drawing/2014/main" id="{E2C97942-CEAB-B2F1-3625-6F9F09D14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56206" y="26088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7DF1CEA-7E83-84E1-F96B-E5D038570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11735" y="282096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4A4823D3-ED44-05BC-A945-98A0F20AE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67264" y="30330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EAEE620-70FB-E19F-EB40-6A81E623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2793" y="324509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F2EDAAE7-C03C-6F5A-1743-0167B19C2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78323" y="34571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FEEE33B-2152-E922-1E6C-6267D69AF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33852" y="366923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7" name="Graphic 10">
            <a:extLst>
              <a:ext uri="{FF2B5EF4-FFF2-40B4-BE49-F238E27FC236}">
                <a16:creationId xmlns:a16="http://schemas.microsoft.com/office/drawing/2014/main" id="{7387A476-7547-353E-37A3-2C00AEF0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9382" y="388129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9C6F9AD-12FC-D7EB-B9B0-D28E8569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1991" y="409688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0D47CF11-5798-6A08-DC19-3292A6F9E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00441" y="430543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C579C1B-711E-EE0E-B282-3E5464BEC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5995" y="451750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8697D1A3-DD74-D19A-14F1-24272475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1500" y="472956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07A79E4-9519-4E03-F4ED-35412820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74548" y="494163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Graphic 10">
            <a:extLst>
              <a:ext uri="{FF2B5EF4-FFF2-40B4-BE49-F238E27FC236}">
                <a16:creationId xmlns:a16="http://schemas.microsoft.com/office/drawing/2014/main" id="{C7AEA665-3421-363B-9EE4-BCE6B2FED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22559" y="515370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C5B4E2">
                    <a:lumMod val="5000"/>
                    <a:lumOff val="95000"/>
                  </a:srgbClr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2AF25AB-2E60-09C3-5621-27D775DA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8088" y="536577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C6069EAA-0851-B7F6-6662-71EFBC6E9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333617" y="557783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937CA5C-1A69-7886-E26E-D35E41C2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9146" y="5789905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50000"/>
                  <a:alpha val="90000"/>
                </a:srgbClr>
              </a:gs>
              <a:gs pos="84000">
                <a:srgbClr val="92C0E9">
                  <a:lumMod val="75000"/>
                  <a:alpha val="90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D7C75355-3FCF-9A19-33B5-DB7B4CFC4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44676" y="600197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64912BB-A58F-4ED2-43CB-3EF92A7DB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07285" y="6217553"/>
            <a:ext cx="677162" cy="2513238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2AD040A3-CAF2-46CD-85F0-0F7F81D08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955735" y="642610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000" baseline="0"/>
            </a:lvl1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44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27681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36909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25288 -0.1546136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7187 -0.1855362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90365 -0.2164589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4217 -0.2473815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55441 -0.2783042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31247 -0.3092268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1471 -0.3401493 E" pathEditMode="relative" ptsTypes="">
                                      <p:cBhvr>
                                        <p:cTn id="129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583333E-02 E" pathEditMode="relative" ptsTypes="">
                                      <p:cBhvr>
                                        <p:cTn id="131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87996 E" pathEditMode="relative" ptsTypes="">
                                      <p:cBhvr>
                                        <p:cTn id="133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2697 -0.1597222 E" pathEditMode="relative" ptsTypes="">
                                      <p:cBhvr>
                                        <p:cTn id="135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5235 -0.1906448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77774 -0.2215675 E" pathEditMode="relative" ptsTypes="">
                                      <p:cBhvr>
                                        <p:cTn id="139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0312 -0.2524902 E" pathEditMode="relative" ptsTypes="">
                                      <p:cBhvr>
                                        <p:cTn id="141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4285 -0.2834128 E" pathEditMode="relative" ptsTypes="">
                                      <p:cBhvr>
                                        <p:cTn id="143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25388 -0.3143355 E" pathEditMode="relative" ptsTypes="">
                                      <p:cBhvr>
                                        <p:cTn id="145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07927 -0.34525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84657 -0.3766932 E" pathEditMode="relative" ptsTypes="">
                                      <p:cBhvr>
                                        <p:cTn id="149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73003 -0.4071032 E" pathEditMode="relative" ptsTypes="">
                                      <p:cBhvr>
                                        <p:cTn id="15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47318 -0.4380259 E" pathEditMode="relative" ptsTypes="">
                                      <p:cBhvr>
                                        <p:cTn id="153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238079 -0.4689485 E" pathEditMode="relative" ptsTypes="">
                                      <p:cBhvr>
                                        <p:cTn id="155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51445 -0.4998713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803155 -0.5307938 E" pathEditMode="relative" ptsTypes="">
                                      <p:cBhvr>
                                        <p:cTn id="159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85694 -0.5617166 E" pathEditMode="relative" ptsTypes="">
                                      <p:cBhvr>
                                        <p:cTn id="161" dur="15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68233 -0.5926391 E" pathEditMode="relative" ptsTypes="">
                                      <p:cBhvr>
                                        <p:cTn id="163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650771 -0.6235618 E" pathEditMode="relative" ptsTypes="">
                                      <p:cBhvr>
                                        <p:cTn id="165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933309 -0.6544845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215847 -0.685407 E" pathEditMode="relative" ptsTypes="">
                                      <p:cBhvr>
                                        <p:cTn id="169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498385 -0.7163297 E" pathEditMode="relative" ptsTypes="">
                                      <p:cBhvr>
                                        <p:cTn id="171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23" grpId="1" animBg="1"/>
      <p:bldP spid="28" grpId="0" animBg="1"/>
      <p:bldP spid="28" grpId="1" animBg="1"/>
      <p:bldP spid="9" grpId="0" animBg="1"/>
      <p:bldP spid="9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90E-C437-B160-DB42-AA6E08BC3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00BE-F723-E229-99A1-0212A69DEA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49413"/>
            <a:ext cx="110998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E7DC-B27D-C64A-6BC6-E9CFD57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B8C1-DF1F-1201-36FB-343DCD5B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9C0-2A34-AC36-769C-6DE99F35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DF02C81-A083-F218-CF77-BE161A7F8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143000"/>
            <a:ext cx="11099800" cy="381000"/>
          </a:xfrm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 smtClean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add subtitle, use font size 18,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69388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1" y="1524001"/>
            <a:ext cx="8305800" cy="2317750"/>
          </a:xfrm>
        </p:spPr>
        <p:txBody>
          <a:bodyPr bIns="144000" anchor="b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44,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3101" y="3967163"/>
            <a:ext cx="8305800" cy="1222375"/>
          </a:xfrm>
        </p:spPr>
        <p:txBody>
          <a:bodyPr lIns="0" tIns="144000" rIns="0" bIns="0" anchor="t">
            <a:normAutofit/>
          </a:bodyPr>
          <a:lstStyle>
            <a:lvl1pPr marL="0" indent="0" algn="ctr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220210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195160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170109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145059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20009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-94959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24526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270310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295360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-69909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A73426FB-FD72-BC03-F20F-E76F1364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560" y="6913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0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-4363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99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03268 0.0382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1.85185E-6 L -0.06536 0.07477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0.09804 0.11135 " pathEditMode="relative" rAng="0" ptsTypes="AA">
                                      <p:cBhvr>
                                        <p:cTn id="4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13072 0.14792 " pathEditMode="relative" rAng="0" ptsTypes="AA">
                                      <p:cBhvr>
                                        <p:cTn id="4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16341 0.18449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9609 0.22084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22864 0.25741 " pathEditMode="relative" rAng="0" ptsTypes="AA">
                                      <p:cBhvr>
                                        <p:cTn id="51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-0.26132 0.29398 " pathEditMode="relative" rAng="0" ptsTypes="AA">
                                      <p:cBhvr>
                                        <p:cTn id="53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29401 0.3305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32669 0.36713 " pathEditMode="relative" rAng="0" ptsTypes="AA">
                                      <p:cBhvr>
                                        <p:cTn id="57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3.267263E-02 3.652592E-02 E" pathEditMode="relative" ptsTypes="">
                                      <p:cBhvr>
                                        <p:cTn id="89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91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93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95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97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99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01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03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940537 0.3287418 E" pathEditMode="relative" ptsTypes="">
                                      <p:cBhvr>
                                        <p:cTn id="105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3.7037E-6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2.59259E-6 " pathEditMode="relative" rAng="0" ptsTypes="AA">
                                      <p:cBhvr>
                                        <p:cTn id="1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5" grpId="0" animBg="1"/>
      <p:bldP spid="120" grpId="0" animBg="1"/>
      <p:bldP spid="12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0AC0-4C91-09D8-4EB7-2339802F7B2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AA6C-79DD-00E8-6E3B-5771F9BB6E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D544-760D-F8F7-B34C-0EFE2025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3E48D-B146-F645-8CC2-E41A6C6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C6A6-CBCB-F14D-6DDF-15206BB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869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BF71-CF3E-230E-BA48-B91D64744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DA8-A6BF-4AB8-86CF-BDB3A0A7C5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2F4B-E795-2C6E-B791-FA285AAACF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1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03344-E744-22A3-9A75-3B9F08F90E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595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71797-9A36-AAF5-12A9-BFE7F5200ED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595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E33A-1CC7-BF0C-166A-266148BD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BEDD7-557F-FE4D-6955-35BD859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7413A-A7A5-542D-649B-72ADBBD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455070D-BED4-EC0F-FBA9-F4C41F2B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9619A86-78F8-F132-0B47-F30E5C047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E2CEA68-50AE-F9C8-9C83-42DD30430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61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2385B9-B5B0-5372-0604-E5B72C9B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547D4E-D7A0-D018-C320-DD98F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1FAD0-7A6E-F4EC-802B-0E2095D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4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1CF2424-3037-4B4E-D498-DACD55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243564-9F90-9ECE-2686-717877E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D5816A-A563-F4DA-76F8-5E4E362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779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693B-C87B-579E-9804-888003BD2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5236C-6934-9C66-504A-8F0B460FD0D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19E9-01B5-8DB8-17BD-128C735F7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2463-E3CA-957F-6112-5C9C3E83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9AB0-EAEB-3767-BC49-60F999D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D070-2586-23C5-26E6-E3FA731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C8E8BFF-8BC3-159C-CB63-CCB6BA27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F6C3600-11E2-A516-9631-F9CE08E70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FCADADE-630C-988E-4352-B1E904FD30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51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869D-DF7B-2703-9E04-157257D37C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DC0CC-6F94-0E17-FE23-A3FBB5C118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9500" y="1524000"/>
            <a:ext cx="5486400" cy="4762500"/>
          </a:xfr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900000" rIns="36000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75E52-8DB8-6048-9901-D16A5CA4E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750AE-50CF-50BA-B5C8-BA8ED97E6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8FF9FA-D3C7-040B-F613-A409EE3FA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60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ture)"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DDE2CD5-04AF-E44A-3D47-A38FBFFC37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11" name="Title 67">
            <a:extLst>
              <a:ext uri="{FF2B5EF4-FFF2-40B4-BE49-F238E27FC236}">
                <a16:creationId xmlns:a16="http://schemas.microsoft.com/office/drawing/2014/main" id="{0C3EB450-B833-689E-3131-6F56B67DB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6275614" cy="231775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E971615-77E4-E062-C4A0-A9F503D4AE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100" y="3967163"/>
            <a:ext cx="6275615" cy="122237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20,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2A3A59-64B7-A01E-ABEC-B1D35CF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90334" y="368300"/>
            <a:ext cx="3055566" cy="6588760"/>
          </a:xfrm>
          <a:custGeom>
            <a:avLst/>
            <a:gdLst>
              <a:gd name="connsiteX0" fmla="*/ 0 w 3055566"/>
              <a:gd name="connsiteY0" fmla="*/ 0 h 6588760"/>
              <a:gd name="connsiteX1" fmla="*/ 3055566 w 3055566"/>
              <a:gd name="connsiteY1" fmla="*/ 1516182 h 6588760"/>
              <a:gd name="connsiteX2" fmla="*/ 3055566 w 3055566"/>
              <a:gd name="connsiteY2" fmla="*/ 6588760 h 6588760"/>
              <a:gd name="connsiteX3" fmla="*/ 0 w 3055566"/>
              <a:gd name="connsiteY3" fmla="*/ 6588760 h 6588760"/>
              <a:gd name="connsiteX4" fmla="*/ 0 w 3055566"/>
              <a:gd name="connsiteY4" fmla="*/ 6482134 h 6588760"/>
              <a:gd name="connsiteX5" fmla="*/ 0 w 3055566"/>
              <a:gd name="connsiteY5" fmla="*/ 6367834 h 6588760"/>
              <a:gd name="connsiteX6" fmla="*/ 0 w 3055566"/>
              <a:gd name="connsiteY6" fmla="*/ 5560477 h 6588760"/>
              <a:gd name="connsiteX7" fmla="*/ 0 w 3055566"/>
              <a:gd name="connsiteY7" fmla="*/ 5440734 h 6588760"/>
              <a:gd name="connsiteX8" fmla="*/ 0 w 3055566"/>
              <a:gd name="connsiteY8" fmla="*/ 5286839 h 6588760"/>
              <a:gd name="connsiteX9" fmla="*/ 0 w 3055566"/>
              <a:gd name="connsiteY9" fmla="*/ 3942134 h 6588760"/>
              <a:gd name="connsiteX10" fmla="*/ 0 w 3055566"/>
              <a:gd name="connsiteY10" fmla="*/ 3934197 h 6588760"/>
              <a:gd name="connsiteX11" fmla="*/ 0 w 3055566"/>
              <a:gd name="connsiteY11" fmla="*/ 2978626 h 6588760"/>
              <a:gd name="connsiteX12" fmla="*/ 0 w 3055566"/>
              <a:gd name="connsiteY12" fmla="*/ 1772021 h 6588760"/>
              <a:gd name="connsiteX13" fmla="*/ 0 w 3055566"/>
              <a:gd name="connsiteY13" fmla="*/ 995734 h 658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566" h="6588760">
                <a:moveTo>
                  <a:pt x="0" y="0"/>
                </a:moveTo>
                <a:lnTo>
                  <a:pt x="3055566" y="1516182"/>
                </a:lnTo>
                <a:lnTo>
                  <a:pt x="3055566" y="6588760"/>
                </a:lnTo>
                <a:lnTo>
                  <a:pt x="0" y="6588760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00000">
                  <a:schemeClr val="accent2"/>
                </a:gs>
                <a:gs pos="1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EC0FEE0-FFFF-FC07-EBB9-CDBB1304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16267" y="368300"/>
            <a:ext cx="3292930" cy="6645419"/>
          </a:xfrm>
          <a:custGeom>
            <a:avLst/>
            <a:gdLst>
              <a:gd name="connsiteX0" fmla="*/ 0 w 3292930"/>
              <a:gd name="connsiteY0" fmla="*/ 0 h 6645419"/>
              <a:gd name="connsiteX1" fmla="*/ 3292930 w 3292930"/>
              <a:gd name="connsiteY1" fmla="*/ 1633963 h 6645419"/>
              <a:gd name="connsiteX2" fmla="*/ 3292930 w 3292930"/>
              <a:gd name="connsiteY2" fmla="*/ 6645419 h 6645419"/>
              <a:gd name="connsiteX3" fmla="*/ 0 w 3292930"/>
              <a:gd name="connsiteY3" fmla="*/ 6645419 h 6645419"/>
              <a:gd name="connsiteX4" fmla="*/ 0 w 3292930"/>
              <a:gd name="connsiteY4" fmla="*/ 6482134 h 6645419"/>
              <a:gd name="connsiteX5" fmla="*/ 0 w 3292930"/>
              <a:gd name="connsiteY5" fmla="*/ 6367834 h 6645419"/>
              <a:gd name="connsiteX6" fmla="*/ 0 w 3292930"/>
              <a:gd name="connsiteY6" fmla="*/ 5560477 h 6645419"/>
              <a:gd name="connsiteX7" fmla="*/ 0 w 3292930"/>
              <a:gd name="connsiteY7" fmla="*/ 5440734 h 6645419"/>
              <a:gd name="connsiteX8" fmla="*/ 0 w 3292930"/>
              <a:gd name="connsiteY8" fmla="*/ 5286839 h 6645419"/>
              <a:gd name="connsiteX9" fmla="*/ 0 w 3292930"/>
              <a:gd name="connsiteY9" fmla="*/ 3942134 h 6645419"/>
              <a:gd name="connsiteX10" fmla="*/ 0 w 3292930"/>
              <a:gd name="connsiteY10" fmla="*/ 3934197 h 6645419"/>
              <a:gd name="connsiteX11" fmla="*/ 0 w 3292930"/>
              <a:gd name="connsiteY11" fmla="*/ 2978626 h 6645419"/>
              <a:gd name="connsiteX12" fmla="*/ 0 w 3292930"/>
              <a:gd name="connsiteY12" fmla="*/ 1772021 h 6645419"/>
              <a:gd name="connsiteX13" fmla="*/ 0 w 3292930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92930" h="6645419">
                <a:moveTo>
                  <a:pt x="0" y="0"/>
                </a:moveTo>
                <a:lnTo>
                  <a:pt x="3292930" y="1633963"/>
                </a:lnTo>
                <a:lnTo>
                  <a:pt x="3292930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75000"/>
                </a:schemeClr>
              </a:gs>
              <a:gs pos="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0715C5-C9DC-DB57-3B95-04D1AE8A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28136" y="1143000"/>
            <a:ext cx="635184" cy="1928579"/>
          </a:xfrm>
          <a:custGeom>
            <a:avLst/>
            <a:gdLst>
              <a:gd name="connsiteX0" fmla="*/ 0 w 712819"/>
              <a:gd name="connsiteY0" fmla="*/ 0 h 2164300"/>
              <a:gd name="connsiteX1" fmla="*/ 712819 w 712819"/>
              <a:gd name="connsiteY1" fmla="*/ 353704 h 2164300"/>
              <a:gd name="connsiteX2" fmla="*/ 712819 w 712819"/>
              <a:gd name="connsiteY2" fmla="*/ 360048 h 2164300"/>
              <a:gd name="connsiteX3" fmla="*/ 712819 w 712819"/>
              <a:gd name="connsiteY3" fmla="*/ 897076 h 2164300"/>
              <a:gd name="connsiteX4" fmla="*/ 712819 w 712819"/>
              <a:gd name="connsiteY4" fmla="*/ 1620928 h 2164300"/>
              <a:gd name="connsiteX5" fmla="*/ 712819 w 712819"/>
              <a:gd name="connsiteY5" fmla="*/ 2157956 h 2164300"/>
              <a:gd name="connsiteX6" fmla="*/ 712819 w 712819"/>
              <a:gd name="connsiteY6" fmla="*/ 2164300 h 2164300"/>
              <a:gd name="connsiteX7" fmla="*/ 0 w 712819"/>
              <a:gd name="connsiteY7" fmla="*/ 1810596 h 2164300"/>
              <a:gd name="connsiteX8" fmla="*/ 0 w 712819"/>
              <a:gd name="connsiteY8" fmla="*/ 1804252 h 2164300"/>
              <a:gd name="connsiteX9" fmla="*/ 0 w 712819"/>
              <a:gd name="connsiteY9" fmla="*/ 1267224 h 2164300"/>
              <a:gd name="connsiteX10" fmla="*/ 0 w 712819"/>
              <a:gd name="connsiteY10" fmla="*/ 543372 h 2164300"/>
              <a:gd name="connsiteX11" fmla="*/ 0 w 712819"/>
              <a:gd name="connsiteY11" fmla="*/ 6344 h 216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12819" h="2164300">
                <a:moveTo>
                  <a:pt x="0" y="0"/>
                </a:moveTo>
                <a:lnTo>
                  <a:pt x="712819" y="353704"/>
                </a:lnTo>
                <a:lnTo>
                  <a:pt x="712819" y="360048"/>
                </a:lnTo>
                <a:lnTo>
                  <a:pt x="712819" y="897076"/>
                </a:lnTo>
                <a:lnTo>
                  <a:pt x="712819" y="1620928"/>
                </a:lnTo>
                <a:lnTo>
                  <a:pt x="712819" y="2157956"/>
                </a:lnTo>
                <a:lnTo>
                  <a:pt x="712819" y="2164300"/>
                </a:lnTo>
                <a:lnTo>
                  <a:pt x="0" y="1810596"/>
                </a:lnTo>
                <a:lnTo>
                  <a:pt x="0" y="1804252"/>
                </a:lnTo>
                <a:lnTo>
                  <a:pt x="0" y="1267224"/>
                </a:lnTo>
                <a:lnTo>
                  <a:pt x="0" y="543372"/>
                </a:lnTo>
                <a:lnTo>
                  <a:pt x="0" y="634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B502E4A-CB25-56F4-4122-BAB1DF3AE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42200" y="355600"/>
            <a:ext cx="3540058" cy="6645419"/>
          </a:xfrm>
          <a:custGeom>
            <a:avLst/>
            <a:gdLst>
              <a:gd name="connsiteX0" fmla="*/ 0 w 3540058"/>
              <a:gd name="connsiteY0" fmla="*/ 0 h 6645419"/>
              <a:gd name="connsiteX1" fmla="*/ 3540058 w 3540058"/>
              <a:gd name="connsiteY1" fmla="*/ 1756589 h 6645419"/>
              <a:gd name="connsiteX2" fmla="*/ 3540058 w 3540058"/>
              <a:gd name="connsiteY2" fmla="*/ 6645419 h 6645419"/>
              <a:gd name="connsiteX3" fmla="*/ 0 w 3540058"/>
              <a:gd name="connsiteY3" fmla="*/ 6645419 h 6645419"/>
              <a:gd name="connsiteX4" fmla="*/ 0 w 3540058"/>
              <a:gd name="connsiteY4" fmla="*/ 6482134 h 6645419"/>
              <a:gd name="connsiteX5" fmla="*/ 0 w 3540058"/>
              <a:gd name="connsiteY5" fmla="*/ 6367834 h 6645419"/>
              <a:gd name="connsiteX6" fmla="*/ 0 w 3540058"/>
              <a:gd name="connsiteY6" fmla="*/ 5560477 h 6645419"/>
              <a:gd name="connsiteX7" fmla="*/ 0 w 3540058"/>
              <a:gd name="connsiteY7" fmla="*/ 5440734 h 6645419"/>
              <a:gd name="connsiteX8" fmla="*/ 0 w 3540058"/>
              <a:gd name="connsiteY8" fmla="*/ 5286839 h 6645419"/>
              <a:gd name="connsiteX9" fmla="*/ 0 w 3540058"/>
              <a:gd name="connsiteY9" fmla="*/ 3942134 h 6645419"/>
              <a:gd name="connsiteX10" fmla="*/ 0 w 3540058"/>
              <a:gd name="connsiteY10" fmla="*/ 3934197 h 6645419"/>
              <a:gd name="connsiteX11" fmla="*/ 0 w 3540058"/>
              <a:gd name="connsiteY11" fmla="*/ 2978626 h 6645419"/>
              <a:gd name="connsiteX12" fmla="*/ 0 w 3540058"/>
              <a:gd name="connsiteY12" fmla="*/ 1772021 h 6645419"/>
              <a:gd name="connsiteX13" fmla="*/ 0 w 3540058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40058" h="6645419">
                <a:moveTo>
                  <a:pt x="0" y="0"/>
                </a:moveTo>
                <a:lnTo>
                  <a:pt x="3540058" y="1756589"/>
                </a:lnTo>
                <a:lnTo>
                  <a:pt x="3540058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CFF55A-1D5F-AAA6-4D3A-1DFCBBC26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821714" y="3222172"/>
            <a:ext cx="483977" cy="1654169"/>
          </a:xfrm>
          <a:custGeom>
            <a:avLst/>
            <a:gdLst>
              <a:gd name="connsiteX0" fmla="*/ 0 w 594266"/>
              <a:gd name="connsiteY0" fmla="*/ 0 h 2031124"/>
              <a:gd name="connsiteX1" fmla="*/ 594266 w 594266"/>
              <a:gd name="connsiteY1" fmla="*/ 294877 h 2031124"/>
              <a:gd name="connsiteX2" fmla="*/ 594266 w 594266"/>
              <a:gd name="connsiteY2" fmla="*/ 526950 h 2031124"/>
              <a:gd name="connsiteX3" fmla="*/ 594266 w 594266"/>
              <a:gd name="connsiteY3" fmla="*/ 747877 h 2031124"/>
              <a:gd name="connsiteX4" fmla="*/ 594266 w 594266"/>
              <a:gd name="connsiteY4" fmla="*/ 1578124 h 2031124"/>
              <a:gd name="connsiteX5" fmla="*/ 594266 w 594266"/>
              <a:gd name="connsiteY5" fmla="*/ 1799051 h 2031124"/>
              <a:gd name="connsiteX6" fmla="*/ 594266 w 594266"/>
              <a:gd name="connsiteY6" fmla="*/ 2031124 h 2031124"/>
              <a:gd name="connsiteX7" fmla="*/ 0 w 594266"/>
              <a:gd name="connsiteY7" fmla="*/ 1736247 h 2031124"/>
              <a:gd name="connsiteX8" fmla="*/ 0 w 594266"/>
              <a:gd name="connsiteY8" fmla="*/ 1504174 h 2031124"/>
              <a:gd name="connsiteX9" fmla="*/ 0 w 594266"/>
              <a:gd name="connsiteY9" fmla="*/ 1283247 h 2031124"/>
              <a:gd name="connsiteX10" fmla="*/ 0 w 594266"/>
              <a:gd name="connsiteY10" fmla="*/ 453000 h 2031124"/>
              <a:gd name="connsiteX11" fmla="*/ 0 w 594266"/>
              <a:gd name="connsiteY11" fmla="*/ 232073 h 203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4266" h="2031124">
                <a:moveTo>
                  <a:pt x="0" y="0"/>
                </a:moveTo>
                <a:lnTo>
                  <a:pt x="594266" y="294877"/>
                </a:lnTo>
                <a:lnTo>
                  <a:pt x="594266" y="526950"/>
                </a:lnTo>
                <a:lnTo>
                  <a:pt x="594266" y="747877"/>
                </a:lnTo>
                <a:lnTo>
                  <a:pt x="594266" y="1578124"/>
                </a:lnTo>
                <a:lnTo>
                  <a:pt x="594266" y="1799051"/>
                </a:lnTo>
                <a:lnTo>
                  <a:pt x="594266" y="2031124"/>
                </a:lnTo>
                <a:lnTo>
                  <a:pt x="0" y="1736247"/>
                </a:lnTo>
                <a:lnTo>
                  <a:pt x="0" y="1504174"/>
                </a:lnTo>
                <a:lnTo>
                  <a:pt x="0" y="1283247"/>
                </a:lnTo>
                <a:lnTo>
                  <a:pt x="0" y="453000"/>
                </a:lnTo>
                <a:lnTo>
                  <a:pt x="0" y="232073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1561E-FFE1-F9A5-FBF8-E494B043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45728" y="4127662"/>
            <a:ext cx="622300" cy="2146138"/>
          </a:xfrm>
          <a:custGeom>
            <a:avLst/>
            <a:gdLst>
              <a:gd name="connsiteX0" fmla="*/ 0 w 622300"/>
              <a:gd name="connsiteY0" fmla="*/ 0 h 2146138"/>
              <a:gd name="connsiteX1" fmla="*/ 622300 w 622300"/>
              <a:gd name="connsiteY1" fmla="*/ 308788 h 2146138"/>
              <a:gd name="connsiteX2" fmla="*/ 622300 w 622300"/>
              <a:gd name="connsiteY2" fmla="*/ 423088 h 2146138"/>
              <a:gd name="connsiteX3" fmla="*/ 622300 w 622300"/>
              <a:gd name="connsiteY3" fmla="*/ 524688 h 2146138"/>
              <a:gd name="connsiteX4" fmla="*/ 622300 w 622300"/>
              <a:gd name="connsiteY4" fmla="*/ 545838 h 2146138"/>
              <a:gd name="connsiteX5" fmla="*/ 622300 w 622300"/>
              <a:gd name="connsiteY5" fmla="*/ 647438 h 2146138"/>
              <a:gd name="connsiteX6" fmla="*/ 622300 w 622300"/>
              <a:gd name="connsiteY6" fmla="*/ 750208 h 2146138"/>
              <a:gd name="connsiteX7" fmla="*/ 622300 w 622300"/>
              <a:gd name="connsiteY7" fmla="*/ 761738 h 2146138"/>
              <a:gd name="connsiteX8" fmla="*/ 622300 w 622300"/>
              <a:gd name="connsiteY8" fmla="*/ 851808 h 2146138"/>
              <a:gd name="connsiteX9" fmla="*/ 622300 w 622300"/>
              <a:gd name="connsiteY9" fmla="*/ 863338 h 2146138"/>
              <a:gd name="connsiteX10" fmla="*/ 622300 w 622300"/>
              <a:gd name="connsiteY10" fmla="*/ 966108 h 2146138"/>
              <a:gd name="connsiteX11" fmla="*/ 622300 w 622300"/>
              <a:gd name="connsiteY11" fmla="*/ 1067708 h 2146138"/>
              <a:gd name="connsiteX12" fmla="*/ 622300 w 622300"/>
              <a:gd name="connsiteY12" fmla="*/ 1387218 h 2146138"/>
              <a:gd name="connsiteX13" fmla="*/ 622300 w 622300"/>
              <a:gd name="connsiteY13" fmla="*/ 1488818 h 2146138"/>
              <a:gd name="connsiteX14" fmla="*/ 622300 w 622300"/>
              <a:gd name="connsiteY14" fmla="*/ 1591588 h 2146138"/>
              <a:gd name="connsiteX15" fmla="*/ 622300 w 622300"/>
              <a:gd name="connsiteY15" fmla="*/ 1603118 h 2146138"/>
              <a:gd name="connsiteX16" fmla="*/ 622300 w 622300"/>
              <a:gd name="connsiteY16" fmla="*/ 1693188 h 2146138"/>
              <a:gd name="connsiteX17" fmla="*/ 622300 w 622300"/>
              <a:gd name="connsiteY17" fmla="*/ 1704718 h 2146138"/>
              <a:gd name="connsiteX18" fmla="*/ 622300 w 622300"/>
              <a:gd name="connsiteY18" fmla="*/ 1807488 h 2146138"/>
              <a:gd name="connsiteX19" fmla="*/ 622300 w 622300"/>
              <a:gd name="connsiteY19" fmla="*/ 1909088 h 2146138"/>
              <a:gd name="connsiteX20" fmla="*/ 622300 w 622300"/>
              <a:gd name="connsiteY20" fmla="*/ 1930238 h 2146138"/>
              <a:gd name="connsiteX21" fmla="*/ 622300 w 622300"/>
              <a:gd name="connsiteY21" fmla="*/ 2031838 h 2146138"/>
              <a:gd name="connsiteX22" fmla="*/ 622300 w 622300"/>
              <a:gd name="connsiteY22" fmla="*/ 2146138 h 2146138"/>
              <a:gd name="connsiteX23" fmla="*/ 0 w 622300"/>
              <a:gd name="connsiteY23" fmla="*/ 1837351 h 2146138"/>
              <a:gd name="connsiteX24" fmla="*/ 0 w 622300"/>
              <a:gd name="connsiteY24" fmla="*/ 1723051 h 2146138"/>
              <a:gd name="connsiteX25" fmla="*/ 0 w 622300"/>
              <a:gd name="connsiteY25" fmla="*/ 1621451 h 2146138"/>
              <a:gd name="connsiteX26" fmla="*/ 0 w 622300"/>
              <a:gd name="connsiteY26" fmla="*/ 1600300 h 2146138"/>
              <a:gd name="connsiteX27" fmla="*/ 0 w 622300"/>
              <a:gd name="connsiteY27" fmla="*/ 1498700 h 2146138"/>
              <a:gd name="connsiteX28" fmla="*/ 0 w 622300"/>
              <a:gd name="connsiteY28" fmla="*/ 1395930 h 2146138"/>
              <a:gd name="connsiteX29" fmla="*/ 0 w 622300"/>
              <a:gd name="connsiteY29" fmla="*/ 1384400 h 2146138"/>
              <a:gd name="connsiteX30" fmla="*/ 0 w 622300"/>
              <a:gd name="connsiteY30" fmla="*/ 1294330 h 2146138"/>
              <a:gd name="connsiteX31" fmla="*/ 0 w 622300"/>
              <a:gd name="connsiteY31" fmla="*/ 1282800 h 2146138"/>
              <a:gd name="connsiteX32" fmla="*/ 0 w 622300"/>
              <a:gd name="connsiteY32" fmla="*/ 1180030 h 2146138"/>
              <a:gd name="connsiteX33" fmla="*/ 0 w 622300"/>
              <a:gd name="connsiteY33" fmla="*/ 1078430 h 2146138"/>
              <a:gd name="connsiteX34" fmla="*/ 0 w 622300"/>
              <a:gd name="connsiteY34" fmla="*/ 758921 h 2146138"/>
              <a:gd name="connsiteX35" fmla="*/ 0 w 622300"/>
              <a:gd name="connsiteY35" fmla="*/ 657321 h 2146138"/>
              <a:gd name="connsiteX36" fmla="*/ 0 w 622300"/>
              <a:gd name="connsiteY36" fmla="*/ 554551 h 2146138"/>
              <a:gd name="connsiteX37" fmla="*/ 0 w 622300"/>
              <a:gd name="connsiteY37" fmla="*/ 543021 h 2146138"/>
              <a:gd name="connsiteX38" fmla="*/ 0 w 622300"/>
              <a:gd name="connsiteY38" fmla="*/ 452951 h 2146138"/>
              <a:gd name="connsiteX39" fmla="*/ 0 w 622300"/>
              <a:gd name="connsiteY39" fmla="*/ 441421 h 2146138"/>
              <a:gd name="connsiteX40" fmla="*/ 0 w 622300"/>
              <a:gd name="connsiteY40" fmla="*/ 338651 h 2146138"/>
              <a:gd name="connsiteX41" fmla="*/ 0 w 622300"/>
              <a:gd name="connsiteY41" fmla="*/ 237051 h 2146138"/>
              <a:gd name="connsiteX42" fmla="*/ 0 w 622300"/>
              <a:gd name="connsiteY42" fmla="*/ 215900 h 2146138"/>
              <a:gd name="connsiteX43" fmla="*/ 0 w 622300"/>
              <a:gd name="connsiteY43" fmla="*/ 114300 h 21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22300" h="2146138">
                <a:moveTo>
                  <a:pt x="0" y="0"/>
                </a:moveTo>
                <a:lnTo>
                  <a:pt x="622300" y="308788"/>
                </a:lnTo>
                <a:lnTo>
                  <a:pt x="622300" y="423088"/>
                </a:lnTo>
                <a:lnTo>
                  <a:pt x="622300" y="524688"/>
                </a:lnTo>
                <a:lnTo>
                  <a:pt x="622300" y="545838"/>
                </a:lnTo>
                <a:lnTo>
                  <a:pt x="622300" y="647438"/>
                </a:lnTo>
                <a:lnTo>
                  <a:pt x="622300" y="750208"/>
                </a:lnTo>
                <a:lnTo>
                  <a:pt x="622300" y="761738"/>
                </a:lnTo>
                <a:lnTo>
                  <a:pt x="622300" y="851808"/>
                </a:lnTo>
                <a:lnTo>
                  <a:pt x="622300" y="863338"/>
                </a:lnTo>
                <a:lnTo>
                  <a:pt x="622300" y="966108"/>
                </a:lnTo>
                <a:lnTo>
                  <a:pt x="622300" y="1067708"/>
                </a:lnTo>
                <a:lnTo>
                  <a:pt x="622300" y="1387218"/>
                </a:lnTo>
                <a:lnTo>
                  <a:pt x="622300" y="1488818"/>
                </a:lnTo>
                <a:lnTo>
                  <a:pt x="622300" y="1591588"/>
                </a:lnTo>
                <a:lnTo>
                  <a:pt x="622300" y="1603118"/>
                </a:lnTo>
                <a:lnTo>
                  <a:pt x="622300" y="1693188"/>
                </a:lnTo>
                <a:lnTo>
                  <a:pt x="622300" y="1704718"/>
                </a:lnTo>
                <a:lnTo>
                  <a:pt x="622300" y="1807488"/>
                </a:lnTo>
                <a:lnTo>
                  <a:pt x="622300" y="1909088"/>
                </a:lnTo>
                <a:lnTo>
                  <a:pt x="622300" y="1930238"/>
                </a:lnTo>
                <a:lnTo>
                  <a:pt x="622300" y="2031838"/>
                </a:lnTo>
                <a:lnTo>
                  <a:pt x="622300" y="2146138"/>
                </a:lnTo>
                <a:lnTo>
                  <a:pt x="0" y="1837351"/>
                </a:lnTo>
                <a:lnTo>
                  <a:pt x="0" y="1723051"/>
                </a:lnTo>
                <a:lnTo>
                  <a:pt x="0" y="1621451"/>
                </a:lnTo>
                <a:lnTo>
                  <a:pt x="0" y="1600300"/>
                </a:lnTo>
                <a:lnTo>
                  <a:pt x="0" y="1498700"/>
                </a:lnTo>
                <a:lnTo>
                  <a:pt x="0" y="1395930"/>
                </a:lnTo>
                <a:lnTo>
                  <a:pt x="0" y="1384400"/>
                </a:lnTo>
                <a:lnTo>
                  <a:pt x="0" y="1294330"/>
                </a:lnTo>
                <a:lnTo>
                  <a:pt x="0" y="1282800"/>
                </a:lnTo>
                <a:lnTo>
                  <a:pt x="0" y="1180030"/>
                </a:lnTo>
                <a:lnTo>
                  <a:pt x="0" y="1078430"/>
                </a:lnTo>
                <a:lnTo>
                  <a:pt x="0" y="758921"/>
                </a:lnTo>
                <a:lnTo>
                  <a:pt x="0" y="657321"/>
                </a:lnTo>
                <a:lnTo>
                  <a:pt x="0" y="554551"/>
                </a:lnTo>
                <a:lnTo>
                  <a:pt x="0" y="543021"/>
                </a:lnTo>
                <a:lnTo>
                  <a:pt x="0" y="452951"/>
                </a:lnTo>
                <a:lnTo>
                  <a:pt x="0" y="441421"/>
                </a:lnTo>
                <a:lnTo>
                  <a:pt x="0" y="338651"/>
                </a:lnTo>
                <a:lnTo>
                  <a:pt x="0" y="237051"/>
                </a:lnTo>
                <a:lnTo>
                  <a:pt x="0" y="215900"/>
                </a:lnTo>
                <a:lnTo>
                  <a:pt x="0" y="114300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89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0" tIns="0" rIns="0" bIns="0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BBAE49-6B14-65B6-CA87-EE5253B4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9612" y="1854200"/>
            <a:ext cx="633150" cy="2150136"/>
          </a:xfrm>
          <a:custGeom>
            <a:avLst/>
            <a:gdLst>
              <a:gd name="connsiteX0" fmla="*/ 0 w 633150"/>
              <a:gd name="connsiteY0" fmla="*/ 0 h 2150136"/>
              <a:gd name="connsiteX1" fmla="*/ 633150 w 633150"/>
              <a:gd name="connsiteY1" fmla="*/ 314171 h 2150136"/>
              <a:gd name="connsiteX2" fmla="*/ 633150 w 633150"/>
              <a:gd name="connsiteY2" fmla="*/ 513405 h 2150136"/>
              <a:gd name="connsiteX3" fmla="*/ 633150 w 633150"/>
              <a:gd name="connsiteY3" fmla="*/ 1950903 h 2150136"/>
              <a:gd name="connsiteX4" fmla="*/ 633150 w 633150"/>
              <a:gd name="connsiteY4" fmla="*/ 2150136 h 2150136"/>
              <a:gd name="connsiteX5" fmla="*/ 0 w 633150"/>
              <a:gd name="connsiteY5" fmla="*/ 1835965 h 2150136"/>
              <a:gd name="connsiteX6" fmla="*/ 0 w 633150"/>
              <a:gd name="connsiteY6" fmla="*/ 1636732 h 2150136"/>
              <a:gd name="connsiteX7" fmla="*/ 0 w 633150"/>
              <a:gd name="connsiteY7" fmla="*/ 199234 h 215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3150" h="2150136">
                <a:moveTo>
                  <a:pt x="0" y="0"/>
                </a:moveTo>
                <a:lnTo>
                  <a:pt x="633150" y="314171"/>
                </a:lnTo>
                <a:lnTo>
                  <a:pt x="633150" y="513405"/>
                </a:lnTo>
                <a:lnTo>
                  <a:pt x="633150" y="1950903"/>
                </a:lnTo>
                <a:lnTo>
                  <a:pt x="633150" y="2150136"/>
                </a:lnTo>
                <a:lnTo>
                  <a:pt x="0" y="1835965"/>
                </a:lnTo>
                <a:lnTo>
                  <a:pt x="0" y="1636732"/>
                </a:lnTo>
                <a:lnTo>
                  <a:pt x="0" y="199234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72000"/>
                </a:srgbClr>
              </a:gs>
              <a:gs pos="100000">
                <a:srgbClr val="2F2A95">
                  <a:alpha val="8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……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344-8FC6-9C44-DD7D-8F78A4E6DE3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BB5DB-C28B-B116-6A61-282D5993E51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CF3-F9AC-4E4E-03E4-43B31A583F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844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3889 L -3.33333E-6 -3.7037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0.03472 L -3.75E-6 1.85185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100" grpId="0" animBg="1"/>
      <p:bldP spid="73" grpId="0" animBg="1"/>
      <p:bldP spid="12" grpId="0" animBg="1"/>
      <p:bldP spid="33" grpId="0" animBg="1"/>
      <p:bldP spid="19" grpId="0" animBg="1"/>
      <p:bldP spid="9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800" y="1524001"/>
            <a:ext cx="7023100" cy="2317750"/>
          </a:xfrm>
        </p:spPr>
        <p:txBody>
          <a:bodyPr bIns="144000" anchor="b">
            <a:normAutofit/>
          </a:bodyPr>
          <a:lstStyle>
            <a:lvl1pPr algn="l" rtl="0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36,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22800" y="3967163"/>
            <a:ext cx="7023100" cy="1222375"/>
          </a:xfrm>
        </p:spPr>
        <p:txBody>
          <a:bodyPr lIns="0" tIns="144000" rIns="0" bIns="0" anchor="t">
            <a:normAutofit/>
          </a:bodyPr>
          <a:lstStyle>
            <a:lvl1pPr marL="0" indent="0" algn="l" rtl="0">
              <a:buFont typeface="Verdana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16,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101893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76842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51792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9613E9-BE82-93D5-8C3F-BB04E5F2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826" y="-17930"/>
            <a:ext cx="2784904" cy="6301255"/>
          </a:xfrm>
          <a:custGeom>
            <a:avLst/>
            <a:gdLst>
              <a:gd name="connsiteX0" fmla="*/ 0 w 2784904"/>
              <a:gd name="connsiteY0" fmla="*/ 0 h 6301255"/>
              <a:gd name="connsiteX1" fmla="*/ 2784904 w 2784904"/>
              <a:gd name="connsiteY1" fmla="*/ 0 h 6301255"/>
              <a:gd name="connsiteX2" fmla="*/ 2784904 w 2784904"/>
              <a:gd name="connsiteY2" fmla="*/ 14755 h 6301255"/>
              <a:gd name="connsiteX3" fmla="*/ 2784904 w 2784904"/>
              <a:gd name="connsiteY3" fmla="*/ 1456078 h 6301255"/>
              <a:gd name="connsiteX4" fmla="*/ 2784904 w 2784904"/>
              <a:gd name="connsiteY4" fmla="*/ 1470833 h 6301255"/>
              <a:gd name="connsiteX5" fmla="*/ 2784904 w 2784904"/>
              <a:gd name="connsiteY5" fmla="*/ 4830422 h 6301255"/>
              <a:gd name="connsiteX6" fmla="*/ 2784904 w 2784904"/>
              <a:gd name="connsiteY6" fmla="*/ 4845177 h 6301255"/>
              <a:gd name="connsiteX7" fmla="*/ 2784904 w 2784904"/>
              <a:gd name="connsiteY7" fmla="*/ 6286500 h 6301255"/>
              <a:gd name="connsiteX8" fmla="*/ 2784904 w 2784904"/>
              <a:gd name="connsiteY8" fmla="*/ 6301255 h 6301255"/>
              <a:gd name="connsiteX9" fmla="*/ 0 w 2784904"/>
              <a:gd name="connsiteY9" fmla="*/ 4954961 h 6301255"/>
              <a:gd name="connsiteX10" fmla="*/ 0 w 2784904"/>
              <a:gd name="connsiteY10" fmla="*/ 4940206 h 6301255"/>
              <a:gd name="connsiteX11" fmla="*/ 0 w 2784904"/>
              <a:gd name="connsiteY11" fmla="*/ 3498883 h 6301255"/>
              <a:gd name="connsiteX12" fmla="*/ 0 w 2784904"/>
              <a:gd name="connsiteY12" fmla="*/ 3484128 h 6301255"/>
              <a:gd name="connsiteX13" fmla="*/ 0 w 2784904"/>
              <a:gd name="connsiteY13" fmla="*/ 1470833 h 6301255"/>
              <a:gd name="connsiteX14" fmla="*/ 0 w 2784904"/>
              <a:gd name="connsiteY14" fmla="*/ 1456078 h 6301255"/>
              <a:gd name="connsiteX15" fmla="*/ 0 w 2784904"/>
              <a:gd name="connsiteY15" fmla="*/ 14755 h 630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4904" h="6301255">
                <a:moveTo>
                  <a:pt x="0" y="0"/>
                </a:moveTo>
                <a:lnTo>
                  <a:pt x="2784904" y="0"/>
                </a:lnTo>
                <a:lnTo>
                  <a:pt x="2784904" y="14755"/>
                </a:lnTo>
                <a:lnTo>
                  <a:pt x="2784904" y="1456078"/>
                </a:lnTo>
                <a:lnTo>
                  <a:pt x="2784904" y="1470833"/>
                </a:lnTo>
                <a:lnTo>
                  <a:pt x="2784904" y="4830422"/>
                </a:lnTo>
                <a:lnTo>
                  <a:pt x="2784904" y="4845177"/>
                </a:lnTo>
                <a:lnTo>
                  <a:pt x="2784904" y="6286500"/>
                </a:lnTo>
                <a:lnTo>
                  <a:pt x="2784904" y="6301255"/>
                </a:lnTo>
                <a:lnTo>
                  <a:pt x="0" y="4954961"/>
                </a:lnTo>
                <a:lnTo>
                  <a:pt x="0" y="4940206"/>
                </a:lnTo>
                <a:lnTo>
                  <a:pt x="0" y="3498883"/>
                </a:lnTo>
                <a:lnTo>
                  <a:pt x="0" y="3484128"/>
                </a:lnTo>
                <a:lnTo>
                  <a:pt x="0" y="1470833"/>
                </a:lnTo>
                <a:lnTo>
                  <a:pt x="0" y="1456078"/>
                </a:lnTo>
                <a:lnTo>
                  <a:pt x="0" y="1475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8000">
                  <a:schemeClr val="accent2"/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26742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692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23358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126943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15199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177043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48407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74680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2340242A-9028-BDF2-B234-CEFF2870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2333" y="-203428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E44E955E-7612-E8F0-3B5D-365C947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7620" y="-229146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Graphic 10">
            <a:extLst>
              <a:ext uri="{FF2B5EF4-FFF2-40B4-BE49-F238E27FC236}">
                <a16:creationId xmlns:a16="http://schemas.microsoft.com/office/drawing/2014/main" id="{5D9C53CF-BDD4-B556-0C5D-03B8F815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2907" y="-25486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2DD8D5-232D-2D37-C219-11B51A3B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741" y="0"/>
            <a:ext cx="3052740" cy="6286500"/>
          </a:xfrm>
          <a:custGeom>
            <a:avLst/>
            <a:gdLst>
              <a:gd name="connsiteX0" fmla="*/ 0 w 3052740"/>
              <a:gd name="connsiteY0" fmla="*/ 0 h 6286500"/>
              <a:gd name="connsiteX1" fmla="*/ 3052740 w 3052740"/>
              <a:gd name="connsiteY1" fmla="*/ 0 h 6286500"/>
              <a:gd name="connsiteX2" fmla="*/ 3052740 w 3052740"/>
              <a:gd name="connsiteY2" fmla="*/ 1456078 h 6286500"/>
              <a:gd name="connsiteX3" fmla="*/ 3052740 w 3052740"/>
              <a:gd name="connsiteY3" fmla="*/ 4830422 h 6286500"/>
              <a:gd name="connsiteX4" fmla="*/ 3052740 w 3052740"/>
              <a:gd name="connsiteY4" fmla="*/ 6286500 h 6286500"/>
              <a:gd name="connsiteX5" fmla="*/ 0 w 3052740"/>
              <a:gd name="connsiteY5" fmla="*/ 4810727 h 6286500"/>
              <a:gd name="connsiteX6" fmla="*/ 0 w 3052740"/>
              <a:gd name="connsiteY6" fmla="*/ 3354649 h 6286500"/>
              <a:gd name="connsiteX7" fmla="*/ 0 w 3052740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2740" h="6286500">
                <a:moveTo>
                  <a:pt x="0" y="0"/>
                </a:moveTo>
                <a:lnTo>
                  <a:pt x="3052740" y="0"/>
                </a:lnTo>
                <a:lnTo>
                  <a:pt x="3052740" y="1456078"/>
                </a:lnTo>
                <a:lnTo>
                  <a:pt x="3052740" y="4830422"/>
                </a:lnTo>
                <a:lnTo>
                  <a:pt x="3052740" y="6286500"/>
                </a:lnTo>
                <a:lnTo>
                  <a:pt x="0" y="4810727"/>
                </a:lnTo>
                <a:lnTo>
                  <a:pt x="0" y="3354649"/>
                </a:lnTo>
                <a:lnTo>
                  <a:pt x="0" y="1456078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75000"/>
                </a:schemeClr>
              </a:gs>
              <a:gs pos="10000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88690719-AF8F-23FF-0686-C12A1BF1A4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6741" y="0"/>
            <a:ext cx="3323874" cy="6286500"/>
          </a:xfrm>
          <a:custGeom>
            <a:avLst/>
            <a:gdLst>
              <a:gd name="connsiteX0" fmla="*/ 0 w 3323874"/>
              <a:gd name="connsiteY0" fmla="*/ 0 h 6286500"/>
              <a:gd name="connsiteX1" fmla="*/ 3323874 w 3323874"/>
              <a:gd name="connsiteY1" fmla="*/ 0 h 6286500"/>
              <a:gd name="connsiteX2" fmla="*/ 3323874 w 3323874"/>
              <a:gd name="connsiteY2" fmla="*/ 1456078 h 6286500"/>
              <a:gd name="connsiteX3" fmla="*/ 3323874 w 3323874"/>
              <a:gd name="connsiteY3" fmla="*/ 4830422 h 6286500"/>
              <a:gd name="connsiteX4" fmla="*/ 3323874 w 3323874"/>
              <a:gd name="connsiteY4" fmla="*/ 6286500 h 6286500"/>
              <a:gd name="connsiteX5" fmla="*/ 0 w 3323874"/>
              <a:gd name="connsiteY5" fmla="*/ 4679655 h 6286500"/>
              <a:gd name="connsiteX6" fmla="*/ 0 w 3323874"/>
              <a:gd name="connsiteY6" fmla="*/ 3223577 h 6286500"/>
              <a:gd name="connsiteX7" fmla="*/ 0 w 3323874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3874" h="6286500">
                <a:moveTo>
                  <a:pt x="0" y="0"/>
                </a:moveTo>
                <a:lnTo>
                  <a:pt x="3323874" y="0"/>
                </a:lnTo>
                <a:lnTo>
                  <a:pt x="3323874" y="1456078"/>
                </a:lnTo>
                <a:lnTo>
                  <a:pt x="3323874" y="4830422"/>
                </a:lnTo>
                <a:lnTo>
                  <a:pt x="3323874" y="6286500"/>
                </a:lnTo>
                <a:lnTo>
                  <a:pt x="0" y="4679655"/>
                </a:lnTo>
                <a:lnTo>
                  <a:pt x="0" y="3223577"/>
                </a:lnTo>
                <a:lnTo>
                  <a:pt x="0" y="145607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9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9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0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1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2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1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3268 0.03819 " pathEditMode="relative" rAng="0" ptsTypes="AA">
                                      <p:cBhvr>
                                        <p:cTn id="4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-3.33333E-6 L -0.06536 0.07477 " pathEditMode="relative" rAng="0" ptsTypes="AA">
                                      <p:cBhvr>
                                        <p:cTn id="5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-0.09804 0.11134 " pathEditMode="relative" rAng="0" ptsTypes="AA">
                                      <p:cBhvr>
                                        <p:cTn id="5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13072 0.14791 " pathEditMode="relative" rAng="0" ptsTypes="AA">
                                      <p:cBhvr>
                                        <p:cTn id="54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6341 0.18449 " pathEditMode="relative" rAng="0" ptsTypes="AA">
                                      <p:cBhvr>
                                        <p:cTn id="56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9609 0.22083 " pathEditMode="relative" rAng="0" ptsTypes="AA">
                                      <p:cBhvr>
                                        <p:cTn id="5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22864 0.25741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26132 0.29398 " pathEditMode="relative" rAng="0" ptsTypes="AA">
                                      <p:cBhvr>
                                        <p:cTn id="62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29401 0.33055 " pathEditMode="relative" rAng="0" ptsTypes="AA">
                                      <p:cBhvr>
                                        <p:cTn id="64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32669 0.36713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35885 0.40555 " pathEditMode="relative" rAng="0" ptsTypes="AA">
                                      <p:cBhvr>
                                        <p:cTn id="68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43" y="2027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39127 0.44305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70" y="2215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42369 0.48055 " pathEditMode="relative" rAng="0" ptsTypes="AA">
                                      <p:cBhvr>
                                        <p:cTn id="72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5" y="2402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0.03889 L 2.5E-6 -3.7037E-6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-0.03472 L 2.5E-6 -2.59259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3.33333E-6 L -0.03268 0.03658 " pathEditMode="relative" rAng="0" ptsTypes="AA">
                                      <p:cBhvr>
                                        <p:cTn id="111" dur="15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182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2.22222E-6 L -0.29401 0.32871 " pathEditMode="relative" rAng="0" ptsTypes="AA">
                                      <p:cBhvr>
                                        <p:cTn id="127" dur="15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435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3.33333E-6 L -0.32669 0.36783 " pathEditMode="relative" rAng="0" ptsTypes="AA">
                                      <p:cBhvr>
                                        <p:cTn id="129" dur="15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8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200"/>
                  </p:stCondLst>
                  <p:childTnLst>
                    <p:animMotion origin="layout" path="M 2.5E-6 -0.03472 L 2.5E-6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7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121" grpId="0" animBg="1"/>
      <p:bldP spid="36" grpId="0" animBg="1"/>
      <p:bldP spid="36" grpId="1" animBg="1"/>
      <p:bldP spid="40" grpId="0" animBg="1"/>
      <p:bldP spid="40" grpId="1" animBg="1"/>
      <p:bldP spid="41" grpId="0" animBg="1"/>
      <p:bldP spid="41" grpId="1" animBg="1"/>
      <p:bldP spid="33" grpId="0" animBg="1"/>
      <p:bldP spid="129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3A600-7862-1261-A2A1-034E7EDC5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4F-C3BC-007D-EF1F-8A400A10CB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23/05/2025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7045-F2C9-FC48-9295-31C1919A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0BA8C-A0A2-493C-9386-2300DE9A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FD8990E-4FA2-F603-EAB5-7E6A1B77BA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BD11F3-A53B-D639-35D7-4319E4A9D7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FA86F74-A4FA-366C-0547-8046917C56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100" y="2733964"/>
            <a:ext cx="4798014" cy="1390072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2pPr>
            <a:lvl3pPr marL="9144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3pPr>
            <a:lvl4pPr marL="13716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4pPr>
            <a:lvl5pPr marL="18288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Agenda 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865F23-5DAD-7144-3906-23B0256A1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543898" y="4599753"/>
            <a:ext cx="668911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9C2217-4CFC-25EC-DA63-8712F58F9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956527" y="3491486"/>
            <a:ext cx="684155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EDA2C1-FFE7-6894-FD8F-C50BF0AC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819684" y="567262"/>
            <a:ext cx="668910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103F671-8345-2357-3652-7FA124AF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391819" y="1208739"/>
            <a:ext cx="684153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C5D3CAD-A58F-85CC-5577-5156C96582E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032500" y="16271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DFC5834E-A3BC-6828-034C-89FD765ACED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32500" y="24241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157F0C1-B6FC-72BD-CA5B-1311A3971CB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32500" y="322103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0044BEAE-C33F-CB1A-53E6-A17672D6A30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32500" y="401796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D7CE6FD3-B71D-C181-AF40-259A4DC70025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32500" y="48148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10397D2-C488-84C8-3A6A-A910F638037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032500" y="56118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F5CE08-CCD2-5631-5E5C-0549366B707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83614" y="16271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F086F16D-D8C3-5108-DDA3-6DE3CF47DAD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83614" y="24241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33F1917-302D-A5BE-C1D5-B17CBA9FCB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783614" y="322103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5DEE5E6-59FB-33F9-8980-0004276C0D4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783614" y="401796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694A4538-3017-9257-1896-BB231AD719C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83614" y="48148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417A4EF-B02C-2531-83C9-9CB7F8FEC52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83614" y="56118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A8D5C0A-62A1-A1BD-FC12-40AC23FD0347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 flipV="1">
            <a:off x="6026150" y="152400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4540FA9F-D2C3-C3B3-F06B-8A93911F161F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flipV="1">
            <a:off x="6026150" y="2317396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8BAB9388-6C79-0B3A-D970-FCD1B3755E4B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flipV="1">
            <a:off x="6026150" y="3110792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CE680E7-AB02-36CD-457F-DFF340B368F7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 flipV="1">
            <a:off x="6026150" y="3904188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B21F9694-65DC-62B0-9986-AF2F72BF4651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 flipV="1">
            <a:off x="6026150" y="4697584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0C916E77-D393-A9D7-F66A-3C30D0A6F66B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 flipV="1">
            <a:off x="6026150" y="549098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E2208320-8DC6-96C5-E060-B21A416A640C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flipV="1">
            <a:off x="6026150" y="6284375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821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2" presetClass="entr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" presetClass="entr" presetSubtype="2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3472 L 5.55112E-17 -1.85185E-6 " pathEditMode="relative" rAng="0" ptsTypes="AA">
                                      <p:cBhvr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1"/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1"/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1"/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1"/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/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/>
      <p:bldP spid="3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1"/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1"/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1"/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1"/>
      <p:bldP spid="4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Title, Use Font Size 28, Title Case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D0CE95-89EC-95E6-2690-5F3F08272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1143000"/>
            <a:ext cx="11099800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2ED0-34DB-2CAB-894B-1E7907C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38976-C93B-4F0C-AE4A-3BD284E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7CFC-F38E-4EE4-C6AD-B62650FA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4547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08F7DFD-C55A-7C50-49C1-18FEBAA61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EB5D1D4-76C4-135C-702C-458E7E26FE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461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DC19C9A-F6D3-FF60-7DFA-8F060BA40F1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3528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DA20B33-282D-E1A8-107F-F67672993C7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595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53C791ED-08CF-B7DA-7F4A-53CB1BEB2B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966199" y="1649413"/>
            <a:ext cx="2679701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84DE-4818-51FE-42F0-5E3E0E26C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33CA-E4C6-74FC-102E-3E7170DCB4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984476-DB18-6EFC-CFFF-7DC3D02F4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779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410E3-2E05-8E15-231D-2E0A55622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100" y="1535054"/>
            <a:ext cx="5486400" cy="2306696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quote, use font size 20, sentence case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9F86920-BC32-7706-32FF-8247600998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3967163"/>
            <a:ext cx="5486400" cy="383864"/>
          </a:xfrm>
        </p:spPr>
        <p:txBody>
          <a:bodyPr l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Verdana" panose="020B0602030504020204" pitchFamily="34" charset="0"/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</a:lstStyle>
          <a:p>
            <a:pPr lvl="0"/>
            <a:r>
              <a:rPr lang="en-US"/>
              <a:t>Add name here, Use Font Size 20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DF5267-6EC5-2B94-99C9-E08682F032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101" y="4477027"/>
            <a:ext cx="5486400" cy="18094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Add Job Title Here, Use Font Size 16, Title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64C483-C645-5E7F-EFF5-99277788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42666" y="3266987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EE7642-7909-D90B-8143-34DAC95C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8618" y="1540541"/>
            <a:ext cx="792518" cy="2477701"/>
          </a:xfrm>
          <a:custGeom>
            <a:avLst/>
            <a:gdLst>
              <a:gd name="connsiteX0" fmla="*/ 0 w 792518"/>
              <a:gd name="connsiteY0" fmla="*/ 0 h 2477701"/>
              <a:gd name="connsiteX1" fmla="*/ 792518 w 792518"/>
              <a:gd name="connsiteY1" fmla="*/ 393250 h 2477701"/>
              <a:gd name="connsiteX2" fmla="*/ 792518 w 792518"/>
              <a:gd name="connsiteY2" fmla="*/ 2477701 h 2477701"/>
              <a:gd name="connsiteX3" fmla="*/ 0 w 792518"/>
              <a:gd name="connsiteY3" fmla="*/ 2084451 h 247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518" h="2477701">
                <a:moveTo>
                  <a:pt x="0" y="0"/>
                </a:moveTo>
                <a:lnTo>
                  <a:pt x="792518" y="393250"/>
                </a:lnTo>
                <a:lnTo>
                  <a:pt x="792518" y="2477701"/>
                </a:lnTo>
                <a:lnTo>
                  <a:pt x="0" y="208445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96B6EE-7991-F35C-13AF-6C1E27A6C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89573" y="863906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B1E8CF-D9BE-4C10-89CD-694F1CB6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55203" y="1894579"/>
            <a:ext cx="594266" cy="2252051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D382A5-D297-2172-10D7-B3211F5D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66109" y="3282189"/>
            <a:ext cx="280587" cy="1063324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2F6D961-F6BB-6F53-6225-FC3F5E6FEE8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105039" y="1915436"/>
            <a:ext cx="3005021" cy="3027128"/>
          </a:xfrm>
          <a:prstGeom prst="ellipse">
            <a:avLst/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108000" rIns="72000" anchor="ctr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6EEFFD-7435-4311-196A-430BFF7D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5A9052-56DE-4C67-C703-CF356465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2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77C5-B8F9-C666-5D6D-A5A7C28F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1641" y="2997378"/>
            <a:ext cx="794338" cy="2505291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957B57-EDF2-25DE-1CE6-3781527D3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1C13550-37C6-2BBC-2A2B-F99CDB5E6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EA53CC4-970B-4F45-D2C2-25F4A84808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73E30D-1AE7-4F81-1DDA-772C67B40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9A9BC-90C2-C963-3FC8-FA400A67F5A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3AFE1-A6C1-1C01-9BE5-A5158F44EB8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32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75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9000" y="9999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1.25E-6 0.03889 L 1.25E-6 1.85185E-6 " pathEditMode="relative" rAng="0" ptsTypes="AA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5" grpId="0" animBg="1"/>
      <p:bldP spid="17" grpId="0" animBg="1"/>
      <p:bldP spid="4" grpId="0" animBg="1"/>
      <p:bldP spid="6" grpId="0" animBg="1"/>
      <p:bldP spid="16" grpId="0" animBg="1"/>
      <p:bldP spid="22" grpId="0" animBg="1"/>
      <p:bldP spid="22" grpId="1" animBg="1"/>
      <p:bldP spid="22" grpId="2" animBg="1"/>
      <p:bldP spid="31" grpId="0" animBg="1"/>
      <p:bldP spid="30" grpId="0" animBg="1"/>
      <p:bldP spid="5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1EC7D8-1702-47D3-3E76-6073B3B80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3B37E-EF0B-F4D7-8555-765DDCEEA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649413"/>
            <a:ext cx="4076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2DDAF-9E6F-C6DE-7FEE-4D4746895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429" t="8712" r="5429" b="8712"/>
          <a:stretch/>
        </p:blipFill>
        <p:spPr>
          <a:xfrm>
            <a:off x="4715436" y="1753534"/>
            <a:ext cx="6968564" cy="43034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782D8E-80C3-D0D0-9E0D-CEA146D08B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62600" y="2266950"/>
            <a:ext cx="5295900" cy="3309938"/>
          </a:xfrm>
          <a:prstGeom prst="round2SameRect">
            <a:avLst>
              <a:gd name="adj1" fmla="val 1822"/>
              <a:gd name="adj2" fmla="val 0"/>
            </a:avLst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432000" rIns="360000" anchor="t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209E-58FE-65A9-A756-1EFB127AEF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1A56-91AC-E9BB-5AC3-0E78DD8A2D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8B26E-FDE5-346C-3B2D-042F602F4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071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Picture)"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5486400" cy="2317750"/>
          </a:xfrm>
        </p:spPr>
        <p:txBody>
          <a:bodyPr anchor="b" anchorCtr="0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6100" y="3967163"/>
            <a:ext cx="5486400" cy="1222375"/>
          </a:xfr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</a:pPr>
            <a:r>
              <a:rPr lang="en-US"/>
              <a:t>Click to add subtitle, use font size 20, sentence case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0F6BA9-3F42-B62D-4399-F81E1CEF2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051072" y="-507998"/>
            <a:ext cx="3576255" cy="8052777"/>
          </a:xfrm>
          <a:custGeom>
            <a:avLst/>
            <a:gdLst>
              <a:gd name="connsiteX0" fmla="*/ 0 w 3576255"/>
              <a:gd name="connsiteY0" fmla="*/ 0 h 8052777"/>
              <a:gd name="connsiteX1" fmla="*/ 3576255 w 3576255"/>
              <a:gd name="connsiteY1" fmla="*/ 1774552 h 8052777"/>
              <a:gd name="connsiteX2" fmla="*/ 3576255 w 3576255"/>
              <a:gd name="connsiteY2" fmla="*/ 8052777 h 8052777"/>
              <a:gd name="connsiteX3" fmla="*/ 0 w 3576255"/>
              <a:gd name="connsiteY3" fmla="*/ 6278225 h 80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255" h="8052777">
                <a:moveTo>
                  <a:pt x="0" y="0"/>
                </a:moveTo>
                <a:lnTo>
                  <a:pt x="3576255" y="1774552"/>
                </a:lnTo>
                <a:lnTo>
                  <a:pt x="3576255" y="8052777"/>
                </a:lnTo>
                <a:lnTo>
                  <a:pt x="0" y="6278225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2556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97B7E6-79FF-1035-79D6-97D4BA11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70353" y="4635500"/>
            <a:ext cx="557347" cy="1651000"/>
          </a:xfrm>
          <a:custGeom>
            <a:avLst/>
            <a:gdLst>
              <a:gd name="connsiteX0" fmla="*/ 0 w 3030784"/>
              <a:gd name="connsiteY0" fmla="*/ 0 h 8977922"/>
              <a:gd name="connsiteX1" fmla="*/ 3030784 w 3030784"/>
              <a:gd name="connsiteY1" fmla="*/ 1503885 h 8977922"/>
              <a:gd name="connsiteX2" fmla="*/ 3030784 w 3030784"/>
              <a:gd name="connsiteY2" fmla="*/ 8977922 h 8977922"/>
              <a:gd name="connsiteX3" fmla="*/ 0 w 3030784"/>
              <a:gd name="connsiteY3" fmla="*/ 7474037 h 89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0784" h="8977922">
                <a:moveTo>
                  <a:pt x="0" y="0"/>
                </a:moveTo>
                <a:lnTo>
                  <a:pt x="3030784" y="1503885"/>
                </a:lnTo>
                <a:lnTo>
                  <a:pt x="3030784" y="8977922"/>
                </a:lnTo>
                <a:lnTo>
                  <a:pt x="0" y="7474037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9BB291-4B51-DA63-86CC-144EE928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06220" y="4470400"/>
            <a:ext cx="539680" cy="1816100"/>
          </a:xfrm>
          <a:custGeom>
            <a:avLst/>
            <a:gdLst>
              <a:gd name="connsiteX0" fmla="*/ 0 w 701962"/>
              <a:gd name="connsiteY0" fmla="*/ 0 h 2362201"/>
              <a:gd name="connsiteX1" fmla="*/ 701962 w 701962"/>
              <a:gd name="connsiteY1" fmla="*/ 348316 h 2362201"/>
              <a:gd name="connsiteX2" fmla="*/ 701962 w 701962"/>
              <a:gd name="connsiteY2" fmla="*/ 780116 h 2362201"/>
              <a:gd name="connsiteX3" fmla="*/ 701962 w 701962"/>
              <a:gd name="connsiteY3" fmla="*/ 1930401 h 2362201"/>
              <a:gd name="connsiteX4" fmla="*/ 701962 w 701962"/>
              <a:gd name="connsiteY4" fmla="*/ 2362201 h 2362201"/>
              <a:gd name="connsiteX5" fmla="*/ 0 w 701962"/>
              <a:gd name="connsiteY5" fmla="*/ 2013886 h 2362201"/>
              <a:gd name="connsiteX6" fmla="*/ 0 w 701962"/>
              <a:gd name="connsiteY6" fmla="*/ 1582086 h 2362201"/>
              <a:gd name="connsiteX7" fmla="*/ 0 w 701962"/>
              <a:gd name="connsiteY7" fmla="*/ 431800 h 236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962" h="2362201">
                <a:moveTo>
                  <a:pt x="0" y="0"/>
                </a:moveTo>
                <a:lnTo>
                  <a:pt x="701962" y="348316"/>
                </a:lnTo>
                <a:lnTo>
                  <a:pt x="701962" y="780116"/>
                </a:lnTo>
                <a:lnTo>
                  <a:pt x="701962" y="1930401"/>
                </a:lnTo>
                <a:lnTo>
                  <a:pt x="701962" y="2362201"/>
                </a:lnTo>
                <a:lnTo>
                  <a:pt x="0" y="2013886"/>
                </a:lnTo>
                <a:lnTo>
                  <a:pt x="0" y="1582086"/>
                </a:lnTo>
                <a:lnTo>
                  <a:pt x="0" y="431800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B4D9DB-D366-2538-B48B-36DCBB68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75900" y="698500"/>
            <a:ext cx="557347" cy="1651000"/>
          </a:xfrm>
          <a:custGeom>
            <a:avLst/>
            <a:gdLst>
              <a:gd name="connsiteX0" fmla="*/ 0 w 557347"/>
              <a:gd name="connsiteY0" fmla="*/ 0 h 1651000"/>
              <a:gd name="connsiteX1" fmla="*/ 557347 w 557347"/>
              <a:gd name="connsiteY1" fmla="*/ 276558 h 1651000"/>
              <a:gd name="connsiteX2" fmla="*/ 557347 w 557347"/>
              <a:gd name="connsiteY2" fmla="*/ 1651000 h 1651000"/>
              <a:gd name="connsiteX3" fmla="*/ 0 w 557347"/>
              <a:gd name="connsiteY3" fmla="*/ 1374442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347" h="1651000">
                <a:moveTo>
                  <a:pt x="0" y="0"/>
                </a:moveTo>
                <a:lnTo>
                  <a:pt x="557347" y="276558"/>
                </a:lnTo>
                <a:lnTo>
                  <a:pt x="557347" y="1651000"/>
                </a:lnTo>
                <a:lnTo>
                  <a:pt x="0" y="137444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buFontTx/>
              <a:buNone/>
              <a:defRPr kumimoji="0" lang="en-US" sz="100" b="0" i="0" u="none" strike="noStrike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005CB4-E4F8-2AB3-56A2-7D9C9C29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19332" y="2298700"/>
            <a:ext cx="539680" cy="1816100"/>
          </a:xfrm>
          <a:custGeom>
            <a:avLst/>
            <a:gdLst>
              <a:gd name="connsiteX0" fmla="*/ 0 w 539680"/>
              <a:gd name="connsiteY0" fmla="*/ 0 h 1816100"/>
              <a:gd name="connsiteX1" fmla="*/ 539680 w 539680"/>
              <a:gd name="connsiteY1" fmla="*/ 267791 h 1816100"/>
              <a:gd name="connsiteX2" fmla="*/ 539680 w 539680"/>
              <a:gd name="connsiteY2" fmla="*/ 599767 h 1816100"/>
              <a:gd name="connsiteX3" fmla="*/ 539680 w 539680"/>
              <a:gd name="connsiteY3" fmla="*/ 1484125 h 1816100"/>
              <a:gd name="connsiteX4" fmla="*/ 539680 w 539680"/>
              <a:gd name="connsiteY4" fmla="*/ 1816100 h 1816100"/>
              <a:gd name="connsiteX5" fmla="*/ 0 w 539680"/>
              <a:gd name="connsiteY5" fmla="*/ 1548310 h 1816100"/>
              <a:gd name="connsiteX6" fmla="*/ 0 w 539680"/>
              <a:gd name="connsiteY6" fmla="*/ 1216335 h 1816100"/>
              <a:gd name="connsiteX7" fmla="*/ 0 w 539680"/>
              <a:gd name="connsiteY7" fmla="*/ 331975 h 18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9680" h="1816100">
                <a:moveTo>
                  <a:pt x="0" y="0"/>
                </a:moveTo>
                <a:lnTo>
                  <a:pt x="539680" y="267791"/>
                </a:lnTo>
                <a:lnTo>
                  <a:pt x="539680" y="599767"/>
                </a:lnTo>
                <a:lnTo>
                  <a:pt x="539680" y="1484125"/>
                </a:lnTo>
                <a:lnTo>
                  <a:pt x="539680" y="1816100"/>
                </a:lnTo>
                <a:lnTo>
                  <a:pt x="0" y="1548310"/>
                </a:lnTo>
                <a:lnTo>
                  <a:pt x="0" y="1216335"/>
                </a:lnTo>
                <a:lnTo>
                  <a:pt x="0" y="331975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FontTx/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hi</a:t>
            </a:r>
          </a:p>
        </p:txBody>
      </p:sp>
      <p:pic>
        <p:nvPicPr>
          <p:cNvPr id="35" name="Graphic 34" descr="InterSystems: Creative data technology">
            <a:extLst>
              <a:ext uri="{FF2B5EF4-FFF2-40B4-BE49-F238E27FC236}">
                <a16:creationId xmlns:a16="http://schemas.microsoft.com/office/drawing/2014/main" id="{F0C72F17-40F0-F9CD-8B0E-F2E0C7B665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4F20-0F5A-DCA7-0A80-A01B2617AE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DF0C-9FFC-222C-495F-F976BBFD36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ED08-974B-8751-2821-4721403F57C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70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0.03889 L -1.66667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2.59259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9" grpId="0" animBg="1"/>
      <p:bldP spid="18" grpId="0" animBg="1"/>
      <p:bldP spid="19" grpId="0" animBg="1"/>
      <p:bldP spid="3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1E4783-E28F-6DAC-9820-B8921415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6882103 w 12192000"/>
              <a:gd name="connsiteY4" fmla="*/ 6858001 h 6858001"/>
              <a:gd name="connsiteX5" fmla="*/ 0 w 12192000"/>
              <a:gd name="connsiteY5" fmla="*/ 342933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6882103" y="6858001"/>
                </a:lnTo>
                <a:lnTo>
                  <a:pt x="0" y="3429337"/>
                </a:lnTo>
                <a:close/>
              </a:path>
            </a:pathLst>
          </a:custGeom>
          <a:gradFill>
            <a:gsLst>
              <a:gs pos="28000">
                <a:srgbClr val="2F2A95">
                  <a:lumMod val="50000"/>
                  <a:alpha val="0"/>
                </a:srgbClr>
              </a:gs>
              <a:gs pos="98165">
                <a:srgbClr val="2F2A95">
                  <a:lumMod val="50000"/>
                </a:srgbClr>
              </a:gs>
              <a:gs pos="62000">
                <a:srgbClr val="2F2A95">
                  <a:lumMod val="50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tIns="90000" bIns="90000" rtlCol="0" anchor="t">
            <a:no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2A95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3" name="Graphic 2" descr="InterSystems: Creative data technology">
            <a:extLst>
              <a:ext uri="{FF2B5EF4-FFF2-40B4-BE49-F238E27FC236}">
                <a16:creationId xmlns:a16="http://schemas.microsoft.com/office/drawing/2014/main" id="{3D5778B1-72D3-3D37-7816-ADBD37C68EE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24438" y="1917866"/>
            <a:ext cx="2143123" cy="57149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2744788"/>
            <a:ext cx="5486400" cy="1096962"/>
          </a:xfrm>
        </p:spPr>
        <p:txBody>
          <a:bodyPr bIns="108000" anchor="b" anchorCtr="0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65500" y="3967162"/>
            <a:ext cx="5461000" cy="1096963"/>
          </a:xfrm>
        </p:spPr>
        <p:txBody>
          <a:bodyPr tIns="108000" anchor="t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1A2F962-E4A4-1DA4-3FA5-2125F232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973" y="-1761510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Graphic 10">
            <a:extLst>
              <a:ext uri="{FF2B5EF4-FFF2-40B4-BE49-F238E27FC236}">
                <a16:creationId xmlns:a16="http://schemas.microsoft.com/office/drawing/2014/main" id="{625489B4-78EB-10CD-68A8-F338971CD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053337" y="-153887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84FA20C-3951-A719-6C06-43C277C6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1700" y="-1316240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9F93CBF6-1E33-FD41-EAA1-2CE80D707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330065" y="-109360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7407530-492B-CB41-FD56-EA18EBA4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8429" y="-870971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Graphic 10">
            <a:extLst>
              <a:ext uri="{FF2B5EF4-FFF2-40B4-BE49-F238E27FC236}">
                <a16:creationId xmlns:a16="http://schemas.microsoft.com/office/drawing/2014/main" id="{E9211BE1-3C69-4AA8-8A51-3D83983F6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606794" y="-648336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C60D65D-DD95-B536-C036-010C76B47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45158" y="-425701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EB15150-BCEE-3408-D680-1E1F0FC0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1267" y="2998830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1" name="Graphic 10">
            <a:extLst>
              <a:ext uri="{FF2B5EF4-FFF2-40B4-BE49-F238E27FC236}">
                <a16:creationId xmlns:a16="http://schemas.microsoft.com/office/drawing/2014/main" id="{9489480C-274C-BAFF-9CF8-1C0CE00C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769630" y="322146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5C9A61C-7FDB-A2B7-FEB1-13AB67098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07994" y="3444100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Graphic 10">
            <a:extLst>
              <a:ext uri="{FF2B5EF4-FFF2-40B4-BE49-F238E27FC236}">
                <a16:creationId xmlns:a16="http://schemas.microsoft.com/office/drawing/2014/main" id="{96A0FDAD-B7EC-C0B0-6176-F1C39FE8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46359" y="366673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524668BE-9A21-463E-56BB-91F4C02D4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883523" y="-203066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4AB2B88-BEDE-D77E-201C-952A36002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21887" y="1956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44B185F6-BF82-0F9F-841C-03D8A4E5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160252" y="24220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DF4CA17-F7FD-7A98-EC9A-8F854B63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616" y="46483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EA75C024-A1C6-00BC-272C-0ECFEE5B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436980" y="68747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8FF8846-A7A5-3491-A702-FE5528C32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344" y="91010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C94050D7-B4E6-AAA0-63AC-7AA490FC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3709" y="113274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BAA3995-93ED-EA84-DF46-1474FAAE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2074" y="1355377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F8814E9-32FB-0907-6A87-70A5AD25D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4722" y="3889369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42988FB9-D740-533A-EA47-7158F038F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323087" y="411200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E95EFA58-A45B-BD28-A95C-E37D4B3C3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61451" y="4334639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84D53227-7EE7-1769-B43A-E5831C3D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9816" y="455727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E20B0AB9-818A-3D01-C950-EF532383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8180" y="477990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7" name="Graphic 10">
            <a:extLst>
              <a:ext uri="{FF2B5EF4-FFF2-40B4-BE49-F238E27FC236}">
                <a16:creationId xmlns:a16="http://schemas.microsoft.com/office/drawing/2014/main" id="{D7140AF6-DF12-5D9B-48C3-454792A62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876545" y="500254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B014BE5-6286-F6BB-E68A-CDBF92A72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14909" y="522517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9" name="Graphic 10">
            <a:extLst>
              <a:ext uri="{FF2B5EF4-FFF2-40B4-BE49-F238E27FC236}">
                <a16:creationId xmlns:a16="http://schemas.microsoft.com/office/drawing/2014/main" id="{88BA1BCA-43BA-C8E1-0184-BA219348B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53273" y="544781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6076AF90-1D9C-E76A-0679-7146C1DC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91637" y="567044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1" name="Graphic 10">
            <a:extLst>
              <a:ext uri="{FF2B5EF4-FFF2-40B4-BE49-F238E27FC236}">
                <a16:creationId xmlns:a16="http://schemas.microsoft.com/office/drawing/2014/main" id="{E0CC398D-8182-975D-58EB-5BEA5C3EE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430002" y="589308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E5D418A4-45CA-F92D-67E8-973F3D11E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8366" y="6115717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4AA9B-88C8-13CD-DF48-DB328E58A2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5341-3D1F-AF19-E6E6-44F90FC8F3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5/23/25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268FA-6FEE-025D-3F88-771214B6B9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52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293782 0.5895622 E" pathEditMode="relative" ptsTypes="">
                                      <p:cBhvr>
                                        <p:cTn id="2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997164 0.5570988 E" pathEditMode="relative" ptsTypes="">
                                      <p:cBhvr>
                                        <p:cTn id="27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700546 0.5246352 E" pathEditMode="relative" ptsTypes="">
                                      <p:cBhvr>
                                        <p:cTn id="32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03929 0.4921717 E" pathEditMode="relative" ptsTypes="">
                                      <p:cBhvr>
                                        <p:cTn id="37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07313 0.4597082 E" pathEditMode="relative" ptsTypes="">
                                      <p:cBhvr>
                                        <p:cTn id="42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10695 0.4272448 E" pathEditMode="relative" ptsTypes="">
                                      <p:cBhvr>
                                        <p:cTn id="47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0844 0.3298542 E" pathEditMode="relative" ptsTypes="">
                                      <p:cBhvr>
                                        <p:cTn id="52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24227 0.2973906 E" pathEditMode="relative" ptsTypes="">
                                      <p:cBhvr>
                                        <p:cTn id="57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217461 0.3623177 E" pathEditMode="relative" ptsTypes="">
                                      <p:cBhvr>
                                        <p:cTn id="62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4078 0.3947811 E" pathEditMode="relative" ptsTypes="">
                                      <p:cBhvr>
                                        <p:cTn id="67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2761 0.2649271 E" pathEditMode="relative" ptsTypes="">
                                      <p:cBhvr>
                                        <p:cTn id="72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030992 0.2324636 E" pathEditMode="relative" ptsTypes="">
                                      <p:cBhvr>
                                        <p:cTn id="77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734375 0.2 E" pathEditMode="relative" ptsTypes="">
                                      <p:cBhvr>
                                        <p:cTn id="82" dur="15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37758 0.1675365 E" pathEditMode="relative" ptsTypes="">
                                      <p:cBhvr>
                                        <p:cTn id="87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41142 0.1350731 E" pathEditMode="relative" ptsTypes="">
                                      <p:cBhvr>
                                        <p:cTn id="92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11875 -0.13518 " pathEditMode="relative" rAng="0" ptsTypes="AA">
                                      <p:cBhvr>
                                        <p:cTn id="97" dur="1500" spd="-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-675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84633 -0.1675364 E" pathEditMode="relative" ptsTypes="">
                                      <p:cBhvr>
                                        <p:cTn id="102" dur="15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8125 -0.2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077868 -0.2324635 E" pathEditMode="relative" ptsTypes="">
                                      <p:cBhvr>
                                        <p:cTn id="112" dur="150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74485 -0.264927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71103 -0.2973905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719 -0.329854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64336 -0.3623175 E" pathEditMode="relative" ptsTypes="">
                                      <p:cBhvr>
                                        <p:cTn id="132" dur="15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60953 -0.394781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57571 -0.4272446 E" pathEditMode="relative" ptsTypes="">
                                      <p:cBhvr>
                                        <p:cTn id="142" dur="1500" spd="-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54187 -0.45970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450806 -0.4921715 E" pathEditMode="relative" ptsTypes="">
                                      <p:cBhvr>
                                        <p:cTn id="152" dur="150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47422 -0.5246352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44039 -0.5570987 E" pathEditMode="relative" ptsTypes="">
                                      <p:cBhvr>
                                        <p:cTn id="162" dur="150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40656 -0.5895621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3.33333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4" grpId="0" animBg="1"/>
      <p:bldP spid="94" grpId="1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END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3BE562-CC54-E713-F3C4-483C147FEFEF}"/>
              </a:ext>
            </a:extLst>
          </p:cNvPr>
          <p:cNvSpPr/>
          <p:nvPr userDrawn="1"/>
        </p:nvSpPr>
        <p:spPr>
          <a:xfrm>
            <a:off x="571501" y="571500"/>
            <a:ext cx="11049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8000">
                <a:solidFill>
                  <a:schemeClr val="tx1"/>
                </a:solidFill>
                <a:latin typeface="+mj-lt"/>
              </a:rPr>
              <a:t>MASTER END </a:t>
            </a:r>
            <a:br>
              <a:rPr lang="en-US" sz="8000">
                <a:solidFill>
                  <a:schemeClr val="tx1"/>
                </a:solidFill>
                <a:latin typeface="+mj-lt"/>
              </a:rPr>
            </a:br>
            <a:r>
              <a:rPr lang="en-US" sz="8000">
                <a:solidFill>
                  <a:schemeClr val="tx1"/>
                </a:solidFill>
                <a:latin typeface="Verdana" panose="020B0604030504040204" pitchFamily="34" charset="0"/>
              </a:rPr>
              <a:t>DELETE ANY MASTER LAYOUTS BEYOND THIS POINT</a:t>
            </a:r>
            <a:endParaRPr lang="en-US" sz="5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49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0CAED-5146-95B5-AA0C-82EB84FE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0FF8-80F4-FB91-EED3-2B95EB59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4000"/>
            <a:ext cx="11104562" cy="4757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1224-4265-9B42-372F-30A22B4AF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9" y="6492925"/>
            <a:ext cx="8302626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dirty="0">
                <a:latin typeface="Verdana" panose="020B0604030504040204" pitchFamily="34" charset="0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8E69-9E7A-79AE-DEF5-19C280737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75900" y="6492925"/>
            <a:ext cx="1270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smtClean="0">
                <a:latin typeface="Verdana" panose="020B0604030504040204" pitchFamily="34" charset="0"/>
              </a:defRPr>
            </a:lvl1pPr>
          </a:lstStyle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23/05/2025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BAD8-5B8C-5850-0601-3F05CC6FE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074" y="6492925"/>
            <a:ext cx="5429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lang="en-US" sz="1000" b="0" smtClean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465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0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FA489"/>
          </p15:clr>
        </p15:guide>
        <p15:guide id="2" pos="7680">
          <p15:clr>
            <a:srgbClr val="FFA489"/>
          </p15:clr>
        </p15:guide>
        <p15:guide id="3" pos="344">
          <p15:clr>
            <a:srgbClr val="FFA489"/>
          </p15:clr>
        </p15:guide>
        <p15:guide id="4" pos="1144">
          <p15:clr>
            <a:srgbClr val="FFA489"/>
          </p15:clr>
        </p15:guide>
        <p15:guide id="5" pos="1224">
          <p15:clr>
            <a:srgbClr val="FFA489"/>
          </p15:clr>
        </p15:guide>
        <p15:guide id="6" pos="2032">
          <p15:clr>
            <a:srgbClr val="FFA489"/>
          </p15:clr>
        </p15:guide>
        <p15:guide id="7" pos="2112">
          <p15:clr>
            <a:srgbClr val="FFA489"/>
          </p15:clr>
        </p15:guide>
        <p15:guide id="8" pos="2912">
          <p15:clr>
            <a:srgbClr val="FFA489"/>
          </p15:clr>
        </p15:guide>
        <p15:guide id="9" pos="2992">
          <p15:clr>
            <a:srgbClr val="FFA489"/>
          </p15:clr>
        </p15:guide>
        <p15:guide id="10" pos="3800">
          <p15:clr>
            <a:srgbClr val="FFA489"/>
          </p15:clr>
        </p15:guide>
        <p15:guide id="11" pos="3880">
          <p15:clr>
            <a:srgbClr val="FFA489"/>
          </p15:clr>
        </p15:guide>
        <p15:guide id="12" pos="4688">
          <p15:clr>
            <a:srgbClr val="FFA489"/>
          </p15:clr>
        </p15:guide>
        <p15:guide id="13" pos="4768">
          <p15:clr>
            <a:srgbClr val="FFA489"/>
          </p15:clr>
        </p15:guide>
        <p15:guide id="14" pos="5568">
          <p15:clr>
            <a:srgbClr val="FFA489"/>
          </p15:clr>
        </p15:guide>
        <p15:guide id="15" pos="5648">
          <p15:clr>
            <a:srgbClr val="FFA489"/>
          </p15:clr>
        </p15:guide>
        <p15:guide id="16" pos="6456">
          <p15:clr>
            <a:srgbClr val="FFA489"/>
          </p15:clr>
        </p15:guide>
        <p15:guide id="17" pos="6536">
          <p15:clr>
            <a:srgbClr val="FFA489"/>
          </p15:clr>
        </p15:guide>
        <p15:guide id="18" pos="7336">
          <p15:clr>
            <a:srgbClr val="FFA489"/>
          </p15:clr>
        </p15:guide>
        <p15:guide id="19" orient="horz">
          <p15:clr>
            <a:srgbClr val="FFA489"/>
          </p15:clr>
        </p15:guide>
        <p15:guide id="20" orient="horz" pos="4320">
          <p15:clr>
            <a:srgbClr val="FFA489"/>
          </p15:clr>
        </p15:guide>
        <p15:guide id="21" orient="horz" pos="224">
          <p15:clr>
            <a:srgbClr val="FFA489"/>
          </p15:clr>
        </p15:guide>
        <p15:guide id="22" orient="horz" pos="3960">
          <p15:clr>
            <a:srgbClr val="FFA489"/>
          </p15:clr>
        </p15:guide>
        <p15:guide id="23" orient="horz" pos="720">
          <p15:clr>
            <a:srgbClr val="FFA489"/>
          </p15:clr>
        </p15:guide>
        <p15:guide id="24" orient="horz" pos="960">
          <p15:clr>
            <a:srgbClr val="FFA489"/>
          </p15:clr>
        </p15:guide>
        <p15:guide id="25" orient="horz" pos="1650">
          <p15:clr>
            <a:srgbClr val="FFA489"/>
          </p15:clr>
        </p15:guide>
        <p15:guide id="26" orient="horz" pos="1729">
          <p15:clr>
            <a:srgbClr val="FFA489"/>
          </p15:clr>
        </p15:guide>
        <p15:guide id="27" orient="horz" pos="2420">
          <p15:clr>
            <a:srgbClr val="FFA489"/>
          </p15:clr>
        </p15:guide>
        <p15:guide id="28" orient="horz" pos="2499">
          <p15:clr>
            <a:srgbClr val="FFA489"/>
          </p15:clr>
        </p15:guide>
        <p15:guide id="29" orient="horz" pos="3190">
          <p15:clr>
            <a:srgbClr val="FFA489"/>
          </p15:clr>
        </p15:guide>
        <p15:guide id="30" orient="horz" pos="3269">
          <p15:clr>
            <a:srgbClr val="FFA48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ri.tistory.com/307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j.com/content/357/bmj.j1390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/3.0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FBFD7-AA60-6502-6103-489CAFD0C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100" y="1292772"/>
            <a:ext cx="7023100" cy="3993931"/>
          </a:xfrm>
        </p:spPr>
        <p:txBody>
          <a:bodyPr>
            <a:normAutofit fontScale="90000"/>
          </a:bodyPr>
          <a:lstStyle/>
          <a:p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Lab: Large Language Models (LLMs)  – Using RAG in FHIR Applications</a:t>
            </a:r>
            <a:br>
              <a:rPr lang="en-US" sz="3100" dirty="0"/>
            </a:br>
            <a:br>
              <a:rPr lang="en-US" dirty="0"/>
            </a:br>
            <a:r>
              <a:rPr lang="en-US" sz="2700" dirty="0"/>
              <a:t>Patrick W. Jamieson, M.D.</a:t>
            </a:r>
            <a:br>
              <a:rPr lang="en-US" sz="2700" dirty="0"/>
            </a:br>
            <a:r>
              <a:rPr lang="en-US" sz="2700" dirty="0"/>
              <a:t>Technical Product Manager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Russ Leftwich, M.D.</a:t>
            </a:r>
            <a:br>
              <a:rPr lang="en-US" sz="2700" dirty="0"/>
            </a:br>
            <a:r>
              <a:rPr lang="en-US" sz="2700" dirty="0"/>
              <a:t>Senior Clinical Advisor, Interoperability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C32A43-8C09-AEAD-3C75-BFC55D69E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en-US" sz="3200" dirty="0">
                <a:solidFill>
                  <a:schemeClr val="accent1"/>
                </a:solidFill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056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374D-B334-3F86-CBF0-1B6640CE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LAB THEME: USING RAG TO IMPROVE LLM PERFORMANCE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34177-E6C0-2730-1427-435AD7414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3999"/>
            <a:ext cx="5486400" cy="109537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Retrieval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A2BE7-54DB-ABEC-E180-F896311D2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6100" y="2744788"/>
            <a:ext cx="5486400" cy="35417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Definition: Combines retrieval of external knowledge with generative LLMs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Motivation: Address hallucinations with limited context windows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Core Idea: “Fetch relevant docs → condition LLM on them → generate”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15" name="Picture Placeholder 14" descr="A light bulb with a brain inside&#10;&#10;AI-generated content may be incorrect.">
            <a:extLst>
              <a:ext uri="{FF2B5EF4-FFF2-40B4-BE49-F238E27FC236}">
                <a16:creationId xmlns:a16="http://schemas.microsoft.com/office/drawing/2014/main" id="{B40D0294-D840-6BD3-444D-509E396E0C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911357" y="2071686"/>
            <a:ext cx="2328674" cy="3541711"/>
          </a:xfrm>
          <a:noFill/>
        </p:spPr>
      </p:pic>
    </p:spTree>
    <p:extLst>
      <p:ext uri="{BB962C8B-B14F-4D97-AF65-F5344CB8AC3E}">
        <p14:creationId xmlns:p14="http://schemas.microsoft.com/office/powerpoint/2010/main" val="317653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232E96-170C-52FA-001A-0D1C2EF9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RAG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7A94A5-83CE-1976-A752-1B8DF71BB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Retriever: Vector‐based or sparse index to pull top K documents</a:t>
            </a:r>
          </a:p>
          <a:p>
            <a:pPr>
              <a:spcAft>
                <a:spcPts val="600"/>
              </a:spcAft>
            </a:pPr>
            <a:r>
              <a:rPr lang="en-US" dirty="0"/>
              <a:t>Index Store: Embeddings database (e.g., FAISS, Elasticsearch, Redis)</a:t>
            </a:r>
          </a:p>
          <a:p>
            <a:pPr>
              <a:spcAft>
                <a:spcPts val="600"/>
              </a:spcAft>
            </a:pPr>
            <a:r>
              <a:rPr lang="en-US" dirty="0"/>
              <a:t>Reader/Generator: LLM (e.g., GPT-4, Llama) that uses retrieved context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11" name="Picture 10" descr="A blueprint on a black background&#10;&#10;AI-generated content may be incorrect.">
            <a:extLst>
              <a:ext uri="{FF2B5EF4-FFF2-40B4-BE49-F238E27FC236}">
                <a16:creationId xmlns:a16="http://schemas.microsoft.com/office/drawing/2014/main" id="{2EE4130D-F378-6F70-2C3F-5C316FE2E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43" y="2317750"/>
            <a:ext cx="5080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933719-8FBD-30CB-6CF8-9F3298DA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RAG Workflow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A5330-4855-2AA5-151F-337E946AA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Embed Query: Compute query embedding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Retrieve Documents: Cosine similarity search to vectors in a vector store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Context Assembly: Concatenate top K docs with prompt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Generate Answer: LLM produces response grounded on retrieved text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21" name="Picture 20" descr="A diagram of a data flow&#10;&#10;AI-generated content may be incorrect.">
            <a:extLst>
              <a:ext uri="{FF2B5EF4-FFF2-40B4-BE49-F238E27FC236}">
                <a16:creationId xmlns:a16="http://schemas.microsoft.com/office/drawing/2014/main" id="{CE46EBD7-A3D5-36E2-2AC8-1B00407F0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66453" y="1524000"/>
            <a:ext cx="4715032" cy="270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3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D347-AE78-B76F-2751-8C02E8E0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Benefits &amp;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B11C1-E948-0D8B-CCCC-569D491B2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400" dirty="0"/>
              <a:t>Benefits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factuality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Larger effective knowledge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Dynamic, updatable content without full model retrain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01A29-08BE-22D8-7AF5-198F185FB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Challenges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Latency overhead of retrieval</a:t>
            </a:r>
          </a:p>
          <a:p>
            <a:r>
              <a:rPr lang="en-US" sz="2400" dirty="0"/>
              <a:t>Prompt‐engineering for context length</a:t>
            </a:r>
          </a:p>
          <a:p>
            <a:r>
              <a:rPr lang="en-US" sz="2400" dirty="0"/>
              <a:t>Handling contradictory 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30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DD95-FD22-73E6-3432-9413CF09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Challenge One – Creating Semantic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B042-9C3F-D59A-3680-B3C747C78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have been asked to build a simple proof of concept application to encode patient summaries as semantic vectors and then create a query application that uses cosine similarity. The patient summaries with the highest similarity score should be returned at the top.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Six clinical summaries in free text are provided. </a:t>
            </a:r>
          </a:p>
        </p:txBody>
      </p:sp>
    </p:spTree>
    <p:extLst>
      <p:ext uri="{BB962C8B-B14F-4D97-AF65-F5344CB8AC3E}">
        <p14:creationId xmlns:p14="http://schemas.microsoft.com/office/powerpoint/2010/main" val="3520484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CB7B-AFDF-39B5-58D3-F1EFE677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Environment &amp;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10F4-CE9D-0C2A-62D9-20A07340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Setup python virtual environment</a:t>
            </a:r>
          </a:p>
          <a:p>
            <a:pPr>
              <a:spcAft>
                <a:spcPts val="600"/>
              </a:spcAft>
            </a:pPr>
            <a:r>
              <a:rPr lang="en-US" dirty="0"/>
              <a:t>pip install sentence-transformers </a:t>
            </a:r>
            <a:r>
              <a:rPr lang="en-US" dirty="0" err="1"/>
              <a:t>tiktoken</a:t>
            </a:r>
            <a:r>
              <a:rPr lang="en-US" dirty="0"/>
              <a:t> </a:t>
            </a:r>
            <a:r>
              <a:rPr lang="en-US" dirty="0" err="1"/>
              <a:t>numpy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81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8DCC-FE91-F0E4-CD30-32FE6C3C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Functions You Will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CBD0B-77EB-59DD-4F90-DD326124F5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Index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build_index</a:t>
            </a:r>
            <a:r>
              <a:rPr lang="en-US" dirty="0"/>
              <a:t>(model, summaries):</a:t>
            </a:r>
          </a:p>
          <a:p>
            <a:pPr marL="0" indent="0">
              <a:buNone/>
            </a:pPr>
            <a:r>
              <a:rPr lang="en-US" dirty="0"/>
              <a:t>index = []</a:t>
            </a:r>
          </a:p>
          <a:p>
            <a:pPr marL="0" indent="0">
              <a:buNone/>
            </a:pPr>
            <a:r>
              <a:rPr lang="en-US" dirty="0"/>
              <a:t>for s in summaries:</a:t>
            </a:r>
          </a:p>
          <a:p>
            <a:pPr marL="0" indent="0">
              <a:buNone/>
            </a:pPr>
            <a:r>
              <a:rPr lang="en-US" dirty="0" err="1"/>
              <a:t>vec</a:t>
            </a:r>
            <a:r>
              <a:rPr lang="en-US" dirty="0"/>
              <a:t>, count = </a:t>
            </a:r>
            <a:r>
              <a:rPr lang="en-US" dirty="0" err="1"/>
              <a:t>embed_text</a:t>
            </a:r>
            <a:r>
              <a:rPr lang="en-US" dirty="0"/>
              <a:t>(model, s["text"])</a:t>
            </a:r>
          </a:p>
          <a:p>
            <a:pPr marL="0" indent="0">
              <a:buNone/>
            </a:pPr>
            <a:r>
              <a:rPr lang="en-US" dirty="0" err="1"/>
              <a:t>index.append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"id": s["id"],</a:t>
            </a:r>
          </a:p>
          <a:p>
            <a:pPr marL="0" indent="0">
              <a:buNone/>
            </a:pPr>
            <a:r>
              <a:rPr lang="en-US" dirty="0"/>
              <a:t>"text": s["text"],</a:t>
            </a:r>
          </a:p>
          <a:p>
            <a:pPr marL="0" indent="0">
              <a:buNone/>
            </a:pPr>
            <a:r>
              <a:rPr lang="en-US" dirty="0"/>
              <a:t>"embedding": </a:t>
            </a:r>
            <a:r>
              <a:rPr lang="en-US" dirty="0" err="1"/>
              <a:t>np.array</a:t>
            </a:r>
            <a:r>
              <a:rPr lang="en-US" dirty="0"/>
              <a:t>(</a:t>
            </a:r>
            <a:r>
              <a:rPr lang="en-US" dirty="0" err="1"/>
              <a:t>vec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"tokens": count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r>
              <a:rPr lang="en-US" dirty="0"/>
              <a:t>return index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9B773-CCA7-7CAE-3750-F14B0E856D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Search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search(query: str, model, index, top_k=1):</a:t>
            </a:r>
          </a:p>
          <a:p>
            <a:pPr marL="0" indent="0">
              <a:buNone/>
            </a:pPr>
            <a:r>
              <a:rPr lang="en-US" dirty="0" err="1"/>
              <a:t>q_vec</a:t>
            </a:r>
            <a:r>
              <a:rPr lang="en-US" dirty="0"/>
              <a:t>, _ = </a:t>
            </a:r>
            <a:r>
              <a:rPr lang="en-US" dirty="0" err="1"/>
              <a:t>embed_text</a:t>
            </a:r>
            <a:r>
              <a:rPr lang="en-US" dirty="0"/>
              <a:t>(model, query)</a:t>
            </a:r>
          </a:p>
          <a:p>
            <a:pPr marL="0" indent="0">
              <a:buNone/>
            </a:pPr>
            <a:r>
              <a:rPr lang="en-US" dirty="0" err="1"/>
              <a:t>q_vec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</a:t>
            </a:r>
            <a:r>
              <a:rPr lang="en-US" dirty="0" err="1"/>
              <a:t>q_vec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# compute similarity against each indexed summary</a:t>
            </a:r>
          </a:p>
          <a:p>
            <a:pPr marL="0" indent="0">
              <a:buNone/>
            </a:pPr>
            <a:r>
              <a:rPr lang="en-US" dirty="0"/>
              <a:t>sims = [</a:t>
            </a:r>
          </a:p>
          <a:p>
            <a:pPr marL="0" indent="0">
              <a:buNone/>
            </a:pPr>
            <a:r>
              <a:rPr lang="en-US" dirty="0"/>
              <a:t>(item["id"], </a:t>
            </a:r>
            <a:r>
              <a:rPr lang="en-US" dirty="0" err="1"/>
              <a:t>cosine_sim</a:t>
            </a:r>
            <a:r>
              <a:rPr lang="en-US" dirty="0"/>
              <a:t>(</a:t>
            </a:r>
            <a:r>
              <a:rPr lang="en-US" dirty="0" err="1"/>
              <a:t>q_vec</a:t>
            </a:r>
            <a:r>
              <a:rPr lang="en-US" dirty="0"/>
              <a:t>, item["embedding"]))</a:t>
            </a:r>
          </a:p>
          <a:p>
            <a:pPr marL="0" indent="0">
              <a:buNone/>
            </a:pPr>
            <a:r>
              <a:rPr lang="en-US" dirty="0"/>
              <a:t>for item in index</a:t>
            </a:r>
          </a:p>
          <a:p>
            <a:pPr marL="0" indent="0">
              <a:buNone/>
            </a:pP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sims = sorted(sims, key=lambda x: x[1], reverse=True)</a:t>
            </a:r>
          </a:p>
          <a:p>
            <a:pPr marL="0" indent="0">
              <a:buNone/>
            </a:pPr>
            <a:r>
              <a:rPr lang="en-US" dirty="0"/>
              <a:t>return sims[:top_k]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670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FFA508-05FF-3444-E2E9-58C6924E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200" dirty="0"/>
              <a:t>Why Do We Count Tokens?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12697-EF2B-C038-669F-3A8993B63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def </a:t>
            </a:r>
            <a:r>
              <a:rPr lang="en-US" sz="2400" dirty="0" err="1"/>
              <a:t>embed_text</a:t>
            </a:r>
            <a:r>
              <a:rPr lang="en-US" sz="2400" dirty="0"/>
              <a:t>(model, text):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enc = </a:t>
            </a:r>
            <a:r>
              <a:rPr lang="en-US" sz="2400" dirty="0" err="1"/>
              <a:t>tiktoken.encoding_for_model</a:t>
            </a:r>
            <a:r>
              <a:rPr lang="en-US" sz="2400" dirty="0"/>
              <a:t>("gpt-3.5-turbo")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tokens = </a:t>
            </a:r>
            <a:r>
              <a:rPr lang="en-US" sz="2400" dirty="0" err="1"/>
              <a:t>enc.encode</a:t>
            </a:r>
            <a:r>
              <a:rPr lang="en-US" sz="2400" dirty="0"/>
              <a:t>(text)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 err="1"/>
              <a:t>vec</a:t>
            </a:r>
            <a:r>
              <a:rPr lang="en-US" sz="2400" dirty="0"/>
              <a:t> = </a:t>
            </a:r>
            <a:r>
              <a:rPr lang="en-US" sz="2400" dirty="0" err="1"/>
              <a:t>model.encode</a:t>
            </a:r>
            <a:r>
              <a:rPr lang="en-US" sz="2400" dirty="0"/>
              <a:t>(text).</a:t>
            </a:r>
            <a:r>
              <a:rPr lang="en-US" sz="2400" dirty="0" err="1"/>
              <a:t>tolist</a:t>
            </a:r>
            <a:r>
              <a:rPr lang="en-US" sz="2400" dirty="0"/>
              <a:t>()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return </a:t>
            </a:r>
            <a:r>
              <a:rPr lang="en-US" sz="2400" dirty="0" err="1"/>
              <a:t>vec</a:t>
            </a:r>
            <a:r>
              <a:rPr lang="en-US" sz="2400" dirty="0"/>
              <a:t>, </a:t>
            </a:r>
            <a:r>
              <a:rPr lang="en-US" sz="2400" dirty="0" err="1"/>
              <a:t>len</a:t>
            </a:r>
            <a:r>
              <a:rPr lang="en-US" sz="2400" dirty="0"/>
              <a:t>(tokens)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10" name="Content Placeholder 9" descr="A close-up of a number&#10;&#10;AI-generated content may be incorrect.">
            <a:extLst>
              <a:ext uri="{FF2B5EF4-FFF2-40B4-BE49-F238E27FC236}">
                <a16:creationId xmlns:a16="http://schemas.microsoft.com/office/drawing/2014/main" id="{1E80739D-F627-D8A0-3F3F-86FF4B166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9500" y="2414778"/>
            <a:ext cx="5486400" cy="2980944"/>
          </a:xfrm>
          <a:noFill/>
        </p:spPr>
      </p:pic>
    </p:spTree>
    <p:extLst>
      <p:ext uri="{BB962C8B-B14F-4D97-AF65-F5344CB8AC3E}">
        <p14:creationId xmlns:p14="http://schemas.microsoft.com/office/powerpoint/2010/main" val="285650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AD7E-8401-5E18-2657-7083B864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t">
            <a:normAutofit/>
          </a:bodyPr>
          <a:lstStyle/>
          <a:p>
            <a:r>
              <a:rPr lang="en-US" sz="3600" dirty="0"/>
              <a:t>Sample Query &amp; Expected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46F9-F5EE-4231-E312-AC51E758CA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100" y="1143000"/>
            <a:ext cx="11099800" cy="4343400"/>
          </a:xfrm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/>
              <a:t>Query: “find a middle-aged diabetic with an elevated A1c”</a:t>
            </a:r>
          </a:p>
          <a:p>
            <a:pPr algn="ctr">
              <a:spcAft>
                <a:spcPts val="600"/>
              </a:spcAft>
            </a:pPr>
            <a:r>
              <a:rPr lang="en-US" sz="2400" dirty="0"/>
              <a:t>Expected: Patient C has a match score of 0.6905</a:t>
            </a:r>
          </a:p>
        </p:txBody>
      </p:sp>
    </p:spTree>
    <p:extLst>
      <p:ext uri="{BB962C8B-B14F-4D97-AF65-F5344CB8AC3E}">
        <p14:creationId xmlns:p14="http://schemas.microsoft.com/office/powerpoint/2010/main" val="55302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156D-66B6-295B-80D0-BB5CB080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3776-A4A3-B5D2-A0D7-0E1A62C43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Mrs. Thompson is a healthy 45-year-old woman who presents for her annual wellness</a:t>
            </a:r>
          </a:p>
          <a:p>
            <a:pPr marL="0" indent="0">
              <a:buNone/>
            </a:pPr>
            <a:r>
              <a:rPr lang="en-US" dirty="0"/>
              <a:t>examination. She reports no new complaints and feels well overall. </a:t>
            </a:r>
          </a:p>
          <a:p>
            <a:pPr marL="0" indent="0">
              <a:buNone/>
            </a:pPr>
            <a:r>
              <a:rPr lang="en-US" dirty="0"/>
              <a:t>Her past medical history is notable only for mild seasonal allergies</a:t>
            </a:r>
          </a:p>
          <a:p>
            <a:pPr marL="0" indent="0">
              <a:buNone/>
            </a:pPr>
            <a:r>
              <a:rPr lang="en-US" dirty="0"/>
              <a:t>managed with over-the-counter antihistamines. </a:t>
            </a:r>
          </a:p>
          <a:p>
            <a:pPr marL="0" indent="0">
              <a:buNone/>
            </a:pPr>
            <a:r>
              <a:rPr lang="en-US" dirty="0"/>
              <a:t>She exercises three times per week with moderate intensity,</a:t>
            </a:r>
          </a:p>
          <a:p>
            <a:pPr marL="0" indent="0">
              <a:buNone/>
            </a:pPr>
            <a:r>
              <a:rPr lang="en-US" dirty="0"/>
              <a:t>maintains a balanced diet, and does not smoke or drink alcohol.</a:t>
            </a:r>
          </a:p>
          <a:p>
            <a:pPr marL="0" indent="0">
              <a:buNone/>
            </a:pPr>
            <a:r>
              <a:rPr lang="en-US" dirty="0"/>
              <a:t>Vital signs today are all within normal limits: </a:t>
            </a:r>
          </a:p>
          <a:p>
            <a:pPr marL="0" indent="0">
              <a:buNone/>
            </a:pPr>
            <a:r>
              <a:rPr lang="en-US" dirty="0"/>
              <a:t>BP 118/72 mm Hg, HR 72 bpm, RR 14 breaths/min, T 98.4 °F, BMI 23.</a:t>
            </a:r>
          </a:p>
          <a:p>
            <a:pPr marL="0" indent="0">
              <a:buNone/>
            </a:pPr>
            <a:r>
              <a:rPr lang="en-US" dirty="0"/>
              <a:t>She is up to date on all age-appropriate screenings, </a:t>
            </a:r>
          </a:p>
          <a:p>
            <a:pPr marL="0" indent="0">
              <a:buNone/>
            </a:pPr>
            <a:r>
              <a:rPr lang="en-US" dirty="0"/>
              <a:t>including a mammogram last year and colonoscopy at age 40,</a:t>
            </a:r>
          </a:p>
          <a:p>
            <a:pPr marL="0" indent="0">
              <a:buNone/>
            </a:pPr>
            <a:r>
              <a:rPr lang="en-US" dirty="0"/>
              <a:t>both with unremarkable findings. </a:t>
            </a:r>
          </a:p>
          <a:p>
            <a:pPr marL="0" indent="0">
              <a:buNone/>
            </a:pPr>
            <a:r>
              <a:rPr lang="en-US" dirty="0"/>
              <a:t>Physical exam is benign: clear lungs, regular heart sounds without murmurs,</a:t>
            </a:r>
          </a:p>
          <a:p>
            <a:pPr marL="0" indent="0">
              <a:buNone/>
            </a:pPr>
            <a:r>
              <a:rPr lang="en-US" dirty="0"/>
              <a:t>soft non-tender abdomen, no peripheral edema.</a:t>
            </a:r>
          </a:p>
          <a:p>
            <a:pPr marL="0" indent="0">
              <a:buNone/>
            </a:pPr>
            <a:r>
              <a:rPr lang="en-US" dirty="0"/>
              <a:t>Preventive recommendations include continued exercise,</a:t>
            </a:r>
          </a:p>
          <a:p>
            <a:pPr marL="0" indent="0">
              <a:buNone/>
            </a:pPr>
            <a:r>
              <a:rPr lang="en-US" dirty="0"/>
              <a:t>a Mediterranean-style diet, and routine follow-up in one year.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99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8212-29B6-249C-4565-4BB3591F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3140-9880-7DEA-5739-6CBF19EB5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6DEA6-C90C-2C8C-4C5E-988985B76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Mr. Patel is a 30-year-old male who comes in for a routine physical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required by his employer. He denies any symptoms such as chest pain,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dyspnea, or gastrointestinal upset. He has no significant past medical history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takes no prescription medications.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He follows a plant-forward diet, jogs 5 km three times a week,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practices yoga on weekends. He does not smoke, drinks socially,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works a desk job. Today’s vitals: BP 115/70 mm Hg, HR 68 bpm, RR 12 breaths/min,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T 97.9 °F, BMI 22. On exam, his cardiovascular, pulmonary, abdominal,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neurological exams are within normal limits.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Laboratory tests drawn today include lipid panel, CMP, and CBC;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results are expected to return within normal ranges.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He is counseled on stress management techniques and schedules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his next annual exam in 12 months.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8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2334-C3A2-1517-637C-9E80A113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349E-07B5-8679-2717-82302E8B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Three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6140A-D2A5-6CD2-A391-AE3015BC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Mr. Garcia is a 56-year-old man with a 5-year history of type 2 diabetes mellitus,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presenting for routine follow-up. He reports occasional fasting blood sugar readings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in the 140–150 mg/dL range and postprandial values up to 200 mg/dL.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He’s on metformin 1000 mg BID and glipizide 5 mg daily.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He admits to reduced physical activity over the past three months due to knee pain.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Diet adherence is variable, with frequent high-carbohydrate snacks.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Vitals: BP 132/80 mm Hg, HR 78 bpm, RR 16 breaths/min, T 98.2 °F, BMI 29.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Foot exam shows no ulcers but reduced sensation to monofilament testing bilaterally.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Labs from last visit: A1c 8.2 %. Today, labs are drawn for A1c,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lipid profile, and renal function. Plan: increase metformin to 1000 mg TID,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refer to physical therapy for knee strengthening,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reinforce dietary counseling with a nutritionist,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schedule a diabetes education class. Follow-up in 3 months.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79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7AB4-97BE-1C22-7DB2-26BEC07C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8339-D5A7-9F46-5D81-69D53A3E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Four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078E-6BA2-C14E-B8F7-FEF06EC81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Ms. Lee is a 48-year-old woman referred for evaluation of newly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diagnosed type 2 diabetes. She reports polyuria, polydipsia,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unintentional 8-lb weight loss over the past two months.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Family history is positive for diabetes in both parents. Her current medications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include lisinopril 10 mg daily for hypertension.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She exercises infrequently and follows a high-carb diet.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Vital signs: BP 140/88 mm Hg, HR 82 bpm, RR 18 breaths/min, T 98.6 °F, BMI 31.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Labs drawn today show fasting glucose 160 mg/dL, A1c 8.5 %.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Exam reveals no acanthosis nigricans; foot exam is normal.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Plan: start metformin 500 mg BID, refer for dietary counseling,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encourage brisk walking 30 minutes/day, order repeat labs in 6 weeks,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schedule diabetes self-management education.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Discussed signs of hypoglycemia and when to seek urgent care.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7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A3C7-7ABB-4D58-3AD1-28743CF1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222D-4E13-D4BD-0A9E-32108485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Five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5D6D3-CCD8-8604-1479-F23079283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Mr. Johnson is a 72-year-old man with chronic systolic congestive heart failure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(EF 35 %) presenting for routine follow-up.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He reports mild exertional dyspnea when climbing two flights of stairs,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no orthopnea or PND. He takes lisinopril 20 mg daily,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carvedilol 12.5 mg BID, and furosemide 40 mg daily.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He weighs himself daily; he notes a 2 </a:t>
            </a:r>
            <a:r>
              <a:rPr lang="en-US" b="0" dirty="0" err="1">
                <a:effectLst/>
                <a:latin typeface="+mn-lt"/>
              </a:rPr>
              <a:t>lb</a:t>
            </a:r>
            <a:r>
              <a:rPr lang="en-US" b="0" dirty="0">
                <a:effectLst/>
                <a:latin typeface="+mn-lt"/>
              </a:rPr>
              <a:t> increase over the past week.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Diet is low in sodium but occasional lapses.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Vitals: BP 110/68 mm Hg, HR 64 bpm, RR 16 breaths/min,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T 98.0 °F; weight 180 </a:t>
            </a:r>
            <a:r>
              <a:rPr lang="en-US" b="0" dirty="0" err="1">
                <a:effectLst/>
                <a:latin typeface="+mn-lt"/>
              </a:rPr>
              <a:t>lb</a:t>
            </a:r>
            <a:r>
              <a:rPr lang="en-US" b="0" dirty="0">
                <a:effectLst/>
                <a:latin typeface="+mn-lt"/>
              </a:rPr>
              <a:t> (was 178 last visit). Physical exam reveals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mild bibasilar crackles and trace peripheral edema.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Labs show stable renal function and potassium 4.2 </a:t>
            </a:r>
            <a:r>
              <a:rPr lang="en-US" b="0" dirty="0" err="1">
                <a:effectLst/>
                <a:latin typeface="+mn-lt"/>
              </a:rPr>
              <a:t>mEq</a:t>
            </a:r>
            <a:r>
              <a:rPr lang="en-US" b="0" dirty="0">
                <a:effectLst/>
                <a:latin typeface="+mn-lt"/>
              </a:rPr>
              <a:t>/L.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Plan: increase furosemide to 60 mg daily for one week,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reinforce sodium restriction, schedule echocardiogram in 3 months,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arrange home health nursing to monitor weight and symptoms. Follow-up in 4 weeks.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324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DF94-14E9-617A-9068-8FDD0B0DE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EF7B-F653-2C9F-D7AD-9365A032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Six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CF86-B9D5-0C60-3DA6-63A010154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Mrs. Davis is a 68-year-old woman with heart failure with reduced ejection fraction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(LVEF 30 %) presenting with worsening dyspnea and lower extremity swelling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over the past five days. She notes orthopnea requiring two pillows and 2 + pitting edema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to mid-calves. Her regimen includes enalapril 10 mg BID,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metoprolol succinate 50 mg daily, and spironolactone 25 mg daily.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She admits to skipping her morning dose of furosemide last week.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Vitals: BP 100/60 mm Hg, HR 88 bpm, RR 20 breaths/min, T 98.3 °F; 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weight up 5 </a:t>
            </a:r>
            <a:r>
              <a:rPr lang="en-US" b="0" dirty="0" err="1">
                <a:effectLst/>
                <a:latin typeface="+mn-lt"/>
              </a:rPr>
              <a:t>lb</a:t>
            </a:r>
            <a:r>
              <a:rPr lang="en-US" b="0" dirty="0">
                <a:effectLst/>
                <a:latin typeface="+mn-lt"/>
              </a:rPr>
              <a:t> since last week. Exam: jugular venous distension, bibasilar crackles,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3 + edema bilaterally. Labs show mild hyponatremia and rising creatinine.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Plan: admit for IV diuresis, restart home diuretics upon discharge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with closer monitoring, educate on daily weights and medication adherence,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b="0" dirty="0">
                <a:effectLst/>
                <a:latin typeface="+mn-lt"/>
              </a:rPr>
              <a:t>and schedule close outpatient follow-up.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936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D584-07B5-7465-550E-FDDE0DA0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80" y="365125"/>
            <a:ext cx="10495943" cy="777875"/>
          </a:xfrm>
        </p:spPr>
        <p:txBody>
          <a:bodyPr/>
          <a:lstStyle/>
          <a:p>
            <a:pPr algn="ctr"/>
            <a:r>
              <a:rPr lang="en-US" sz="2800" dirty="0"/>
              <a:t>Challenge Two (A) – Create Hybrid Vector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CC0F3-4ADB-D892-8BB6-C4604D6B8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>
              <a:buNone/>
            </a:pPr>
            <a:r>
              <a:rPr lang="en-US" sz="2000" dirty="0"/>
              <a:t>Store all the vectors you created in step one using IRIS for Health. Create a “hybrid” table consisting of a vector column and two text columns.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The table definition should look like this: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CREATE TABLE PatientSummaryVectors (</a:t>
            </a:r>
          </a:p>
          <a:p>
            <a:pPr marL="914400" lvl="2" indent="0">
              <a:buNone/>
            </a:pPr>
            <a:r>
              <a:rPr lang="en-US" sz="2000" dirty="0" err="1"/>
              <a:t>summary_id</a:t>
            </a:r>
            <a:r>
              <a:rPr lang="en-US" sz="2000" dirty="0"/>
              <a:t> VARCHAR(10) PRIMARY KEY,</a:t>
            </a:r>
          </a:p>
          <a:p>
            <a:pPr marL="914400" lvl="2" indent="0">
              <a:buNone/>
            </a:pPr>
            <a:r>
              <a:rPr lang="en-US" sz="2000" dirty="0" err="1"/>
              <a:t>summary_text</a:t>
            </a:r>
            <a:r>
              <a:rPr lang="en-US" sz="2000" dirty="0"/>
              <a:t> VARCHAR(4000),</a:t>
            </a:r>
          </a:p>
          <a:p>
            <a:pPr marL="914400" lvl="2" indent="0">
              <a:buNone/>
            </a:pPr>
            <a:r>
              <a:rPr lang="en-US" sz="2000" dirty="0"/>
              <a:t>embedding VECTOR(DOUBLE, 768)</a:t>
            </a:r>
          </a:p>
          <a:p>
            <a:pPr marL="914400" lvl="2" indent="0">
              <a:buNone/>
            </a:pPr>
            <a:r>
              <a:rPr lang="en-US" sz="2000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6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EEF56-B0F5-CE5B-E22D-F13AD046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67D8-F789-D481-13D9-35641E35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Challenge Two(B) – CREATE A HNSW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F0C33-99AB-120E-BD43-DE9B935E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 marL="914400" lvl="2" indent="0">
              <a:spcAft>
                <a:spcPts val="600"/>
              </a:spcAft>
              <a:buNone/>
            </a:pPr>
            <a:r>
              <a:rPr lang="en-US" sz="2000" dirty="0"/>
              <a:t>Create a Hierarchical Navigable Small World (HNSW) to speed up search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The index will look like this: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dirty="0">
                <a:effectLst/>
              </a:rPr>
              <a:t>CREATE INDEX idx_summary_vectors</a:t>
            </a:r>
          </a:p>
          <a:p>
            <a:pPr marL="914400" lvl="2" indent="0">
              <a:spcAft>
                <a:spcPts val="600"/>
              </a:spcAft>
              <a:buNone/>
            </a:pPr>
            <a:r>
              <a:rPr lang="en-US" sz="2000" b="0" dirty="0">
                <a:effectLst/>
              </a:rPr>
              <a:t>ON PatientSummaryVectors (embedding)</a:t>
            </a:r>
          </a:p>
          <a:p>
            <a:pPr marL="914400" lvl="2" indent="0">
              <a:spcAft>
                <a:spcPts val="600"/>
              </a:spcAft>
              <a:buNone/>
            </a:pPr>
            <a:r>
              <a:rPr lang="en-US" sz="2000" b="0" dirty="0">
                <a:effectLst/>
              </a:rPr>
              <a:t>AS HNSW(Distance='Cosine')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8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AAFF-E567-E515-0ACB-82815EA5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Why IRIS Uses HNSW for Vector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73D1D-933A-5C44-FFA5-BB11CAD56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Fast: Sub-linear time retrieval even for millions of vectors.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Accurate: Returns high-quality approximate matches.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Incrementally updatable: New vectors can be inserted without full reindexing.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7AE3B4-4A91-5E96-ADA3-00A3AEAE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325" y="1524000"/>
            <a:ext cx="3206750" cy="4762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265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E3A4AF-C1F5-8239-1DA7-0AAD800A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b="1" dirty="0"/>
              <a:t>Hierarchical Navigable Small World (HNSW)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26A27-CB36-1368-6230-B396EACBE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High-performance algorithm for Approximate Nearest Neighbor (ANN) search in high-dimensional spaces — like vector embeddings.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Hierarchical: The index is organized in layers, from coarse to fine granularity, which speeds up search by allowing quick elimination of large areas of the space.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Navigable: The graph structure allows for efficient greedy traversal to find approximate neighbors.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Small World: Based on the small-world phenomenon — the idea that any two nodes can be reached via a short sequence of hops. The graph is sparsely connected but still efficient for navigation.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6667E858-0BD5-3AD3-0C35-0755477B05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31413" y="1524000"/>
            <a:ext cx="4742573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69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8143B1-3746-A802-20EE-E7170ED8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Challenge</a:t>
            </a:r>
            <a:r>
              <a:rPr lang="en-US" dirty="0"/>
              <a:t> Two(C) – Load Vectors into Your Hybrid Table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CA60C8-10AF-D823-16FA-80F3E2396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Use the following SQL Code to insert your vector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INSERT INTO PatientSummaryVectors (summary_id, summary_text, embedding)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VALUES (?, ?, TO_VECTOR(?,FLOAT))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12" name="Content Placeholder 11" descr="A cartoon character driving a forklift with boxes&#10;&#10;AI-generated content may be incorrect.">
            <a:extLst>
              <a:ext uri="{FF2B5EF4-FFF2-40B4-BE49-F238E27FC236}">
                <a16:creationId xmlns:a16="http://schemas.microsoft.com/office/drawing/2014/main" id="{9C2CDF71-AADA-2F27-1F26-E4B0289D20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6805660" y="1177049"/>
            <a:ext cx="4545950" cy="4076202"/>
          </a:xfrm>
          <a:noFill/>
        </p:spPr>
      </p:pic>
    </p:spTree>
    <p:extLst>
      <p:ext uri="{BB962C8B-B14F-4D97-AF65-F5344CB8AC3E}">
        <p14:creationId xmlns:p14="http://schemas.microsoft.com/office/powerpoint/2010/main" val="1253924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45BA-DD4E-2A0F-6D10-2C5DBB36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Step Two(D) –Search Your Vector Table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BA2B-4622-2167-C668-72BC24196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endParaRPr lang="en-US" dirty="0"/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  <a:p>
            <a:pPr lvl="3">
              <a:spcAft>
                <a:spcPts val="600"/>
              </a:spcAft>
              <a:buNone/>
            </a:pPr>
            <a:r>
              <a:rPr lang="en-US" sz="2000" b="0">
                <a:effectLst/>
              </a:rPr>
              <a:t>SELECT TOP {top_k}</a:t>
            </a:r>
          </a:p>
          <a:p>
            <a:pPr lvl="3">
              <a:spcAft>
                <a:spcPts val="600"/>
              </a:spcAft>
              <a:buNone/>
            </a:pPr>
            <a:r>
              <a:rPr lang="en-US" sz="2000" b="0">
                <a:effectLst/>
              </a:rPr>
              <a:t>summary_id,</a:t>
            </a:r>
          </a:p>
          <a:p>
            <a:pPr lvl="3">
              <a:spcAft>
                <a:spcPts val="600"/>
              </a:spcAft>
              <a:buNone/>
            </a:pPr>
            <a:r>
              <a:rPr lang="en-US" sz="2000" b="0">
                <a:effectLst/>
              </a:rPr>
              <a:t>VECTOR_COSINE(embedding, ?) AS similarity</a:t>
            </a:r>
          </a:p>
          <a:p>
            <a:pPr lvl="3">
              <a:spcAft>
                <a:spcPts val="600"/>
              </a:spcAft>
              <a:buNone/>
            </a:pPr>
            <a:r>
              <a:rPr lang="en-US" sz="2000" b="0">
                <a:effectLst/>
              </a:rPr>
              <a:t>FROM PatientSummaryVectors</a:t>
            </a:r>
          </a:p>
          <a:p>
            <a:pPr marL="1371600" lvl="3" indent="0">
              <a:spcAft>
                <a:spcPts val="600"/>
              </a:spcAft>
              <a:buNone/>
            </a:pPr>
            <a:r>
              <a:rPr lang="en-US" sz="2000" b="0">
                <a:effectLst/>
              </a:rPr>
              <a:t>ORDER BY similarity DESC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  <p:pic>
        <p:nvPicPr>
          <p:cNvPr id="6" name="Content Placeholder 5" descr="A magnifying glass with keys&#10;&#10;AI-generated content may be incorrect.">
            <a:extLst>
              <a:ext uri="{FF2B5EF4-FFF2-40B4-BE49-F238E27FC236}">
                <a16:creationId xmlns:a16="http://schemas.microsoft.com/office/drawing/2014/main" id="{D394B106-8BB5-A358-8E73-758C1DFB25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16192"/>
          <a:stretch>
            <a:fillRect/>
          </a:stretch>
        </p:blipFill>
        <p:spPr>
          <a:xfrm>
            <a:off x="6159500" y="1524000"/>
            <a:ext cx="5486400" cy="4762500"/>
          </a:xfrm>
          <a:noFill/>
        </p:spPr>
      </p:pic>
    </p:spTree>
    <p:extLst>
      <p:ext uri="{BB962C8B-B14F-4D97-AF65-F5344CB8AC3E}">
        <p14:creationId xmlns:p14="http://schemas.microsoft.com/office/powerpoint/2010/main" val="2188235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2ECE16-CB36-8065-0BE0-2B29C45D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106825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Challenge  Three- Creating A Summary that Combines Partial Summaries over Resource Types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FD45B30-2354-914A-ACF4-9C3649621B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2307" r="2899"/>
          <a:stretch>
            <a:fillRect/>
          </a:stretch>
        </p:blipFill>
        <p:spPr>
          <a:xfrm>
            <a:off x="546100" y="1524000"/>
            <a:ext cx="5486400" cy="4762500"/>
          </a:xfrm>
          <a:prstGeom prst="rect">
            <a:avLst/>
          </a:prstGeom>
          <a:noFill/>
        </p:spPr>
      </p:pic>
      <p:pic>
        <p:nvPicPr>
          <p:cNvPr id="13" name="Content Placeholder 12" descr="A group of people sitting around a table with puzzle pieces&#10;&#10;AI-generated content may be incorrect.">
            <a:extLst>
              <a:ext uri="{FF2B5EF4-FFF2-40B4-BE49-F238E27FC236}">
                <a16:creationId xmlns:a16="http://schemas.microsoft.com/office/drawing/2014/main" id="{AAD4220E-8F8B-D0D3-7101-E9D04ABC45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62700" y="2159000"/>
            <a:ext cx="5080000" cy="3492500"/>
          </a:xfrm>
        </p:spPr>
      </p:pic>
    </p:spTree>
    <p:extLst>
      <p:ext uri="{BB962C8B-B14F-4D97-AF65-F5344CB8AC3E}">
        <p14:creationId xmlns:p14="http://schemas.microsoft.com/office/powerpoint/2010/main" val="1524329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0AC0-5014-E87C-521B-F46E70FA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2800" dirty="0"/>
              <a:t>Challenge</a:t>
            </a:r>
            <a:r>
              <a:rPr lang="en-US" dirty="0"/>
              <a:t> Three (A) – Create a Hybrid Table over all Resources in the Patient Compartment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CE72D4-8834-9957-453E-749552281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PatientVectors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 err="1"/>
              <a:t>patient_id</a:t>
            </a:r>
            <a:r>
              <a:rPr lang="en-US" dirty="0"/>
              <a:t> VARCHAR(75),</a:t>
            </a:r>
          </a:p>
          <a:p>
            <a:pPr marL="0" indent="0">
              <a:buNone/>
            </a:pPr>
            <a:r>
              <a:rPr lang="en-US" dirty="0" err="1"/>
              <a:t>patient_lastname</a:t>
            </a:r>
            <a:r>
              <a:rPr lang="en-US" dirty="0"/>
              <a:t> VARCHAR(75),</a:t>
            </a:r>
          </a:p>
          <a:p>
            <a:pPr marL="0" indent="0">
              <a:buNone/>
            </a:pPr>
            <a:r>
              <a:rPr lang="en-US" dirty="0" err="1"/>
              <a:t>patient_firstname</a:t>
            </a:r>
            <a:r>
              <a:rPr lang="en-US" dirty="0"/>
              <a:t> VARCHAR(75),</a:t>
            </a:r>
          </a:p>
          <a:p>
            <a:pPr marL="0" indent="0">
              <a:buNone/>
            </a:pPr>
            <a:r>
              <a:rPr lang="en-US" dirty="0" err="1"/>
              <a:t>resource_type</a:t>
            </a:r>
            <a:r>
              <a:rPr lang="en-US" dirty="0"/>
              <a:t> VARCHAR(50),</a:t>
            </a:r>
          </a:p>
          <a:p>
            <a:pPr marL="0" indent="0">
              <a:buNone/>
            </a:pPr>
            <a:r>
              <a:rPr lang="en-US" dirty="0" err="1"/>
              <a:t>resource_id</a:t>
            </a:r>
            <a:r>
              <a:rPr lang="en-US" dirty="0"/>
              <a:t> VARCHAR(75),</a:t>
            </a:r>
          </a:p>
          <a:p>
            <a:pPr marL="0" indent="0">
              <a:buNone/>
            </a:pPr>
            <a:r>
              <a:rPr lang="en-US" dirty="0"/>
              <a:t>embedding VECTOR(DOUBLE, 768),</a:t>
            </a:r>
          </a:p>
          <a:p>
            <a:pPr marL="0" indent="0">
              <a:buNone/>
            </a:pPr>
            <a:r>
              <a:rPr lang="en-US" dirty="0" err="1"/>
              <a:t>resourcetext</a:t>
            </a:r>
            <a:r>
              <a:rPr lang="en-US" dirty="0"/>
              <a:t> VARCHAR(4000)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cursor.execute</a:t>
            </a:r>
            <a:r>
              <a:rPr lang="en-US" dirty="0"/>
              <a:t>("""</a:t>
            </a:r>
          </a:p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vector_index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 TABLE </a:t>
            </a:r>
            <a:r>
              <a:rPr lang="en-US" dirty="0" err="1"/>
              <a:t>SQLUser.PatientVectors</a:t>
            </a:r>
            <a:r>
              <a:rPr lang="en-US" dirty="0"/>
              <a:t> (embedding)</a:t>
            </a:r>
          </a:p>
          <a:p>
            <a:pPr marL="0" indent="0">
              <a:buNone/>
            </a:pPr>
            <a:r>
              <a:rPr lang="en-US" dirty="0"/>
              <a:t>AS HNSW(Distance='Cosine')</a:t>
            </a:r>
          </a:p>
          <a:p>
            <a:pPr marL="0" indent="0">
              <a:buNone/>
            </a:pPr>
            <a:r>
              <a:rPr lang="en-US" dirty="0"/>
              <a:t>""")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09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C15E-DC6D-2771-C4E0-200D95B5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Does RAG Require a Hybrid Vector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294A0-50F0-1F56-47EF-68B8B2A87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Retrieval-Augmented Generation (RAG) simply means “fetch some external context, then feed it to an LLM to generate a response.” The “retrieval” step can be implemented in many ways—vector search is merely the most popular today because it excels at finding semantically similar passages. But RAG itself does </a:t>
            </a:r>
            <a:r>
              <a:rPr lang="en-US" b="1" dirty="0"/>
              <a:t>not</a:t>
            </a:r>
            <a:r>
              <a:rPr lang="en-US" dirty="0"/>
              <a:t> strictly require vectors.</a:t>
            </a:r>
          </a:p>
        </p:txBody>
      </p:sp>
      <p:pic>
        <p:nvPicPr>
          <p:cNvPr id="6" name="Content Placeholder 5" descr="A person standing in front of many folders&#10;&#10;AI-generated content may be incorrect.">
            <a:extLst>
              <a:ext uri="{FF2B5EF4-FFF2-40B4-BE49-F238E27FC236}">
                <a16:creationId xmlns:a16="http://schemas.microsoft.com/office/drawing/2014/main" id="{9FC00C4B-9F85-263A-6067-EBA0D2DA5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59500" y="2129028"/>
            <a:ext cx="5486400" cy="3552444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2AD1EF-2A81-E5A1-6F20-76AE9FB014BF}"/>
              </a:ext>
            </a:extLst>
          </p:cNvPr>
          <p:cNvSpPr txBox="1"/>
          <p:nvPr/>
        </p:nvSpPr>
        <p:spPr>
          <a:xfrm>
            <a:off x="9164451" y="5573750"/>
            <a:ext cx="2481449" cy="107722"/>
          </a:xfrm>
          <a:prstGeom prst="rect">
            <a:avLst/>
          </a:prstGeom>
          <a:solidFill>
            <a:srgbClr val="000000"/>
          </a:solidFill>
        </p:spPr>
        <p:txBody>
          <a:bodyPr wrap="non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bmj.com/content/357/bmj.j139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606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3873CC-BF13-492C-3116-01ED5EEB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Techniques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F4A51-7F27-1601-1C30-5A0D28460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Traditional (Sparse) Retrieval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Keyword/Boolean search</a:t>
            </a:r>
            <a:r>
              <a:rPr lang="en-US" dirty="0"/>
              <a:t> (e.g. SQL LIKE, Elasticsearch BM25)</a:t>
            </a:r>
          </a:p>
          <a:p>
            <a:pPr marL="0" indent="0">
              <a:buNone/>
            </a:pPr>
            <a:r>
              <a:rPr lang="en-US" dirty="0"/>
              <a:t>Works by matching exact words or weighted term frequencies.</a:t>
            </a:r>
          </a:p>
          <a:p>
            <a:pPr marL="0" indent="0">
              <a:buNone/>
            </a:pPr>
            <a:r>
              <a:rPr lang="en-US" dirty="0"/>
              <a:t>Pros: mature, easy to index, explainable scores.</a:t>
            </a:r>
          </a:p>
          <a:p>
            <a:pPr marL="0" indent="0">
              <a:buNone/>
            </a:pPr>
            <a:r>
              <a:rPr lang="en-US" dirty="0"/>
              <a:t>Cons: brittle to synonyms and paraphrases; may miss relevant docs.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Hybrid Retrieval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Combines vector (dense) embeddings with term-based (sparse) methods.</a:t>
            </a:r>
          </a:p>
          <a:p>
            <a:pPr marL="0" indent="0">
              <a:buNone/>
            </a:pPr>
            <a:r>
              <a:rPr lang="en-US" dirty="0"/>
              <a:t>You might first filter by keywords (e.g. date ranges, metadata) then re-rank top hits by cosine similarity.</a:t>
            </a:r>
          </a:p>
          <a:p>
            <a:pPr marL="0" indent="0">
              <a:buNone/>
            </a:pPr>
            <a:r>
              <a:rPr lang="en-US" dirty="0"/>
              <a:t>Balances precision, recall, and speed.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3. Non-Vector “Retrieval”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RAG via API calls</a:t>
            </a:r>
            <a:r>
              <a:rPr lang="en-US" dirty="0"/>
              <a:t>: e.g. query a search engine or knowledge base over HTTP, then feed top snippets to your LLM.</a:t>
            </a:r>
          </a:p>
          <a:p>
            <a:pPr marL="0" indent="0">
              <a:buNone/>
            </a:pPr>
            <a:r>
              <a:rPr lang="en-US" b="1" dirty="0"/>
              <a:t>Database lookups</a:t>
            </a:r>
            <a:r>
              <a:rPr lang="en-US" dirty="0"/>
              <a:t> keyed by structured attributes (patient ID, date, category).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14717-659A-0BB5-94ED-2F0D3AAF7DFA}"/>
              </a:ext>
            </a:extLst>
          </p:cNvPr>
          <p:cNvSpPr/>
          <p:nvPr/>
        </p:nvSpPr>
        <p:spPr>
          <a:xfrm>
            <a:off x="447246" y="3102398"/>
            <a:ext cx="10910176" cy="1135118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22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1391-07AA-C317-2E1C-A245BB5C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38787-10E9-39F5-8190-8232C7B132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Vector Search Shines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Semantic matching: paraphrases, synonyms, varied jargon</a:t>
            </a:r>
          </a:p>
          <a:p>
            <a:pPr marL="0" indent="0">
              <a:buNone/>
            </a:pPr>
            <a:r>
              <a:rPr lang="en-US" dirty="0"/>
              <a:t>Noisy or user-generated text where exact keywords are rare</a:t>
            </a:r>
          </a:p>
          <a:p>
            <a:pPr marL="0" indent="0">
              <a:buNone/>
            </a:pPr>
            <a:r>
              <a:rPr lang="en-US" dirty="0"/>
              <a:t>Filtering huge corpora (millions of docs) for closest matches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806F1-CD2B-409C-E1A2-0223718169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You Can Skip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Small, well-structured collections where keyword or metadata filters are sufficient</a:t>
            </a:r>
          </a:p>
          <a:p>
            <a:pPr marL="0" indent="0">
              <a:buNone/>
            </a:pPr>
            <a:r>
              <a:rPr lang="en-US" dirty="0"/>
              <a:t>Highly domain-specific retrieval (e.g. you know the exact document ID or date window)</a:t>
            </a:r>
          </a:p>
          <a:p>
            <a:pPr marL="0" indent="0">
              <a:buNone/>
            </a:pPr>
            <a:r>
              <a:rPr lang="en-US" dirty="0"/>
              <a:t>Cost or complexity constraints—if you already have an Elasticsearch cluster, you may use its BM25 ranking without adding a vector 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929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3C11-0A77-82FF-5C94-E6F4FEC1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Challenge</a:t>
            </a:r>
            <a:r>
              <a:rPr lang="en-US" dirty="0"/>
              <a:t> Three (B) – Get All Patient Ids in the FHIR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E335D-3A1A-5DC9-6F4A-031AF5B6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search_patients_get_ids</a:t>
            </a:r>
            <a:r>
              <a:rPr lang="en-US" dirty="0"/>
              <a:t>(</a:t>
            </a:r>
            <a:r>
              <a:rPr lang="en-US" dirty="0" err="1"/>
              <a:t>search_params</a:t>
            </a:r>
            <a:r>
              <a:rPr lang="en-US" dirty="0"/>
              <a:t>: str) -&gt; list:</a:t>
            </a:r>
          </a:p>
          <a:p>
            <a:pPr marL="0" indent="0">
              <a:buNone/>
            </a:pPr>
            <a:r>
              <a:rPr lang="en-US" dirty="0"/>
              <a:t>"""</a:t>
            </a:r>
          </a:p>
          <a:p>
            <a:pPr marL="0" indent="0">
              <a:buNone/>
            </a:pPr>
            <a:r>
              <a:rPr lang="en-US" dirty="0"/>
              <a:t>Executes a FHIR search for Patients based on `</a:t>
            </a:r>
            <a:r>
              <a:rPr lang="en-US" dirty="0" err="1"/>
              <a:t>search_params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/>
              <a:t>(e.g., "name=Smith"), retrieves a Bundle, and uses fhirpathpy</a:t>
            </a:r>
          </a:p>
          <a:p>
            <a:pPr marL="0" indent="0">
              <a:buNone/>
            </a:pPr>
            <a:r>
              <a:rPr lang="en-US" dirty="0"/>
              <a:t>to extract an array of Patient IDs.</a:t>
            </a:r>
          </a:p>
          <a:p>
            <a:pPr marL="0" indent="0">
              <a:buNone/>
            </a:pPr>
            <a:r>
              <a:rPr lang="en-US" dirty="0"/>
              <a:t>"""</a:t>
            </a:r>
          </a:p>
          <a:p>
            <a:pPr marL="0" indent="0">
              <a:buNone/>
            </a:pPr>
            <a:r>
              <a:rPr lang="en-US" dirty="0"/>
              <a:t># Construct search URL (e.g., /Patient?name=Smith)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base_url</a:t>
            </a:r>
            <a:r>
              <a:rPr lang="en-US" dirty="0"/>
              <a:t> = "http://127.0.0.1:8080/csp/healthshare/demo/fhir/r4"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url</a:t>
            </a:r>
            <a:r>
              <a:rPr lang="en-US" dirty="0"/>
              <a:t> = f"{</a:t>
            </a:r>
            <a:r>
              <a:rPr lang="en-US" dirty="0" err="1"/>
              <a:t>base_url</a:t>
            </a:r>
            <a:r>
              <a:rPr lang="en-US" dirty="0"/>
              <a:t>}/Patient?{</a:t>
            </a:r>
            <a:r>
              <a:rPr lang="en-US" dirty="0" err="1"/>
              <a:t>search_params</a:t>
            </a:r>
            <a:r>
              <a:rPr lang="en-US" dirty="0"/>
              <a:t>}”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Parse response JSON into a Python dictionary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bundle_dict</a:t>
            </a:r>
            <a:r>
              <a:rPr lang="en-US" dirty="0"/>
              <a:t> = </a:t>
            </a:r>
            <a:r>
              <a:rPr lang="en-US" dirty="0" err="1"/>
              <a:t>response.json</a:t>
            </a:r>
            <a:r>
              <a:rPr lang="en-US" dirty="0"/>
              <a:t>()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# Optional: parse into a Bundle resource for validation (not strictly required for </a:t>
            </a:r>
            <a:r>
              <a:rPr lang="en-US" dirty="0" err="1"/>
              <a:t>fhirpath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# </a:t>
            </a:r>
            <a:r>
              <a:rPr lang="en-US" dirty="0" err="1"/>
              <a:t>bundle_resource</a:t>
            </a:r>
            <a:r>
              <a:rPr lang="en-US" dirty="0"/>
              <a:t> = </a:t>
            </a:r>
            <a:r>
              <a:rPr lang="en-US" dirty="0" err="1"/>
              <a:t>Bundle.parse_obj</a:t>
            </a:r>
            <a:r>
              <a:rPr lang="en-US" dirty="0"/>
              <a:t>(</a:t>
            </a:r>
            <a:r>
              <a:rPr lang="en-US" dirty="0" err="1"/>
              <a:t>bundle_dict</a:t>
            </a:r>
            <a:r>
              <a:rPr lang="en-US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# Use FHIRPath to gather all Patient IDs</a:t>
            </a:r>
          </a:p>
          <a:p>
            <a:pPr marL="0" indent="0">
              <a:buNone/>
            </a:pPr>
            <a:r>
              <a:rPr lang="en-US" dirty="0"/>
              <a:t># The path "</a:t>
            </a:r>
            <a:r>
              <a:rPr lang="en-US" dirty="0" err="1"/>
              <a:t>Bundle.entry.resource.id</a:t>
            </a:r>
            <a:r>
              <a:rPr lang="en-US" dirty="0"/>
              <a:t>" will collect "id" from each resource within the entries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patient_ids</a:t>
            </a:r>
            <a:r>
              <a:rPr lang="en-US" dirty="0"/>
              <a:t> = </a:t>
            </a:r>
            <a:r>
              <a:rPr lang="en-US" dirty="0" err="1"/>
              <a:t>fhirpath</a:t>
            </a:r>
            <a:r>
              <a:rPr lang="en-US" dirty="0"/>
              <a:t>(</a:t>
            </a:r>
            <a:r>
              <a:rPr lang="en-US" dirty="0" err="1"/>
              <a:t>bundle_dict</a:t>
            </a:r>
            <a:r>
              <a:rPr lang="en-US" dirty="0"/>
              <a:t>, "</a:t>
            </a:r>
            <a:r>
              <a:rPr lang="en-US" dirty="0" err="1"/>
              <a:t>Bundle.entry.resource.id</a:t>
            </a:r>
            <a:r>
              <a:rPr lang="en-US" dirty="0"/>
              <a:t>")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return </a:t>
            </a:r>
            <a:r>
              <a:rPr lang="en-US" dirty="0" err="1"/>
              <a:t>patient_ids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990F3-5B03-A5F5-B1B9-F8E9F71E5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44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B063-AD31-4057-54E3-EC24F7C6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Challenge</a:t>
            </a:r>
            <a:r>
              <a:rPr lang="en-US" dirty="0"/>
              <a:t> Three (C) -Index Each Resource by Patient Id, Patient Name, Resource Type, Resource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7EDCE-25EF-AF70-19E3-3278C3A8D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bundle = </a:t>
            </a:r>
            <a:r>
              <a:rPr lang="en-US" dirty="0" err="1"/>
              <a:t>self.get_patient_bundle</a:t>
            </a:r>
            <a:r>
              <a:rPr lang="en-US" dirty="0"/>
              <a:t>(</a:t>
            </a:r>
            <a:r>
              <a:rPr lang="en-US" dirty="0" err="1"/>
              <a:t>self.fhirId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patientResources</a:t>
            </a:r>
            <a:r>
              <a:rPr lang="en-US" dirty="0"/>
              <a:t> = </a:t>
            </a:r>
            <a:r>
              <a:rPr lang="en-US" dirty="0" err="1"/>
              <a:t>self.extract_resources</a:t>
            </a:r>
            <a:r>
              <a:rPr lang="en-US" dirty="0"/>
              <a:t>(bundle, "Patient")</a:t>
            </a:r>
          </a:p>
          <a:p>
            <a:pPr marL="0" indent="0">
              <a:buNone/>
            </a:pPr>
            <a:r>
              <a:rPr lang="en-US" dirty="0"/>
              <a:t>if not </a:t>
            </a:r>
            <a:r>
              <a:rPr lang="en-US" dirty="0" err="1"/>
              <a:t>patientResources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print("Can not find the patient resource, vector creation terminated")</a:t>
            </a:r>
          </a:p>
          <a:p>
            <a:pPr marL="0" indent="0">
              <a:buNone/>
            </a:pPr>
            <a:r>
              <a:rPr lang="en-US" dirty="0"/>
              <a:t>return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patientResources</a:t>
            </a:r>
            <a:r>
              <a:rPr lang="en-US" dirty="0"/>
              <a:t>) &gt; 1:</a:t>
            </a:r>
          </a:p>
          <a:p>
            <a:pPr marL="0" indent="0">
              <a:buNone/>
            </a:pPr>
            <a:r>
              <a:rPr lang="en-US" dirty="0"/>
              <a:t>print("Found more than one patient resource, vector creation terminated")</a:t>
            </a:r>
          </a:p>
          <a:p>
            <a:pPr marL="0" indent="0">
              <a:buNone/>
            </a:pPr>
            <a:r>
              <a:rPr lang="en-US" dirty="0"/>
              <a:t>return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pt = </a:t>
            </a:r>
            <a:r>
              <a:rPr lang="en-US" dirty="0" err="1"/>
              <a:t>patientResources</a:t>
            </a:r>
            <a:r>
              <a:rPr lang="en-US" dirty="0"/>
              <a:t>[0]</a:t>
            </a:r>
          </a:p>
          <a:p>
            <a:pPr marL="0" indent="0">
              <a:buNone/>
            </a:pPr>
            <a:r>
              <a:rPr lang="en-US" dirty="0"/>
              <a:t>name = pt['name'][0]</a:t>
            </a:r>
          </a:p>
          <a:p>
            <a:pPr marL="0" indent="0">
              <a:buNone/>
            </a:pPr>
            <a:r>
              <a:rPr lang="en-US" dirty="0" err="1"/>
              <a:t>self.firstName</a:t>
            </a:r>
            <a:r>
              <a:rPr lang="en-US" dirty="0"/>
              <a:t> = name['given'][0] if name['given'] else ""</a:t>
            </a:r>
          </a:p>
          <a:p>
            <a:pPr marL="0" indent="0">
              <a:buNone/>
            </a:pPr>
            <a:r>
              <a:rPr lang="en-US" dirty="0" err="1"/>
              <a:t>self.lastName</a:t>
            </a:r>
            <a:r>
              <a:rPr lang="en-US" dirty="0"/>
              <a:t> = name['family'] if name['family'] else ""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985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193B-E691-44B9-9D04-B16F4FD4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Challenge</a:t>
            </a:r>
            <a:r>
              <a:rPr lang="en-US" dirty="0"/>
              <a:t> Three (D) – Flatten the Resource into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BABC-CEDC-8523-2871-AE603ABE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flatten_fhir_resource</a:t>
            </a:r>
            <a:r>
              <a:rPr lang="en-US" dirty="0"/>
              <a:t>(self, resource: </a:t>
            </a:r>
            <a:r>
              <a:rPr lang="en-US" dirty="0" err="1"/>
              <a:t>dict</a:t>
            </a:r>
            <a:r>
              <a:rPr lang="en-US" dirty="0"/>
              <a:t>) -&gt; str:</a:t>
            </a:r>
          </a:p>
          <a:p>
            <a:pPr marL="0" indent="0">
              <a:buNone/>
            </a:pPr>
            <a:r>
              <a:rPr lang="en-US" dirty="0"/>
              <a:t>  def recurse(obj, prefix=""):</a:t>
            </a:r>
          </a:p>
          <a:p>
            <a:pPr marL="0" indent="0">
              <a:buNone/>
            </a:pPr>
            <a:r>
              <a:rPr lang="en-US" dirty="0"/>
              <a:t>  lines = []</a:t>
            </a:r>
          </a:p>
          <a:p>
            <a:pPr marL="0" indent="0">
              <a:buNone/>
            </a:pPr>
            <a:r>
              <a:rPr lang="en-US" dirty="0"/>
              <a:t>  if </a:t>
            </a:r>
            <a:r>
              <a:rPr lang="en-US" dirty="0" err="1"/>
              <a:t>isinstance</a:t>
            </a:r>
            <a:r>
              <a:rPr lang="en-US" dirty="0"/>
              <a:t>(obj, </a:t>
            </a:r>
            <a:r>
              <a:rPr lang="en-US" dirty="0" err="1"/>
              <a:t>dict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for k, v in </a:t>
            </a:r>
            <a:r>
              <a:rPr lang="en-US" dirty="0" err="1"/>
              <a:t>obj.items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lines.extend</a:t>
            </a:r>
            <a:r>
              <a:rPr lang="en-US" dirty="0"/>
              <a:t>(recurse(v, prefix + </a:t>
            </a:r>
            <a:r>
              <a:rPr lang="en-US" dirty="0" err="1"/>
              <a:t>k.capitalize</a:t>
            </a:r>
            <a:r>
              <a:rPr lang="en-US" dirty="0"/>
              <a:t>() + ": "))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isinstance</a:t>
            </a:r>
            <a:r>
              <a:rPr lang="en-US" dirty="0"/>
              <a:t>(obj, list):</a:t>
            </a:r>
          </a:p>
          <a:p>
            <a:pPr marL="0" indent="0">
              <a:buNone/>
            </a:pPr>
            <a:r>
              <a:rPr lang="en-US" dirty="0"/>
              <a:t>    for item in obj: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lines.extend</a:t>
            </a:r>
            <a:r>
              <a:rPr lang="en-US" dirty="0"/>
              <a:t>(recurse(item, prefix))</a:t>
            </a:r>
          </a:p>
          <a:p>
            <a:pPr marL="0" indent="0">
              <a:buNone/>
            </a:pPr>
            <a:r>
              <a:rPr lang="en-US" dirty="0"/>
              <a:t>  else: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lines.append</a:t>
            </a:r>
            <a:r>
              <a:rPr lang="en-US" dirty="0"/>
              <a:t>(f"{prefix}{str(obj)}") </a:t>
            </a:r>
          </a:p>
          <a:p>
            <a:pPr marL="0" indent="0">
              <a:buNone/>
            </a:pPr>
            <a:r>
              <a:rPr lang="en-US" dirty="0"/>
              <a:t>   return lines</a:t>
            </a:r>
          </a:p>
          <a:p>
            <a:pPr marL="0" indent="0">
              <a:buNone/>
            </a:pPr>
            <a:r>
              <a:rPr lang="en-US" dirty="0"/>
              <a:t>return "\</a:t>
            </a:r>
            <a:r>
              <a:rPr lang="en-US" dirty="0" err="1"/>
              <a:t>n".join</a:t>
            </a:r>
            <a:r>
              <a:rPr lang="en-US" dirty="0"/>
              <a:t>(recurse(resource))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57195-5932-7084-A32E-EE0DC72099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40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21A1-4D13-BEC5-17FD-B503CECD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Challenge</a:t>
            </a:r>
            <a:r>
              <a:rPr lang="en-US" dirty="0"/>
              <a:t> Three (E) – Truncate Resource String and Create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EE1D-C7A3-A6CD-0C60-11E96504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text_bytes</a:t>
            </a:r>
            <a:r>
              <a:rPr lang="en-US" dirty="0"/>
              <a:t> = </a:t>
            </a:r>
            <a:r>
              <a:rPr lang="en-US" dirty="0" err="1"/>
              <a:t>text.encode</a:t>
            </a:r>
            <a:r>
              <a:rPr lang="en-US" dirty="0"/>
              <a:t>('utf-8', errors='ignore')</a:t>
            </a:r>
          </a:p>
          <a:p>
            <a:pPr marL="0" indent="0">
              <a:buNone/>
            </a:pPr>
            <a:r>
              <a:rPr lang="en-US" dirty="0"/>
              <a:t>text = </a:t>
            </a:r>
            <a:r>
              <a:rPr lang="en-US" dirty="0" err="1"/>
              <a:t>text_bytes</a:t>
            </a:r>
            <a:r>
              <a:rPr lang="en-US" dirty="0"/>
              <a:t>[:</a:t>
            </a:r>
            <a:r>
              <a:rPr lang="en-US" dirty="0" err="1"/>
              <a:t>max_chars</a:t>
            </a:r>
            <a:r>
              <a:rPr lang="en-US" dirty="0"/>
              <a:t>].decode('utf-8', errors='ignore')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# Skip blank or invalid text</a:t>
            </a:r>
          </a:p>
          <a:p>
            <a:pPr marL="0" indent="0">
              <a:buNone/>
            </a:pPr>
            <a:r>
              <a:rPr lang="en-US" dirty="0"/>
              <a:t>if not </a:t>
            </a:r>
            <a:r>
              <a:rPr lang="en-US" dirty="0" err="1"/>
              <a:t>text.strip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print(f"❌ Skipping insert: text is empty.")</a:t>
            </a:r>
          </a:p>
          <a:p>
            <a:pPr marL="0" indent="0">
              <a:buNone/>
            </a:pPr>
            <a:r>
              <a:rPr lang="en-US" dirty="0"/>
              <a:t>return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# Generate embedding</a:t>
            </a:r>
          </a:p>
          <a:p>
            <a:pPr marL="0" indent="0">
              <a:buNone/>
            </a:pPr>
            <a:r>
              <a:rPr lang="en-US" dirty="0"/>
              <a:t>embedding = </a:t>
            </a:r>
            <a:r>
              <a:rPr lang="en-US" dirty="0" err="1"/>
              <a:t>self.model.encode</a:t>
            </a:r>
            <a:r>
              <a:rPr lang="en-US" dirty="0"/>
              <a:t>(text).</a:t>
            </a:r>
            <a:r>
              <a:rPr lang="en-US" dirty="0" err="1"/>
              <a:t>tolist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embedding_strs</a:t>
            </a:r>
            <a:r>
              <a:rPr lang="en-US" dirty="0"/>
              <a:t> = [f"{x:.8f}" for x in embedding]</a:t>
            </a:r>
          </a:p>
          <a:p>
            <a:pPr marL="0" indent="0">
              <a:buNone/>
            </a:pPr>
            <a:r>
              <a:rPr lang="en-US" dirty="0" err="1"/>
              <a:t>embedding_csv</a:t>
            </a:r>
            <a:r>
              <a:rPr lang="en-US" dirty="0"/>
              <a:t> = ",".join(</a:t>
            </a:r>
            <a:r>
              <a:rPr lang="en-US" dirty="0" err="1"/>
              <a:t>embedding_strs</a:t>
            </a:r>
            <a:r>
              <a:rPr lang="en-US" dirty="0"/>
              <a:t>)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37E7C-D5B6-455B-43D7-ACF3D4E516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74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69D2-00BF-FF34-FF3B-F4E78B92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Challenge</a:t>
            </a:r>
            <a:r>
              <a:rPr lang="en-US" dirty="0"/>
              <a:t> Three (F) – Insert Vector into Hybrid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D352-C69F-C391-0F28-7FB6A6C4A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9CDCF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effectLst/>
                <a:latin typeface="Menlo" panose="020B0609030804020204" pitchFamily="49" charset="0"/>
              </a:rPr>
              <a:t>embedding_strs</a:t>
            </a:r>
            <a:r>
              <a:rPr lang="en-US" b="0" dirty="0">
                <a:effectLst/>
                <a:latin typeface="Menlo" panose="020B0609030804020204" pitchFamily="49" charset="0"/>
              </a:rPr>
              <a:t> = [f"{x:.8f}" for x in embedding]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effectLst/>
                <a:latin typeface="Menlo" panose="020B0609030804020204" pitchFamily="49" charset="0"/>
              </a:rPr>
              <a:t>embedding_csv</a:t>
            </a:r>
            <a:r>
              <a:rPr lang="en-US" b="0" dirty="0">
                <a:effectLst/>
                <a:latin typeface="Menlo" panose="020B0609030804020204" pitchFamily="49" charset="0"/>
              </a:rPr>
              <a:t> = ",".join(</a:t>
            </a:r>
            <a:r>
              <a:rPr lang="en-US" b="0" dirty="0" err="1">
                <a:effectLst/>
                <a:latin typeface="Menlo" panose="020B0609030804020204" pitchFamily="49" charset="0"/>
              </a:rPr>
              <a:t>embedding_strs</a:t>
            </a:r>
            <a:r>
              <a:rPr lang="en-US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effectLst/>
                <a:latin typeface="Menlo" panose="020B0609030804020204" pitchFamily="49" charset="0"/>
              </a:rPr>
            </a:br>
            <a:r>
              <a:rPr lang="en-US" b="0" dirty="0">
                <a:effectLst/>
                <a:latin typeface="Menlo" panose="020B0609030804020204" pitchFamily="49" charset="0"/>
              </a:rPr>
              <a:t>params = [</a:t>
            </a:r>
            <a:r>
              <a:rPr lang="en-US" b="0" dirty="0" err="1">
                <a:effectLst/>
                <a:latin typeface="Menlo" panose="020B0609030804020204" pitchFamily="49" charset="0"/>
              </a:rPr>
              <a:t>pid</a:t>
            </a:r>
            <a:r>
              <a:rPr lang="en-US" b="0" dirty="0">
                <a:effectLst/>
                <a:latin typeface="Menlo" panose="020B0609030804020204" pitchFamily="49" charset="0"/>
              </a:rPr>
              <a:t>, last, first,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rtype</a:t>
            </a:r>
            <a:r>
              <a:rPr lang="en-US" b="0" dirty="0">
                <a:effectLst/>
                <a:latin typeface="Menlo" panose="020B0609030804020204" pitchFamily="49" charset="0"/>
              </a:rPr>
              <a:t>, rid,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embedding_csv</a:t>
            </a:r>
            <a:r>
              <a:rPr lang="en-US" b="0" dirty="0"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text_sql</a:t>
            </a:r>
            <a:r>
              <a:rPr lang="en-US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800"/>
              </a:lnSpc>
              <a:buNone/>
            </a:pPr>
            <a:endParaRPr lang="en-US" dirty="0">
              <a:latin typeface="Menlo" panose="020B060903080402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effectLst/>
                <a:latin typeface="Menlo" panose="020B0609030804020204" pitchFamily="49" charset="0"/>
              </a:rPr>
              <a:t>sql</a:t>
            </a:r>
            <a:r>
              <a:rPr lang="en-US" b="0" dirty="0">
                <a:effectLst/>
                <a:latin typeface="Menlo" panose="020B0609030804020204" pitchFamily="49" charset="0"/>
              </a:rPr>
              <a:t> = f"""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effectLst/>
                <a:latin typeface="Menlo" panose="020B0609030804020204" pitchFamily="49" charset="0"/>
              </a:rPr>
              <a:t>INSERT INTO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PatientVectors</a:t>
            </a:r>
            <a:r>
              <a:rPr lang="en-US" b="0" dirty="0">
                <a:effectLst/>
                <a:latin typeface="Menlo" panose="020B0609030804020204" pitchFamily="49" charset="0"/>
              </a:rPr>
              <a:t> (</a:t>
            </a:r>
            <a:r>
              <a:rPr lang="en-US" b="0" dirty="0" err="1">
                <a:effectLst/>
                <a:latin typeface="Menlo" panose="020B0609030804020204" pitchFamily="49" charset="0"/>
              </a:rPr>
              <a:t>patient_id</a:t>
            </a:r>
            <a:r>
              <a:rPr lang="en-US" b="0" dirty="0"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patient_lastname</a:t>
            </a:r>
            <a:r>
              <a:rPr lang="en-US" b="0" dirty="0"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patient_firstname</a:t>
            </a:r>
            <a:r>
              <a:rPr lang="en-US" b="0" dirty="0"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resource_type</a:t>
            </a:r>
            <a:r>
              <a:rPr lang="en-US" b="0" dirty="0"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resource_id</a:t>
            </a:r>
            <a:r>
              <a:rPr lang="en-US" b="0" dirty="0">
                <a:effectLst/>
                <a:latin typeface="Menlo" panose="020B0609030804020204" pitchFamily="49" charset="0"/>
              </a:rPr>
              <a:t>, embedding,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resourcetext</a:t>
            </a:r>
            <a:r>
              <a:rPr lang="en-US" b="0" dirty="0">
                <a:effectLst/>
                <a:latin typeface="Menlo" panose="020B0609030804020204" pitchFamily="49" charset="0"/>
              </a:rPr>
              <a:t>) VALUES (?, ?, ?, ?, ?, TO_VECTOR(?,FLOAT), ?)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b="0" dirty="0">
                <a:effectLst/>
                <a:latin typeface="Menlo" panose="020B0609030804020204" pitchFamily="49" charset="0"/>
              </a:rPr>
              <a:t>"""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0B193-1C3B-6662-7015-C936D6C156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7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F86D-5F98-4A17-63E4-C23BD15B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Challenge</a:t>
            </a:r>
            <a:r>
              <a:rPr lang="en-US" dirty="0"/>
              <a:t> Three (G) – Retrieve and Summarize FHIR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B7423-A1D4-6EC9-D0DD-79A14489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Get all FHIR Resources for a Given Patient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Create A Partial Summary of Each FHIR Resource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Combine all the Summaries 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Create A Final Summary that Summarizes all the Partial Summaries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36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9DC9-5E2A-98F9-C9D4-38C1530A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BEDE-EE57-6C3D-1D1B-87510CCB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Challenge</a:t>
            </a:r>
            <a:r>
              <a:rPr lang="en-US" dirty="0"/>
              <a:t> Four  – Combine Regular Search with Vector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7B7C-2882-9A39-FE4A-958748EA8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Build a chatbot that has two inputs – the patients FHIR Id, and clinical question</a:t>
            </a:r>
          </a:p>
          <a:p>
            <a:pPr>
              <a:spcAft>
                <a:spcPts val="600"/>
              </a:spcAft>
            </a:pPr>
            <a:r>
              <a:rPr lang="en-US" dirty="0"/>
              <a:t>Answer the user’s question precisely and concisely</a:t>
            </a:r>
          </a:p>
          <a:p>
            <a:pPr>
              <a:spcAft>
                <a:spcPts val="600"/>
              </a:spcAft>
            </a:pPr>
            <a:r>
              <a:rPr lang="en-US" dirty="0"/>
              <a:t>Return in the User prompt the Patient’s first and Last Name</a:t>
            </a:r>
          </a:p>
          <a:p>
            <a:pPr>
              <a:spcAft>
                <a:spcPts val="600"/>
              </a:spcAft>
            </a:pPr>
            <a:r>
              <a:rPr lang="en-US" dirty="0"/>
              <a:t>Return the Bot’s answer</a:t>
            </a:r>
          </a:p>
        </p:txBody>
      </p:sp>
    </p:spTree>
    <p:extLst>
      <p:ext uri="{BB962C8B-B14F-4D97-AF65-F5344CB8AC3E}">
        <p14:creationId xmlns:p14="http://schemas.microsoft.com/office/powerpoint/2010/main" val="2529076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F3EC-43BF-CE96-F8BF-F57C2605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/>
              <a:t>Example Output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6C2C6E-B870-882C-67E8-BF1408944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239" y="1649413"/>
            <a:ext cx="7079521" cy="46370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2025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64A2-2E05-05F3-27BD-65285633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Errata for Hybrid Vector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27DE4-64C1-22E7-B6DF-4D14696E7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743" y="1524000"/>
            <a:ext cx="5486400" cy="47625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Step One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sql</a:t>
            </a:r>
            <a:r>
              <a:rPr lang="en-US" dirty="0"/>
              <a:t> = f"""</a:t>
            </a:r>
          </a:p>
          <a:p>
            <a:pPr marL="0" indent="0">
              <a:buNone/>
            </a:pPr>
            <a:r>
              <a:rPr lang="en-US" dirty="0"/>
              <a:t>SELECT TOP {TOP_K}</a:t>
            </a:r>
          </a:p>
          <a:p>
            <a:pPr marL="0" indent="0">
              <a:buNone/>
            </a:pPr>
            <a:r>
              <a:rPr lang="en-US" dirty="0" err="1"/>
              <a:t>resource_id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VECTOR_COSINE(embedding, TO_VECTOR(?,DOUBLE)) AS score</a:t>
            </a:r>
          </a:p>
          <a:p>
            <a:pPr marL="0" indent="0">
              <a:buNone/>
            </a:pPr>
            <a:r>
              <a:rPr lang="en-US" dirty="0"/>
              <a:t>FROM {VECTOR_TABLE}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patient_id</a:t>
            </a:r>
            <a:r>
              <a:rPr lang="en-US" dirty="0"/>
              <a:t> = ?</a:t>
            </a:r>
          </a:p>
          <a:p>
            <a:pPr marL="0" indent="0">
              <a:buNone/>
            </a:pPr>
            <a:r>
              <a:rPr lang="en-US" dirty="0"/>
              <a:t>ORDER BY score DESC</a:t>
            </a:r>
          </a:p>
          <a:p>
            <a:pPr marL="0" indent="0">
              <a:buNone/>
            </a:pPr>
            <a:r>
              <a:rPr lang="en-US" dirty="0"/>
              <a:t>""”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cur.execute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, [csv, </a:t>
            </a:r>
            <a:r>
              <a:rPr lang="en-US" dirty="0" err="1"/>
              <a:t>fhir_id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 err="1"/>
              <a:t>id_sim_pairs</a:t>
            </a:r>
            <a:r>
              <a:rPr lang="en-US" dirty="0"/>
              <a:t> = </a:t>
            </a:r>
            <a:r>
              <a:rPr lang="en-US" dirty="0" err="1"/>
              <a:t>cur.fetchall</a:t>
            </a:r>
            <a:r>
              <a:rPr lang="en-US" dirty="0"/>
              <a:t>()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if not </a:t>
            </a:r>
            <a:r>
              <a:rPr lang="en-US" dirty="0" err="1"/>
              <a:t>id_sim_pairs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return "No matching data found for that patient."</a:t>
            </a:r>
          </a:p>
          <a:p>
            <a:pPr marL="0" indent="0">
              <a:buNone/>
            </a:pPr>
            <a:r>
              <a:rPr lang="en-US" dirty="0"/>
              <a:t>cur = </a:t>
            </a:r>
            <a:r>
              <a:rPr lang="en-US" dirty="0" err="1"/>
              <a:t>self.conn.cursor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B1B4F0-E901-E462-12E5-DF7F901231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Step Two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each ID, fetch the text separately</a:t>
            </a:r>
          </a:p>
          <a:p>
            <a:pPr marL="0" indent="0">
              <a:buNone/>
            </a:pPr>
            <a:r>
              <a:rPr lang="en-US" dirty="0"/>
              <a:t>results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text_sql</a:t>
            </a:r>
            <a:r>
              <a:rPr lang="en-US" dirty="0"/>
              <a:t> = "SELECT CAST(</a:t>
            </a:r>
            <a:r>
              <a:rPr lang="en-US" dirty="0" err="1"/>
              <a:t>resourcetext</a:t>
            </a:r>
            <a:r>
              <a:rPr lang="en-US" dirty="0"/>
              <a:t> AS VARCHAR(4000)), </a:t>
            </a:r>
            <a:r>
              <a:rPr lang="en-US" dirty="0" err="1"/>
              <a:t>patient_lastname</a:t>
            </a:r>
            <a:r>
              <a:rPr lang="en-US" dirty="0"/>
              <a:t>, </a:t>
            </a:r>
            <a:r>
              <a:rPr lang="en-US" dirty="0" err="1"/>
              <a:t>patient_firstname</a:t>
            </a:r>
            <a:r>
              <a:rPr lang="en-US" dirty="0"/>
              <a:t> FROM </a:t>
            </a:r>
            <a:r>
              <a:rPr lang="en-US" dirty="0" err="1"/>
              <a:t>PatientVectors</a:t>
            </a:r>
            <a:r>
              <a:rPr lang="en-US" dirty="0"/>
              <a:t> WHERE </a:t>
            </a:r>
            <a:r>
              <a:rPr lang="en-US" dirty="0" err="1"/>
              <a:t>resource_id</a:t>
            </a:r>
            <a:r>
              <a:rPr lang="en-US" dirty="0"/>
              <a:t> = ?"</a:t>
            </a:r>
          </a:p>
          <a:p>
            <a:pPr marL="0" indent="0">
              <a:buNone/>
            </a:pPr>
            <a:r>
              <a:rPr lang="en-US" dirty="0"/>
              <a:t>for rid, sim in </a:t>
            </a:r>
            <a:r>
              <a:rPr lang="en-US" dirty="0" err="1"/>
              <a:t>id_sim_pairs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cur.execute</a:t>
            </a:r>
            <a:r>
              <a:rPr lang="en-US" dirty="0"/>
              <a:t>(</a:t>
            </a:r>
            <a:r>
              <a:rPr lang="en-US" dirty="0" err="1"/>
              <a:t>text_sql</a:t>
            </a:r>
            <a:r>
              <a:rPr lang="en-US" dirty="0"/>
              <a:t>, [rid])</a:t>
            </a:r>
          </a:p>
          <a:p>
            <a:pPr marL="0" indent="0">
              <a:buNone/>
            </a:pPr>
            <a:r>
              <a:rPr lang="en-US" dirty="0"/>
              <a:t>(text, </a:t>
            </a:r>
            <a:r>
              <a:rPr lang="en-US" dirty="0" err="1"/>
              <a:t>ptLastName</a:t>
            </a:r>
            <a:r>
              <a:rPr lang="en-US" dirty="0"/>
              <a:t>, </a:t>
            </a:r>
            <a:r>
              <a:rPr lang="en-US" dirty="0" err="1"/>
              <a:t>ptFirstName</a:t>
            </a:r>
            <a:r>
              <a:rPr lang="en-US" dirty="0"/>
              <a:t>) = </a:t>
            </a:r>
            <a:r>
              <a:rPr lang="en-US" dirty="0" err="1"/>
              <a:t>cur.fetchone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results.append</a:t>
            </a:r>
            <a:r>
              <a:rPr lang="en-US" dirty="0"/>
              <a:t>((rid, text, </a:t>
            </a:r>
            <a:r>
              <a:rPr lang="en-US" dirty="0" err="1"/>
              <a:t>ptLastName</a:t>
            </a:r>
            <a:r>
              <a:rPr lang="en-US" dirty="0"/>
              <a:t>, </a:t>
            </a:r>
            <a:r>
              <a:rPr lang="en-US" dirty="0" err="1"/>
              <a:t>ptFirstName,sim</a:t>
            </a:r>
            <a:r>
              <a:rPr lang="en-US" dirty="0"/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50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D057-A57F-8C63-B5AD-03915099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Common Pitfalls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77901C-74ED-1025-FC77-50AC2B435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861168"/>
            <a:ext cx="11099800" cy="442533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800" dirty="0"/>
              <a:t>Embedding Model Isn’t Medical-Specialized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br>
              <a:rPr lang="en-US" sz="1800" dirty="0"/>
            </a:br>
            <a:r>
              <a:rPr lang="en-US" sz="1600" dirty="0"/>
              <a:t>You’re using nomic-embed-text-v1.5, which is a great general-purpose encoder, but it may not capture the nuance of clinical terms as well as a biomedically-tuned model (e.g. </a:t>
            </a:r>
            <a:r>
              <a:rPr lang="en-US" sz="1600" dirty="0" err="1"/>
              <a:t>Bio_ClinicalBERT</a:t>
            </a:r>
            <a:r>
              <a:rPr lang="en-US" sz="1600" dirty="0"/>
              <a:t>, Clinical-SBERT). A generic model often “sees” long, narrative med-rec texts as more semantically rich, drowning out the shorter Condition entries.</a:t>
            </a:r>
            <a:br>
              <a:rPr lang="en-US" sz="1600" dirty="0"/>
            </a:br>
            <a:endParaRPr lang="en-US" sz="1600" dirty="0"/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800" dirty="0"/>
              <a:t>No Resource-Type Filtering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br>
              <a:rPr lang="en-US" sz="1800" dirty="0"/>
            </a:br>
            <a:r>
              <a:rPr lang="en-US" sz="1600" dirty="0"/>
              <a:t>SELECT TOP 4 </a:t>
            </a:r>
            <a:r>
              <a:rPr lang="en-US" sz="1600" dirty="0" err="1"/>
              <a:t>resourcetext</a:t>
            </a:r>
            <a:r>
              <a:rPr lang="en-US" sz="1600" dirty="0"/>
              <a:t>, … FROM </a:t>
            </a:r>
            <a:r>
              <a:rPr lang="en-US" sz="1600" dirty="0" err="1"/>
              <a:t>PatientVectors</a:t>
            </a:r>
            <a:r>
              <a:rPr lang="en-US" sz="1600" dirty="0"/>
              <a:t> WHERE </a:t>
            </a:r>
            <a:r>
              <a:rPr lang="en-US" sz="1600" dirty="0" err="1"/>
              <a:t>patient_id</a:t>
            </a:r>
            <a:r>
              <a:rPr lang="en-US" sz="1600" dirty="0"/>
              <a:t> = ? ORDER BY VECTOR_COSINE(… ) DESC 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 dirty="0"/>
              <a:t>only constrains by patient. You could boost relevance dramatically by </a:t>
            </a:r>
            <a:r>
              <a:rPr lang="en-US" sz="1600" i="1" dirty="0"/>
              <a:t>also</a:t>
            </a:r>
            <a:r>
              <a:rPr lang="en-US" sz="1600" dirty="0"/>
              <a:t> filtering to </a:t>
            </a:r>
            <a:r>
              <a:rPr lang="en-US" sz="1600" dirty="0" err="1"/>
              <a:t>resource_type</a:t>
            </a:r>
            <a:r>
              <a:rPr lang="en-US" sz="1600" dirty="0"/>
              <a:t> = 'Condition' when you’re specifically looking for conditions, or by returning 8–10 rows and then post-filtering by type in Python.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F86833-A7B6-F651-66F3-F6A9F3E52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/>
              <a:t>Vector search is only as good as three things: your embeddings, the texts you’re indexing, and how you query them.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4403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D2D5-92C0-572A-4F42-0E1CD281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RAG vs Graph RAG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042C1C-2414-1A30-1CF1-AA5DE36633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6100" y="2459316"/>
          <a:ext cx="11099799" cy="3017280"/>
        </p:xfrm>
        <a:graphic>
          <a:graphicData uri="http://schemas.openxmlformats.org/drawingml/2006/table">
            <a:tbl>
              <a:tblPr/>
              <a:tblGrid>
                <a:gridCol w="3699933">
                  <a:extLst>
                    <a:ext uri="{9D8B030D-6E8A-4147-A177-3AD203B41FA5}">
                      <a16:colId xmlns:a16="http://schemas.microsoft.com/office/drawing/2014/main" val="3328384499"/>
                    </a:ext>
                  </a:extLst>
                </a:gridCol>
                <a:gridCol w="3699933">
                  <a:extLst>
                    <a:ext uri="{9D8B030D-6E8A-4147-A177-3AD203B41FA5}">
                      <a16:colId xmlns:a16="http://schemas.microsoft.com/office/drawing/2014/main" val="1839587278"/>
                    </a:ext>
                  </a:extLst>
                </a:gridCol>
                <a:gridCol w="3699933">
                  <a:extLst>
                    <a:ext uri="{9D8B030D-6E8A-4147-A177-3AD203B41FA5}">
                      <a16:colId xmlns:a16="http://schemas.microsoft.com/office/drawing/2014/main" val="3466989332"/>
                    </a:ext>
                  </a:extLst>
                </a:gridCol>
              </a:tblGrid>
              <a:tr h="365603">
                <a:tc>
                  <a:txBody>
                    <a:bodyPr/>
                    <a:lstStyle/>
                    <a:p>
                      <a:r>
                        <a:rPr lang="en-US" sz="1800"/>
                        <a:t>Feature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RAG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Graph RAG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735957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Structure of Knowledge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Flat document chunks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Nodes and relationships (graphs)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187469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Retrieval Strategy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Top-N via embeddings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Targeted traversal of graph paths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066115"/>
                  </a:ext>
                </a:extLst>
              </a:tr>
              <a:tr h="365603">
                <a:tc>
                  <a:txBody>
                    <a:bodyPr/>
                    <a:lstStyle/>
                    <a:p>
                      <a:r>
                        <a:rPr lang="en-US" sz="1800"/>
                        <a:t>Reasoning Capability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Single-hop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Multi-hop reasoning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009798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Context Quality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Redundant, unstructured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Deduplicated, linked, and relevant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251468"/>
                  </a:ext>
                </a:extLst>
              </a:tr>
              <a:tr h="365603">
                <a:tc>
                  <a:txBody>
                    <a:bodyPr/>
                    <a:lstStyle/>
                    <a:p>
                      <a:r>
                        <a:rPr lang="en-US" sz="1800"/>
                        <a:t>Explainability/Updates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Low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63882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04626-1DC1-CD5A-AB70-EA93B51F7A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F76689-E52F-B35D-489C-9FFB68A84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59221"/>
            <a:ext cx="7772400" cy="513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80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484-77B0-57AD-61B3-EF461CC4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Graph RAG Data Structures Are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4DA4A-BA18-0636-29FD-D17E623C6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Text Chunking and Parsing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Like RAG, the source documents (docs, webpages, transcripts, etc.) are chunked into passages.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passage is parsed to </a:t>
            </a:r>
            <a:r>
              <a:rPr lang="en-US" b="1" dirty="0"/>
              <a:t>identify entities and relationships</a:t>
            </a:r>
            <a:r>
              <a:rPr lang="en-US" dirty="0"/>
              <a:t> using NLP techniques (NER, dependency parsing, co-reference resolution, etc.).</a:t>
            </a:r>
          </a:p>
          <a:p>
            <a:pPr>
              <a:buNone/>
            </a:pPr>
            <a:r>
              <a:rPr lang="en-US" b="1" dirty="0"/>
              <a:t>2. Knowledge Graph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Entities become </a:t>
            </a:r>
            <a:r>
              <a:rPr lang="en-US" b="1" dirty="0"/>
              <a:t>nodes</a:t>
            </a:r>
            <a:r>
              <a:rPr lang="en-US" dirty="0"/>
              <a:t> (e.g., people, drugs, concepts).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Relationships become </a:t>
            </a:r>
            <a:r>
              <a:rPr lang="en-US" b="1" dirty="0"/>
              <a:t>edges</a:t>
            </a:r>
            <a:r>
              <a:rPr lang="en-US" dirty="0"/>
              <a:t> (e.g., “treats,” “is a subtype of,” “causes”).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Optionally, each node and edge can store metadata (like provenance, source chunk, timestamp, or embedding).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DB495-36F2-2A99-C6A6-7AD7C7070D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89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DB4B-B6B3-A1EB-C170-B2B8B2EE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Graph Search in Graph RAG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EBB9A7-48EA-2623-DE44-FE10F1C82A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6100" y="2779336"/>
          <a:ext cx="11099800" cy="2377240"/>
        </p:xfrm>
        <a:graphic>
          <a:graphicData uri="http://schemas.openxmlformats.org/drawingml/2006/table">
            <a:tbl>
              <a:tblPr/>
              <a:tblGrid>
                <a:gridCol w="5549900">
                  <a:extLst>
                    <a:ext uri="{9D8B030D-6E8A-4147-A177-3AD203B41FA5}">
                      <a16:colId xmlns:a16="http://schemas.microsoft.com/office/drawing/2014/main" val="3927684979"/>
                    </a:ext>
                  </a:extLst>
                </a:gridCol>
                <a:gridCol w="5549900">
                  <a:extLst>
                    <a:ext uri="{9D8B030D-6E8A-4147-A177-3AD203B41FA5}">
                      <a16:colId xmlns:a16="http://schemas.microsoft.com/office/drawing/2014/main" val="3435359042"/>
                    </a:ext>
                  </a:extLst>
                </a:gridCol>
              </a:tblGrid>
              <a:tr h="365603">
                <a:tc>
                  <a:txBody>
                    <a:bodyPr/>
                    <a:lstStyle/>
                    <a:p>
                      <a:r>
                        <a:rPr lang="en-US" sz="1800"/>
                        <a:t>Feature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Graph RAG Search Benefit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182531"/>
                  </a:ext>
                </a:extLst>
              </a:tr>
              <a:tr h="365603">
                <a:tc>
                  <a:txBody>
                    <a:bodyPr/>
                    <a:lstStyle/>
                    <a:p>
                      <a:r>
                        <a:rPr lang="en-US" sz="1800" b="1"/>
                        <a:t>Relevance</a:t>
                      </a:r>
                      <a:endParaRPr lang="en-US" sz="1800"/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Finds paths that logically connect concepts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55273"/>
                  </a:ext>
                </a:extLst>
              </a:tr>
              <a:tr h="365603">
                <a:tc>
                  <a:txBody>
                    <a:bodyPr/>
                    <a:lstStyle/>
                    <a:p>
                      <a:r>
                        <a:rPr lang="en-US" sz="1800" b="1"/>
                        <a:t>Multi-hop Reasoning</a:t>
                      </a:r>
                      <a:endParaRPr lang="en-US" sz="1800"/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Enables chain-of-thought via graph traversal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071770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 b="1"/>
                        <a:t>Explainability</a:t>
                      </a:r>
                      <a:endParaRPr lang="en-US" sz="1800"/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Can trace which nodes/edges contributed to the answer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827579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 b="1"/>
                        <a:t>Compact Context</a:t>
                      </a:r>
                      <a:endParaRPr lang="en-US" sz="1800"/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Avoids redundant or loosely relevant text chunks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86524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206FC-5885-53CB-BFB7-A7D98F1CAA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49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BA97-A1A3-0715-1E07-173C5F4E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Graph RAG Can Help in FHIR Context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3D9F5CE-BE27-090D-5B79-98AF59A602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6100" y="2505016"/>
          <a:ext cx="11099800" cy="2925880"/>
        </p:xfrm>
        <a:graphic>
          <a:graphicData uri="http://schemas.openxmlformats.org/drawingml/2006/table">
            <a:tbl>
              <a:tblPr/>
              <a:tblGrid>
                <a:gridCol w="5549900">
                  <a:extLst>
                    <a:ext uri="{9D8B030D-6E8A-4147-A177-3AD203B41FA5}">
                      <a16:colId xmlns:a16="http://schemas.microsoft.com/office/drawing/2014/main" val="2591933489"/>
                    </a:ext>
                  </a:extLst>
                </a:gridCol>
                <a:gridCol w="5549900">
                  <a:extLst>
                    <a:ext uri="{9D8B030D-6E8A-4147-A177-3AD203B41FA5}">
                      <a16:colId xmlns:a16="http://schemas.microsoft.com/office/drawing/2014/main" val="3103448375"/>
                    </a:ext>
                  </a:extLst>
                </a:gridCol>
              </a:tblGrid>
              <a:tr h="365603">
                <a:tc>
                  <a:txBody>
                    <a:bodyPr/>
                    <a:lstStyle/>
                    <a:p>
                      <a:r>
                        <a:rPr lang="en-US" sz="1800"/>
                        <a:t>Challenge in Flat RAG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What Graph RAG Enables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291292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Isolated text chunks may lose clinical context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Traverse patient → observation → code hierarchies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209940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Difficult to reason over timelines or encounters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 edge types like "preceded by", "performed during"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977003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Complex joins needed to assemble a case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Graph traversal can walk relevant resource links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754268"/>
                  </a:ext>
                </a:extLst>
              </a:tr>
              <a:tr h="639805">
                <a:tc>
                  <a:txBody>
                    <a:bodyPr/>
                    <a:lstStyle/>
                    <a:p>
                      <a:r>
                        <a:rPr lang="en-US" sz="1800"/>
                        <a:t>Limited control over what gets retrieved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Retrieve context by subgraph (e.g., all Observations for one Encounter)</a:t>
                      </a:r>
                    </a:p>
                  </a:txBody>
                  <a:tcPr marL="91401" marR="91401" marT="45700" marB="45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72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1130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1D6A-587D-3A17-EDA7-4F4899EF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378D5-CF24-FFE8-D661-B691DC81A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There are three common methods to build the graph: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Rule-based extractors</a:t>
            </a:r>
            <a:r>
              <a:rPr lang="en-US" dirty="0"/>
              <a:t> for specific domains (e.g., biomedical).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LLMs with structured prompts</a:t>
            </a:r>
            <a:r>
              <a:rPr lang="en-US" dirty="0"/>
              <a:t> to generate triples.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Ontology-aligned</a:t>
            </a:r>
            <a:r>
              <a:rPr lang="en-US" dirty="0"/>
              <a:t> systems (e.g., mapping to SNOMED CT, FHIR resources, etc.).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5FE7C-B2CD-942A-A38D-F43C09F33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61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256999-446C-9BC8-BB1E-993EFD1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5CD3AC-1AAA-127C-3144-4F9E7821AC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EF374F-D90C-7C9D-A318-31BA028897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1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heme/theme1.xml><?xml version="1.0" encoding="utf-8"?>
<a:theme xmlns:a="http://schemas.openxmlformats.org/drawingml/2006/main" name="InterSystems Dark">
  <a:themeElements>
    <a:clrScheme name="Office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5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oolkit_Dark.potx" id="{85178133-8F43-4129-B9A7-7931E2433E4F}" vid="{1F628C43-33C9-4793-9680-121BB52C73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11450</TotalTime>
  <Words>3856</Words>
  <Application>Microsoft Macintosh PowerPoint</Application>
  <PresentationFormat>Widescreen</PresentationFormat>
  <Paragraphs>402</Paragraphs>
  <Slides>44</Slides>
  <Notes>2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Arial</vt:lpstr>
      <vt:lpstr>Menlo</vt:lpstr>
      <vt:lpstr>Verdana</vt:lpstr>
      <vt:lpstr>Verdana bold</vt:lpstr>
      <vt:lpstr>InterSystems Dark</vt:lpstr>
      <vt:lpstr>  Lab: Large Language Models (LLMs)  – Using RAG in FHIR Applications  Patrick W. Jamieson, M.D. Technical Product Manager  Russ Leftwich, M.D. Senior Clinical Advisor, Interoperability </vt:lpstr>
      <vt:lpstr>LAB THEME: USING RAG TO IMPROVE LLM PERFORMANCE</vt:lpstr>
      <vt:lpstr>RAG Architecture</vt:lpstr>
      <vt:lpstr>RAG Workflow</vt:lpstr>
      <vt:lpstr>Benefits &amp; Challenges</vt:lpstr>
      <vt:lpstr>Challenge One – Creating Semantic Vectors</vt:lpstr>
      <vt:lpstr>Environment &amp; Dependencies</vt:lpstr>
      <vt:lpstr>Two Functions You Will Need</vt:lpstr>
      <vt:lpstr>Why Do We Count Tokens?</vt:lpstr>
      <vt:lpstr>Sample Query &amp; Expected Output</vt:lpstr>
      <vt:lpstr>Patient One</vt:lpstr>
      <vt:lpstr>Patient Two</vt:lpstr>
      <vt:lpstr>Patient Three</vt:lpstr>
      <vt:lpstr>Patient Four</vt:lpstr>
      <vt:lpstr>Patient Five</vt:lpstr>
      <vt:lpstr>Patient Six</vt:lpstr>
      <vt:lpstr>Challenge Two (A) – Create Hybrid Vector Table</vt:lpstr>
      <vt:lpstr>Challenge Two(B) – CREATE A HNSW</vt:lpstr>
      <vt:lpstr>Why IRIS Uses HNSW for Vector Search</vt:lpstr>
      <vt:lpstr>Hierarchical Navigable Small World (HNSW)</vt:lpstr>
      <vt:lpstr>Challenge Two(C) – Load Vectors into Your Hybrid Table</vt:lpstr>
      <vt:lpstr>Step Two(D) –Search Your Vector Table</vt:lpstr>
      <vt:lpstr>Challenge  Three- Creating A Summary that Combines Partial Summaries over Resource Types </vt:lpstr>
      <vt:lpstr>Challenge Three (A) – Create a Hybrid Table over all Resources in the Patient Compartment</vt:lpstr>
      <vt:lpstr>Does RAG Require a Hybrid Vector Table?</vt:lpstr>
      <vt:lpstr>Retrieval Techniques</vt:lpstr>
      <vt:lpstr>Comparison</vt:lpstr>
      <vt:lpstr>Challenge Three (B) – Get All Patient Ids in the FHIR Repository</vt:lpstr>
      <vt:lpstr>Challenge Three (C) -Index Each Resource by Patient Id, Patient Name, Resource Type, Resource Id</vt:lpstr>
      <vt:lpstr>Challenge Three (D) – Flatten the Resource into a String</vt:lpstr>
      <vt:lpstr>Challenge Three (E) – Truncate Resource String and Create Embedding</vt:lpstr>
      <vt:lpstr>Challenge Three (F) – Insert Vector into Hybrid table</vt:lpstr>
      <vt:lpstr>Challenge Three (G) – Retrieve and Summarize FHIR Resources</vt:lpstr>
      <vt:lpstr>Challenge Four  – Combine Regular Search with Vector Search</vt:lpstr>
      <vt:lpstr>Example Output</vt:lpstr>
      <vt:lpstr>Errata for Hybrid Vector Search</vt:lpstr>
      <vt:lpstr>Common Pitfalls</vt:lpstr>
      <vt:lpstr>Comparison of RAG vs Graph RAG</vt:lpstr>
      <vt:lpstr>PowerPoint Presentation</vt:lpstr>
      <vt:lpstr>How Graph RAG Data Structures Are Built</vt:lpstr>
      <vt:lpstr>Advantages of Graph Search in Graph RAG</vt:lpstr>
      <vt:lpstr>How Graph RAG Can Help in FHIR Context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Jamieson</dc:creator>
  <cp:lastModifiedBy>Patrick Jamieson</cp:lastModifiedBy>
  <cp:revision>10</cp:revision>
  <dcterms:created xsi:type="dcterms:W3CDTF">2025-05-19T19:40:38Z</dcterms:created>
  <dcterms:modified xsi:type="dcterms:W3CDTF">2025-05-27T18:32:11Z</dcterms:modified>
</cp:coreProperties>
</file>