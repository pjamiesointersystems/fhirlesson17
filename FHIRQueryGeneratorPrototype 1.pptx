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68" r:id="rId3"/>
    <p:sldId id="263" r:id="rId4"/>
    <p:sldId id="266" r:id="rId5"/>
    <p:sldId id="267" r:id="rId6"/>
    <p:sldId id="258" r:id="rId7"/>
    <p:sldId id="259" r:id="rId8"/>
    <p:sldId id="260" r:id="rId9"/>
    <p:sldId id="261" r:id="rId10"/>
    <p:sldId id="257" r:id="rId11"/>
    <p:sldId id="265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howGuide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5F747-3A66-FDBB-9EF5-B5619D2C53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BA015E-79E9-2DDD-F9A9-7FB22258DD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6A52A-CCF8-8EBE-B582-DF5B4D5F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D66FB-6F0E-F94D-9481-6A0EDF1133E5}" type="datetimeFigureOut">
              <a:rPr lang="en-US" smtClean="0"/>
              <a:t>5/19/25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A8BF2-C8DA-2870-F0AC-81C8CD742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24C00-724E-2573-CD86-6C741F8A4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865AA-A7DF-D242-8214-69230C977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25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F9CC0-5607-1203-7944-2FAF3540A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CE38C-E1E9-6A87-4653-F06A2758A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4A1A0-6961-BEB5-0A37-B181953A3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D66FB-6F0E-F94D-9481-6A0EDF1133E5}" type="datetimeFigureOut">
              <a:rPr lang="en-US" smtClean="0"/>
              <a:t>5/19/25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136B8-F4A0-DC22-21EB-EDA0C6074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70EFD-7B5C-34A9-9828-3959610D0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865AA-A7DF-D242-8214-69230C977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764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6DB75-DC39-9B22-F3B9-799D1952D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19A78-A515-382F-DC86-D12D9AECF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CABA7-0ACF-CCA0-73FA-9E6E73B25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D66FB-6F0E-F94D-9481-6A0EDF1133E5}" type="datetimeFigureOut">
              <a:rPr lang="en-US" smtClean="0"/>
              <a:t>5/19/25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ACD0B-BEBC-ED7C-B2F1-0E737F51B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542E5-3579-28C9-24A8-9FA6BD1B0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865AA-A7DF-D242-8214-69230C977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61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20CA9-498A-5E0E-6B72-22F83944E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B9058-3167-A6F5-179E-D1F945BB11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F5982D-3ECF-CEB8-9B85-D016EE37F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72D5AB-3465-B386-C5E4-BB54F3C21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D66FB-6F0E-F94D-9481-6A0EDF1133E5}" type="datetimeFigureOut">
              <a:rPr lang="en-US" smtClean="0"/>
              <a:t>5/19/25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21E198-643B-27C7-B6B4-AA0256126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880587-E4E7-9E80-720D-E38D09202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865AA-A7DF-D242-8214-69230C977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909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365DD-9DA0-908D-F186-ABE5221B3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D92A1A-80B3-D13F-CF4A-5FB85D23B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12CC04-2C52-6BCE-54CF-0AEA0C2D7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08CCC9-1579-73EF-DBDC-98B772BCE2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CE1FCD-976F-1532-720C-A282B3C102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6A5019-F222-4B15-365C-5E7AD1DF3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D66FB-6F0E-F94D-9481-6A0EDF1133E5}" type="datetimeFigureOut">
              <a:rPr lang="en-US" smtClean="0"/>
              <a:t>5/19/25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CFF6CB-9EFD-942B-041A-E5B3E15A1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DD7BC1-E8C4-794A-32A5-76A2E25F9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865AA-A7DF-D242-8214-69230C977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607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F33C9-2CE1-160C-6868-3520DADAC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EBF501-694A-7CBD-EFD0-E6B9C0CC0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D66FB-6F0E-F94D-9481-6A0EDF1133E5}" type="datetimeFigureOut">
              <a:rPr lang="en-US" smtClean="0"/>
              <a:t>5/19/25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03B3AC-10E6-B94F-A8A5-7CE992DAC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5FA179-72AD-129B-FAD1-4E85F1FE3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865AA-A7DF-D242-8214-69230C977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911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2DF694-FEB9-8E7E-6AA1-726085F02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D66FB-6F0E-F94D-9481-6A0EDF1133E5}" type="datetimeFigureOut">
              <a:rPr lang="en-US" smtClean="0"/>
              <a:t>5/19/25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1CAD3F-DBEF-280A-3F2B-43D51BA28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13477-9D99-E0CE-5135-642476B37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865AA-A7DF-D242-8214-69230C977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50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851BD-7A30-6DAF-2490-811144A2D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B513C-0B32-ED3C-5C8D-18871AABF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BDC0AE-8C6E-524E-AB7A-253C923A5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965BCB-C6C5-4391-2707-000E47876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D66FB-6F0E-F94D-9481-6A0EDF1133E5}" type="datetimeFigureOut">
              <a:rPr lang="en-US" smtClean="0"/>
              <a:t>5/19/25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BBB47E-DDE2-DA1C-9C0E-11DA761E4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D9239F-7376-8B70-24E5-13A2CAC30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865AA-A7DF-D242-8214-69230C977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271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1DFA2-8E9D-98AF-13C8-6F48D38BF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ECD090-5138-A74B-D4E0-5988EF742F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3BD3EC-5CF4-6038-C716-E9D0C91E6F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B46B98-EEA5-34D8-70E9-C6B3A3B2B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D66FB-6F0E-F94D-9481-6A0EDF1133E5}" type="datetimeFigureOut">
              <a:rPr lang="en-US" smtClean="0"/>
              <a:t>5/19/25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348BFC-7FF5-B048-6116-52A457BD3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C42229-08D1-3A49-DB63-A8FDC599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865AA-A7DF-D242-8214-69230C977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447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6661F-071F-3AF3-4AE3-DCC6AFEBD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E556C9-01FF-D48E-3080-4D0925C8BF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5D16C8-BCE8-C218-591D-E8E3FE03E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D66FB-6F0E-F94D-9481-6A0EDF1133E5}" type="datetimeFigureOut">
              <a:rPr lang="en-US" smtClean="0"/>
              <a:t>5/19/25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734E8-4634-3D52-70B6-0A4F0C368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DCC06-08A5-AA36-5777-BEEA22DB5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865AA-A7DF-D242-8214-69230C977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228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20828C-DE41-227F-910E-1F00039195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690F3-D5A9-B2CD-98CE-E1F6F58A09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1F1E0-30BE-9BE2-4449-36504C067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D66FB-6F0E-F94D-9481-6A0EDF1133E5}" type="datetimeFigureOut">
              <a:rPr lang="en-US" smtClean="0"/>
              <a:t>5/19/25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6CBFE-7F87-41CD-1BC6-2FE27AA83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8AFE6-E146-F3F0-6764-0962A8DED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865AA-A7DF-D242-8214-69230C977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128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F7188D-36AC-D2E6-8078-3277C8FFB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17B719-CCE0-224B-FF38-A6A81DBA6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193F6-65DE-8779-6B67-57E88B17C4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2D66FB-6F0E-F94D-9481-6A0EDF1133E5}" type="datetimeFigureOut">
              <a:rPr lang="en-US" smtClean="0"/>
              <a:t>5/19/25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15493-D97E-58E6-7215-3F26CDC12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0DACE-5616-5648-A68C-E93DF8D6BE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E865AA-A7DF-D242-8214-69230C977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617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F8A27-B4CF-00E2-B433-5511CC4D22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FHIR Query Generation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E85279-1DE8-5C5F-53FD-40767031A2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multi-pronged strategy to help users build correct FHIR request and improve their knowledge of FHIR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FCF3E5-9CFE-4783-0CE0-80DA97194945}"/>
              </a:ext>
            </a:extLst>
          </p:cNvPr>
          <p:cNvSpPr txBox="1"/>
          <p:nvPr/>
        </p:nvSpPr>
        <p:spPr>
          <a:xfrm>
            <a:off x="4718733" y="5543811"/>
            <a:ext cx="2990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Patrick W. Jamieson, M.D.</a:t>
            </a:r>
          </a:p>
          <a:p>
            <a:r>
              <a:rPr lang="en-US" dirty="0"/>
              <a:t>Product Manager, FHIR Core</a:t>
            </a:r>
          </a:p>
        </p:txBody>
      </p:sp>
    </p:spTree>
    <p:extLst>
      <p:ext uri="{BB962C8B-B14F-4D97-AF65-F5344CB8AC3E}">
        <p14:creationId xmlns:p14="http://schemas.microsoft.com/office/powerpoint/2010/main" val="1743602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D6CCA-1E5C-D3B8-8725-C1E01F71D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78413-A292-7219-B891-D72434C53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Enhancing Usability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Simplifying the query generation process for new users to reduce their learning curve, making our FHIR platform more  accessible to a broader range of healthcare professionals and researchers.</a:t>
            </a:r>
          </a:p>
          <a:p>
            <a:pPr marL="0" indent="0" algn="l">
              <a:buNone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Promoting Standardization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Encouraging the use of valid FHIR queries to maintain the integrity and standardization of data exchange, which is vital for interoperability.</a:t>
            </a:r>
          </a:p>
          <a:p>
            <a:pPr marL="0" indent="0" algn="l">
              <a:buNone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Supporting Innovation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Support innovators and developers so they can more readily create new applications and services that utilize healthcare data on our FHIR platform.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253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094855E-717E-0FF4-5635-04C6AEE2F645}"/>
              </a:ext>
            </a:extLst>
          </p:cNvPr>
          <p:cNvSpPr txBox="1"/>
          <p:nvPr/>
        </p:nvSpPr>
        <p:spPr>
          <a:xfrm>
            <a:off x="3809999" y="175364"/>
            <a:ext cx="4008329" cy="369332"/>
          </a:xfrm>
          <a:prstGeom prst="rect">
            <a:avLst/>
          </a:prstGeom>
          <a:noFill/>
          <a:ln w="22225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Input Question in Natural Language</a:t>
            </a:r>
          </a:p>
        </p:txBody>
      </p:sp>
      <p:sp>
        <p:nvSpPr>
          <p:cNvPr id="6" name="Triangle 5">
            <a:extLst>
              <a:ext uri="{FF2B5EF4-FFF2-40B4-BE49-F238E27FC236}">
                <a16:creationId xmlns:a16="http://schemas.microsoft.com/office/drawing/2014/main" id="{ED0C25B4-B9F4-6A0E-4F03-8270D12DA6DF}"/>
              </a:ext>
            </a:extLst>
          </p:cNvPr>
          <p:cNvSpPr/>
          <p:nvPr/>
        </p:nvSpPr>
        <p:spPr>
          <a:xfrm>
            <a:off x="4290163" y="2561764"/>
            <a:ext cx="2555310" cy="1653435"/>
          </a:xfrm>
          <a:prstGeom prst="triangle">
            <a:avLst/>
          </a:prstGeom>
          <a:ln w="3175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Chroma</a:t>
            </a:r>
            <a:br>
              <a:rPr lang="en-US" dirty="0"/>
            </a:br>
            <a:r>
              <a:rPr lang="en-US" dirty="0"/>
              <a:t>Match Good?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60ACCD-9B30-B5BA-137E-0FC15D0E3DF7}"/>
              </a:ext>
            </a:extLst>
          </p:cNvPr>
          <p:cNvSpPr/>
          <p:nvPr/>
        </p:nvSpPr>
        <p:spPr>
          <a:xfrm>
            <a:off x="8054235" y="914403"/>
            <a:ext cx="1741118" cy="12776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Gold Standard Data</a:t>
            </a:r>
            <a:br>
              <a:rPr lang="en-US" dirty="0"/>
            </a:br>
            <a:r>
              <a:rPr lang="en-US" dirty="0"/>
              <a:t>(Chroma)</a:t>
            </a:r>
          </a:p>
        </p:txBody>
      </p:sp>
      <p:sp>
        <p:nvSpPr>
          <p:cNvPr id="9" name="Triangle 8">
            <a:extLst>
              <a:ext uri="{FF2B5EF4-FFF2-40B4-BE49-F238E27FC236}">
                <a16:creationId xmlns:a16="http://schemas.microsoft.com/office/drawing/2014/main" id="{40C56B7B-82B1-BC01-3DD5-8D0C73801348}"/>
              </a:ext>
            </a:extLst>
          </p:cNvPr>
          <p:cNvSpPr/>
          <p:nvPr/>
        </p:nvSpPr>
        <p:spPr>
          <a:xfrm>
            <a:off x="1117945" y="5636718"/>
            <a:ext cx="2010429" cy="1221283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 200 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5E3A04B-856D-945D-760F-8A73BA4CE8C9}"/>
              </a:ext>
            </a:extLst>
          </p:cNvPr>
          <p:cNvSpPr/>
          <p:nvPr/>
        </p:nvSpPr>
        <p:spPr>
          <a:xfrm>
            <a:off x="4609577" y="1096030"/>
            <a:ext cx="1916482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Vector DB similarity search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9A2A754-402F-8AE9-12DF-7EF94D9594BE}"/>
              </a:ext>
            </a:extLst>
          </p:cNvPr>
          <p:cNvCxnSpPr>
            <a:cxnSpLocks/>
          </p:cNvCxnSpPr>
          <p:nvPr/>
        </p:nvCxnSpPr>
        <p:spPr>
          <a:xfrm flipV="1">
            <a:off x="6591820" y="1440495"/>
            <a:ext cx="1415442" cy="1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8C71859-BEC0-65E9-7621-A427DA7421D5}"/>
              </a:ext>
            </a:extLst>
          </p:cNvPr>
          <p:cNvCxnSpPr>
            <a:cxnSpLocks/>
          </p:cNvCxnSpPr>
          <p:nvPr/>
        </p:nvCxnSpPr>
        <p:spPr>
          <a:xfrm flipH="1">
            <a:off x="6544847" y="1753833"/>
            <a:ext cx="1415441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E026534-F8D1-A956-694E-0DE60E022B65}"/>
              </a:ext>
            </a:extLst>
          </p:cNvPr>
          <p:cNvCxnSpPr>
            <a:stCxn id="10" idx="2"/>
          </p:cNvCxnSpPr>
          <p:nvPr/>
        </p:nvCxnSpPr>
        <p:spPr>
          <a:xfrm>
            <a:off x="5567818" y="2010430"/>
            <a:ext cx="0" cy="551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29413AD-F396-F77A-24C1-6570BF36FB7B}"/>
              </a:ext>
            </a:extLst>
          </p:cNvPr>
          <p:cNvSpPr/>
          <p:nvPr/>
        </p:nvSpPr>
        <p:spPr>
          <a:xfrm>
            <a:off x="8054235" y="2790173"/>
            <a:ext cx="1741118" cy="12776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Query + Explanation to User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6172087-44A8-FA36-76D3-C75288E7EBBB}"/>
              </a:ext>
            </a:extLst>
          </p:cNvPr>
          <p:cNvCxnSpPr>
            <a:stCxn id="6" idx="5"/>
          </p:cNvCxnSpPr>
          <p:nvPr/>
        </p:nvCxnSpPr>
        <p:spPr>
          <a:xfrm flipV="1">
            <a:off x="6206646" y="3388481"/>
            <a:ext cx="1753642" cy="1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C655CED-32AE-AF86-56E6-AFA51AD47138}"/>
              </a:ext>
            </a:extLst>
          </p:cNvPr>
          <p:cNvSpPr txBox="1"/>
          <p:nvPr/>
        </p:nvSpPr>
        <p:spPr>
          <a:xfrm>
            <a:off x="6875235" y="2890477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0D4A479-950B-40CF-EE5B-5B6BF1B1A44A}"/>
              </a:ext>
            </a:extLst>
          </p:cNvPr>
          <p:cNvSpPr/>
          <p:nvPr/>
        </p:nvSpPr>
        <p:spPr>
          <a:xfrm>
            <a:off x="1164919" y="3022004"/>
            <a:ext cx="1916482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Vector DB RAG search (Pinecone)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FD5787A-8ECB-566D-A938-42D894DD09A3}"/>
              </a:ext>
            </a:extLst>
          </p:cNvPr>
          <p:cNvCxnSpPr>
            <a:stCxn id="6" idx="1"/>
          </p:cNvCxnSpPr>
          <p:nvPr/>
        </p:nvCxnSpPr>
        <p:spPr>
          <a:xfrm flipH="1" flipV="1">
            <a:off x="3175348" y="3388481"/>
            <a:ext cx="1753643" cy="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8648216-1EAD-AD65-B804-1CA3483D59A7}"/>
              </a:ext>
            </a:extLst>
          </p:cNvPr>
          <p:cNvSpPr txBox="1"/>
          <p:nvPr/>
        </p:nvSpPr>
        <p:spPr>
          <a:xfrm>
            <a:off x="3638808" y="2837338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F838125-C098-BD5A-43E8-74E5950EEE9C}"/>
              </a:ext>
            </a:extLst>
          </p:cNvPr>
          <p:cNvSpPr/>
          <p:nvPr/>
        </p:nvSpPr>
        <p:spPr>
          <a:xfrm>
            <a:off x="1164919" y="4446740"/>
            <a:ext cx="1916482" cy="914400"/>
          </a:xfrm>
          <a:prstGeom prst="roundRect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Feed Query into FHIR server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21E6014-1CB4-BFD7-72E9-24A09A1CE86E}"/>
              </a:ext>
            </a:extLst>
          </p:cNvPr>
          <p:cNvCxnSpPr>
            <a:stCxn id="21" idx="2"/>
          </p:cNvCxnSpPr>
          <p:nvPr/>
        </p:nvCxnSpPr>
        <p:spPr>
          <a:xfrm>
            <a:off x="2123160" y="3936404"/>
            <a:ext cx="0" cy="5103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C95B67B-8DCC-27B5-48FA-68A110E5A1C2}"/>
              </a:ext>
            </a:extLst>
          </p:cNvPr>
          <p:cNvCxnSpPr>
            <a:cxnSpLocks/>
            <a:stCxn id="25" idx="2"/>
            <a:endCxn id="9" idx="0"/>
          </p:cNvCxnSpPr>
          <p:nvPr/>
        </p:nvCxnSpPr>
        <p:spPr>
          <a:xfrm>
            <a:off x="2123160" y="5361140"/>
            <a:ext cx="0" cy="27557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741883F-996C-584F-3D41-27FD8371F012}"/>
              </a:ext>
            </a:extLst>
          </p:cNvPr>
          <p:cNvSpPr/>
          <p:nvPr/>
        </p:nvSpPr>
        <p:spPr>
          <a:xfrm>
            <a:off x="3651336" y="5775067"/>
            <a:ext cx="1916482" cy="914400"/>
          </a:xfrm>
          <a:prstGeom prst="roundRect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Feed Output into Explain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0C78E17-2387-403D-8173-EF43E1AA9A77}"/>
              </a:ext>
            </a:extLst>
          </p:cNvPr>
          <p:cNvCxnSpPr>
            <a:stCxn id="9" idx="5"/>
            <a:endCxn id="32" idx="1"/>
          </p:cNvCxnSpPr>
          <p:nvPr/>
        </p:nvCxnSpPr>
        <p:spPr>
          <a:xfrm flipV="1">
            <a:off x="2625767" y="6232267"/>
            <a:ext cx="1025569" cy="1509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0B903EE-8D3D-26D0-B4A8-F83D5489F6CA}"/>
              </a:ext>
            </a:extLst>
          </p:cNvPr>
          <p:cNvSpPr txBox="1"/>
          <p:nvPr/>
        </p:nvSpPr>
        <p:spPr>
          <a:xfrm>
            <a:off x="2931090" y="5912285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BCE3C09-7190-576F-0EA6-304EF426E4C2}"/>
              </a:ext>
            </a:extLst>
          </p:cNvPr>
          <p:cNvCxnSpPr>
            <a:stCxn id="9" idx="1"/>
          </p:cNvCxnSpPr>
          <p:nvPr/>
        </p:nvCxnSpPr>
        <p:spPr>
          <a:xfrm flipH="1" flipV="1">
            <a:off x="250521" y="6232267"/>
            <a:ext cx="1370031" cy="1509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10303FC-2079-1D65-FE10-F9812338AAB4}"/>
              </a:ext>
            </a:extLst>
          </p:cNvPr>
          <p:cNvSpPr txBox="1"/>
          <p:nvPr/>
        </p:nvSpPr>
        <p:spPr>
          <a:xfrm>
            <a:off x="643135" y="5812831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3AA3826-252C-26BB-8DAB-FB33403819B5}"/>
              </a:ext>
            </a:extLst>
          </p:cNvPr>
          <p:cNvSpPr/>
          <p:nvPr/>
        </p:nvSpPr>
        <p:spPr>
          <a:xfrm>
            <a:off x="6382008" y="5636718"/>
            <a:ext cx="1741118" cy="11243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Query + Explanation to User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BB86E45-E6A8-E168-E313-390325DEEF36}"/>
              </a:ext>
            </a:extLst>
          </p:cNvPr>
          <p:cNvSpPr txBox="1"/>
          <p:nvPr/>
        </p:nvSpPr>
        <p:spPr>
          <a:xfrm>
            <a:off x="5760419" y="5727619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F546BA5-ADFB-5C1F-2109-728279999272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5151334" y="6198869"/>
            <a:ext cx="1230674" cy="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riangle 42">
            <a:extLst>
              <a:ext uri="{FF2B5EF4-FFF2-40B4-BE49-F238E27FC236}">
                <a16:creationId xmlns:a16="http://schemas.microsoft.com/office/drawing/2014/main" id="{A5D75BFB-F5F4-458B-2189-7408A2EA6E3F}"/>
              </a:ext>
            </a:extLst>
          </p:cNvPr>
          <p:cNvSpPr/>
          <p:nvPr/>
        </p:nvSpPr>
        <p:spPr>
          <a:xfrm>
            <a:off x="9795353" y="5468184"/>
            <a:ext cx="2010429" cy="1221283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Expert Agrees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78AC43C-A9E8-50ED-970E-37CB9FFE7B7D}"/>
              </a:ext>
            </a:extLst>
          </p:cNvPr>
          <p:cNvCxnSpPr>
            <a:cxnSpLocks/>
          </p:cNvCxnSpPr>
          <p:nvPr/>
        </p:nvCxnSpPr>
        <p:spPr>
          <a:xfrm>
            <a:off x="8123126" y="6184441"/>
            <a:ext cx="2173269" cy="1442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727B5846-90B2-1309-CEEF-34079E8EB8E5}"/>
              </a:ext>
            </a:extLst>
          </p:cNvPr>
          <p:cNvCxnSpPr>
            <a:stCxn id="43" idx="0"/>
            <a:endCxn id="8" idx="3"/>
          </p:cNvCxnSpPr>
          <p:nvPr/>
        </p:nvCxnSpPr>
        <p:spPr>
          <a:xfrm rot="16200000" flipV="1">
            <a:off x="8340484" y="3008099"/>
            <a:ext cx="3914954" cy="100521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68F637BD-1764-20CD-B338-2EB3A39DA5AA}"/>
              </a:ext>
            </a:extLst>
          </p:cNvPr>
          <p:cNvSpPr txBox="1"/>
          <p:nvPr/>
        </p:nvSpPr>
        <p:spPr>
          <a:xfrm>
            <a:off x="10075284" y="772864"/>
            <a:ext cx="1225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Yes, store</a:t>
            </a:r>
          </a:p>
          <a:p>
            <a:r>
              <a:rPr lang="en-US" dirty="0"/>
              <a:t>In Chroma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BF546DB-C9CC-6B2F-2216-90C9A515C09E}"/>
              </a:ext>
            </a:extLst>
          </p:cNvPr>
          <p:cNvCxnSpPr>
            <a:cxnSpLocks/>
          </p:cNvCxnSpPr>
          <p:nvPr/>
        </p:nvCxnSpPr>
        <p:spPr>
          <a:xfrm flipH="1">
            <a:off x="5557377" y="566430"/>
            <a:ext cx="1" cy="551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F859E28-5282-513D-F12B-EDACF3089965}"/>
              </a:ext>
            </a:extLst>
          </p:cNvPr>
          <p:cNvCxnSpPr>
            <a:cxnSpLocks/>
          </p:cNvCxnSpPr>
          <p:nvPr/>
        </p:nvCxnSpPr>
        <p:spPr>
          <a:xfrm flipV="1">
            <a:off x="11376760" y="6182163"/>
            <a:ext cx="771015" cy="1670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564798BC-B2FC-B79A-8EDD-E728337C27BD}"/>
              </a:ext>
            </a:extLst>
          </p:cNvPr>
          <p:cNvSpPr txBox="1"/>
          <p:nvPr/>
        </p:nvSpPr>
        <p:spPr>
          <a:xfrm>
            <a:off x="11300363" y="4797168"/>
            <a:ext cx="10052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No, either edit or reject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7950CBA-A2D5-74D9-F0DE-98223FEA5B23}"/>
              </a:ext>
            </a:extLst>
          </p:cNvPr>
          <p:cNvSpPr txBox="1"/>
          <p:nvPr/>
        </p:nvSpPr>
        <p:spPr>
          <a:xfrm>
            <a:off x="8223478" y="5527065"/>
            <a:ext cx="20748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Optional Feedback</a:t>
            </a:r>
            <a:br>
              <a:rPr lang="en-US" dirty="0"/>
            </a:br>
            <a:r>
              <a:rPr lang="en-US" dirty="0"/>
              <a:t> Loop</a:t>
            </a:r>
          </a:p>
        </p:txBody>
      </p:sp>
    </p:spTree>
    <p:extLst>
      <p:ext uri="{BB962C8B-B14F-4D97-AF65-F5344CB8AC3E}">
        <p14:creationId xmlns:p14="http://schemas.microsoft.com/office/powerpoint/2010/main" val="1804276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CA2C68E-D80A-D510-220D-C29FA4B00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2634"/>
          </a:xfrm>
        </p:spPr>
        <p:txBody>
          <a:bodyPr/>
          <a:lstStyle/>
          <a:p>
            <a:r>
              <a:rPr lang="en-US" dirty="0"/>
              <a:t>Simple FHIR Query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FDFCEE4-CAB5-55B8-222B-1C94606A5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74" y="1981200"/>
            <a:ext cx="11109898" cy="318951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8008C0-914E-A516-3F86-1EB24DB1DD1D}"/>
              </a:ext>
            </a:extLst>
          </p:cNvPr>
          <p:cNvSpPr txBox="1"/>
          <p:nvPr/>
        </p:nvSpPr>
        <p:spPr>
          <a:xfrm>
            <a:off x="4811485" y="5910943"/>
            <a:ext cx="2077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Actual Screen Shot</a:t>
            </a:r>
          </a:p>
        </p:txBody>
      </p:sp>
    </p:spTree>
    <p:extLst>
      <p:ext uri="{BB962C8B-B14F-4D97-AF65-F5344CB8AC3E}">
        <p14:creationId xmlns:p14="http://schemas.microsoft.com/office/powerpoint/2010/main" val="3503401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D95030F-A1E2-719C-9EFB-E5E84572C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Step By Step Explanation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BBEF53-E2A8-661A-3CA8-F1189BF46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857" y="2059830"/>
            <a:ext cx="11497406" cy="35354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D42EC0-EBFB-6E65-B8B9-90D5D1F3F0BE}"/>
              </a:ext>
            </a:extLst>
          </p:cNvPr>
          <p:cNvSpPr txBox="1"/>
          <p:nvPr/>
        </p:nvSpPr>
        <p:spPr>
          <a:xfrm>
            <a:off x="5057061" y="6204857"/>
            <a:ext cx="2077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Actual Screen Shot</a:t>
            </a:r>
          </a:p>
        </p:txBody>
      </p:sp>
    </p:spTree>
    <p:extLst>
      <p:ext uri="{BB962C8B-B14F-4D97-AF65-F5344CB8AC3E}">
        <p14:creationId xmlns:p14="http://schemas.microsoft.com/office/powerpoint/2010/main" val="2236877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F51F02-524C-D2FF-5F00-FF825FA55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04" y="1554527"/>
            <a:ext cx="11727791" cy="3748946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CA2C68E-D80A-D510-220D-C29FA4B00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2634"/>
          </a:xfrm>
        </p:spPr>
        <p:txBody>
          <a:bodyPr/>
          <a:lstStyle/>
          <a:p>
            <a:r>
              <a:rPr lang="en-US" dirty="0"/>
              <a:t>Intermediate FHIR Query using Chaining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2DC13B-9500-6983-A65E-F8184F1661B9}"/>
              </a:ext>
            </a:extLst>
          </p:cNvPr>
          <p:cNvSpPr txBox="1"/>
          <p:nvPr/>
        </p:nvSpPr>
        <p:spPr>
          <a:xfrm>
            <a:off x="4811485" y="5910943"/>
            <a:ext cx="2077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Actual Screen Shot</a:t>
            </a:r>
          </a:p>
        </p:txBody>
      </p:sp>
    </p:spTree>
    <p:extLst>
      <p:ext uri="{BB962C8B-B14F-4D97-AF65-F5344CB8AC3E}">
        <p14:creationId xmlns:p14="http://schemas.microsoft.com/office/powerpoint/2010/main" val="3519423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578CFC-C1F4-B9D0-A722-8F67EB0C0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266" y="1557588"/>
            <a:ext cx="7882759" cy="465184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D95030F-A1E2-719C-9EFB-E5E84572C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Step By Step Explanation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C63316-430B-4798-5590-E883EAB88D87}"/>
              </a:ext>
            </a:extLst>
          </p:cNvPr>
          <p:cNvSpPr txBox="1"/>
          <p:nvPr/>
        </p:nvSpPr>
        <p:spPr>
          <a:xfrm>
            <a:off x="5456706" y="6389915"/>
            <a:ext cx="2077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Actual Screen Shot</a:t>
            </a:r>
          </a:p>
        </p:txBody>
      </p:sp>
    </p:spTree>
    <p:extLst>
      <p:ext uri="{BB962C8B-B14F-4D97-AF65-F5344CB8AC3E}">
        <p14:creationId xmlns:p14="http://schemas.microsoft.com/office/powerpoint/2010/main" val="1310765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0916E5-A5D6-A1D8-93DE-089982E85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899" y="1690688"/>
            <a:ext cx="9464299" cy="309759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0325B999-1FA2-9D39-B2D4-842348131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Where Open AI Fails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DD75D5-8480-1364-BA38-87EF07728689}"/>
              </a:ext>
            </a:extLst>
          </p:cNvPr>
          <p:cNvSpPr txBox="1"/>
          <p:nvPr/>
        </p:nvSpPr>
        <p:spPr>
          <a:xfrm>
            <a:off x="510187" y="5538712"/>
            <a:ext cx="111716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When searching by target-disease only ‘tokens’ are permitted which in this case is:</a:t>
            </a:r>
          </a:p>
          <a:p>
            <a:r>
              <a:rPr lang="en-US" sz="24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Inter"/>
              </a:rPr>
              <a:t>http://</a:t>
            </a:r>
            <a:r>
              <a:rPr lang="en-US" sz="2400" b="0" i="0" dirty="0" err="1">
                <a:solidFill>
                  <a:srgbClr val="212121"/>
                </a:solidFill>
                <a:effectLst/>
                <a:highlight>
                  <a:srgbClr val="FFFFFF"/>
                </a:highlight>
                <a:latin typeface="Inter"/>
              </a:rPr>
              <a:t>snomed.info</a:t>
            </a:r>
            <a:r>
              <a:rPr lang="en-US" sz="2400" b="0" i="0" dirty="0">
                <a:solidFill>
                  <a:srgbClr val="212121"/>
                </a:solidFill>
                <a:effectLst/>
                <a:highlight>
                  <a:srgbClr val="FFFFFF"/>
                </a:highlight>
                <a:latin typeface="Inter"/>
              </a:rPr>
              <a:t>/sct|66071002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2B1DBF-1B93-17CE-0BC6-A3FA6B72DD2B}"/>
              </a:ext>
            </a:extLst>
          </p:cNvPr>
          <p:cNvSpPr txBox="1"/>
          <p:nvPr/>
        </p:nvSpPr>
        <p:spPr>
          <a:xfrm>
            <a:off x="4854109" y="4919008"/>
            <a:ext cx="2077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Actual Screen Shot</a:t>
            </a:r>
          </a:p>
        </p:txBody>
      </p:sp>
    </p:spTree>
    <p:extLst>
      <p:ext uri="{BB962C8B-B14F-4D97-AF65-F5344CB8AC3E}">
        <p14:creationId xmlns:p14="http://schemas.microsoft.com/office/powerpoint/2010/main" val="3376010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37B8CD7-EEEA-732C-ED70-F395FF282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54783"/>
            <a:ext cx="7772400" cy="59484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622766-DB9B-F55F-B8AB-48BB2826E558}"/>
              </a:ext>
            </a:extLst>
          </p:cNvPr>
          <p:cNvSpPr txBox="1"/>
          <p:nvPr/>
        </p:nvSpPr>
        <p:spPr>
          <a:xfrm>
            <a:off x="180237" y="1970315"/>
            <a:ext cx="14417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 that this query did not use a token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30963F5-9D92-8C18-FA12-91DC620CEA23}"/>
              </a:ext>
            </a:extLst>
          </p:cNvPr>
          <p:cNvCxnSpPr/>
          <p:nvPr/>
        </p:nvCxnSpPr>
        <p:spPr>
          <a:xfrm>
            <a:off x="1643743" y="2188029"/>
            <a:ext cx="1153886" cy="28302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2A2D2C6-E3DF-6EE9-9A6D-BA7713EEAF87}"/>
              </a:ext>
            </a:extLst>
          </p:cNvPr>
          <p:cNvSpPr txBox="1"/>
          <p:nvPr/>
        </p:nvSpPr>
        <p:spPr>
          <a:xfrm>
            <a:off x="5057061" y="6302829"/>
            <a:ext cx="2077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Actual Screen Shot</a:t>
            </a:r>
          </a:p>
        </p:txBody>
      </p:sp>
    </p:spTree>
    <p:extLst>
      <p:ext uri="{BB962C8B-B14F-4D97-AF65-F5344CB8AC3E}">
        <p14:creationId xmlns:p14="http://schemas.microsoft.com/office/powerpoint/2010/main" val="2908372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82FAF6-40AD-CFA1-4F79-B25AB184C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68913"/>
            <a:ext cx="7772400" cy="598908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2CED35F5-7BFC-87CE-74B6-2FA22DF17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-261177"/>
            <a:ext cx="10515600" cy="1325563"/>
          </a:xfrm>
        </p:spPr>
        <p:txBody>
          <a:bodyPr/>
          <a:lstStyle/>
          <a:p>
            <a:r>
              <a:rPr lang="en-US" dirty="0"/>
              <a:t>Fixing the Query and Explanation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756A9D-129E-FCB9-2148-E067D13D20CE}"/>
              </a:ext>
            </a:extLst>
          </p:cNvPr>
          <p:cNvSpPr txBox="1"/>
          <p:nvPr/>
        </p:nvSpPr>
        <p:spPr>
          <a:xfrm>
            <a:off x="10734805" y="2492679"/>
            <a:ext cx="9682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Revised</a:t>
            </a:r>
            <a:br>
              <a:rPr lang="en-US" dirty="0"/>
            </a:br>
            <a:r>
              <a:rPr lang="en-US" dirty="0"/>
              <a:t>query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07FE8D-DAB2-B453-9D48-84361054531B}"/>
              </a:ext>
            </a:extLst>
          </p:cNvPr>
          <p:cNvSpPr txBox="1"/>
          <p:nvPr/>
        </p:nvSpPr>
        <p:spPr>
          <a:xfrm>
            <a:off x="10717902" y="4473879"/>
            <a:ext cx="13493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Revised</a:t>
            </a:r>
            <a:br>
              <a:rPr lang="en-US" dirty="0"/>
            </a:br>
            <a:r>
              <a:rPr lang="en-US" dirty="0"/>
              <a:t>explanation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0FFF907-64C5-F96E-B9B8-2FF9730FDC58}"/>
              </a:ext>
            </a:extLst>
          </p:cNvPr>
          <p:cNvCxnSpPr>
            <a:stCxn id="9" idx="1"/>
          </p:cNvCxnSpPr>
          <p:nvPr/>
        </p:nvCxnSpPr>
        <p:spPr>
          <a:xfrm flipH="1">
            <a:off x="6826685" y="2815845"/>
            <a:ext cx="3908120" cy="2029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467BAB7-8568-68A0-E963-E042C4665858}"/>
              </a:ext>
            </a:extLst>
          </p:cNvPr>
          <p:cNvCxnSpPr>
            <a:stCxn id="10" idx="1"/>
          </p:cNvCxnSpPr>
          <p:nvPr/>
        </p:nvCxnSpPr>
        <p:spPr>
          <a:xfrm flipH="1">
            <a:off x="8780745" y="4797045"/>
            <a:ext cx="1937157" cy="134070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8156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D259E-6321-27F5-2A54-8C9464B53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EB0E3-255A-38F4-533C-5F5646C18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REST APIs for input and output to the GenAI system</a:t>
            </a:r>
          </a:p>
          <a:p>
            <a:r>
              <a:rPr lang="en-US" dirty="0"/>
              <a:t>Add additional training material for Gold Standard Answers</a:t>
            </a:r>
          </a:p>
          <a:p>
            <a:r>
              <a:rPr lang="en-US" dirty="0"/>
              <a:t>Modify tuning parameters if have time</a:t>
            </a:r>
          </a:p>
        </p:txBody>
      </p:sp>
    </p:spTree>
    <p:extLst>
      <p:ext uri="{BB962C8B-B14F-4D97-AF65-F5344CB8AC3E}">
        <p14:creationId xmlns:p14="http://schemas.microsoft.com/office/powerpoint/2010/main" val="3940211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35CA9-4ABA-92D0-C85A-483F68749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Unanswered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675CB-BEEA-119C-B769-07C3B7D8C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Are there additional sources of document data to improve FHIR query generation using RAG (currently 2400 documents)?</a:t>
            </a:r>
          </a:p>
          <a:p>
            <a:r>
              <a:rPr lang="en-US" dirty="0"/>
              <a:t>What is an acceptable error rate? (theory 2%)</a:t>
            </a:r>
          </a:p>
          <a:p>
            <a:r>
              <a:rPr lang="en-US" dirty="0"/>
              <a:t>How many Gold Standard questions are needed for training to get to an acceptable error rate?</a:t>
            </a:r>
          </a:p>
          <a:p>
            <a:r>
              <a:rPr lang="en-US" dirty="0"/>
              <a:t>What other capabilities should tool have to make process simpler – guided prompts?, specific types of explanation? , other?</a:t>
            </a:r>
          </a:p>
        </p:txBody>
      </p:sp>
    </p:spTree>
    <p:extLst>
      <p:ext uri="{BB962C8B-B14F-4D97-AF65-F5344CB8AC3E}">
        <p14:creationId xmlns:p14="http://schemas.microsoft.com/office/powerpoint/2010/main" val="1062842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1846</TotalTime>
  <Words>374</Words>
  <Application>Microsoft Macintosh PowerPoint</Application>
  <PresentationFormat>Widescreen</PresentationFormat>
  <Paragraphs>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Inter</vt:lpstr>
      <vt:lpstr>Söhne</vt:lpstr>
      <vt:lpstr>Office Theme</vt:lpstr>
      <vt:lpstr>FHIR Query Generation</vt:lpstr>
      <vt:lpstr>Project Goals</vt:lpstr>
      <vt:lpstr>PowerPoint Presentation</vt:lpstr>
      <vt:lpstr>Simple FHIR Query</vt:lpstr>
      <vt:lpstr>Step By Step Explanation</vt:lpstr>
      <vt:lpstr>Intermediate FHIR Query using Chaining</vt:lpstr>
      <vt:lpstr>Step By Step Explanation</vt:lpstr>
      <vt:lpstr>Where Open AI Fails</vt:lpstr>
      <vt:lpstr>PowerPoint Presentation</vt:lpstr>
      <vt:lpstr>Fixing the Query and Explanation</vt:lpstr>
      <vt:lpstr>Next Steps </vt:lpstr>
      <vt:lpstr>Unanswered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FHIR Query using Chaining</dc:title>
  <dc:creator>Patrick Jamieson</dc:creator>
  <cp:lastModifiedBy>Patrick Jamieson</cp:lastModifiedBy>
  <cp:revision>7</cp:revision>
  <dcterms:created xsi:type="dcterms:W3CDTF">2024-04-15T11:37:50Z</dcterms:created>
  <dcterms:modified xsi:type="dcterms:W3CDTF">2025-05-19T11:20:20Z</dcterms:modified>
</cp:coreProperties>
</file>