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350" r:id="rId5"/>
    <p:sldId id="2147482468" r:id="rId6"/>
    <p:sldId id="2147482480" r:id="rId7"/>
    <p:sldId id="2147482481" r:id="rId8"/>
    <p:sldId id="2147482482" r:id="rId9"/>
    <p:sldId id="2147482483" r:id="rId10"/>
    <p:sldId id="2147482484" r:id="rId11"/>
    <p:sldId id="2147482485" r:id="rId12"/>
    <p:sldId id="2147482486" r:id="rId13"/>
    <p:sldId id="2147482487" r:id="rId14"/>
    <p:sldId id="2147482488" r:id="rId15"/>
    <p:sldId id="2147482489" r:id="rId16"/>
    <p:sldId id="2147482470" r:id="rId17"/>
    <p:sldId id="2147482473" r:id="rId18"/>
    <p:sldId id="2147482474" r:id="rId19"/>
    <p:sldId id="2147482475" r:id="rId20"/>
    <p:sldId id="2147482476" r:id="rId21"/>
    <p:sldId id="273" r:id="rId22"/>
    <p:sldId id="287" r:id="rId23"/>
    <p:sldId id="272" r:id="rId24"/>
    <p:sldId id="2147482471" r:id="rId25"/>
    <p:sldId id="277" r:id="rId26"/>
    <p:sldId id="278" r:id="rId27"/>
    <p:sldId id="279" r:id="rId28"/>
    <p:sldId id="280" r:id="rId29"/>
    <p:sldId id="2147482472" r:id="rId30"/>
    <p:sldId id="2147482491" r:id="rId31"/>
    <p:sldId id="2147482492" r:id="rId32"/>
    <p:sldId id="2147482493" r:id="rId33"/>
    <p:sldId id="2147482490" r:id="rId34"/>
    <p:sldId id="283" r:id="rId35"/>
    <p:sldId id="284" r:id="rId36"/>
    <p:sldId id="2147482479" r:id="rId37"/>
    <p:sldId id="286" r:id="rId38"/>
    <p:sldId id="2147482477" r:id="rId39"/>
    <p:sldId id="2147482478" r:id="rId40"/>
    <p:sldId id="2147482494" r:id="rId41"/>
    <p:sldId id="214748245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6BD80D-B6F0-404B-843B-ACDF1E0253B3}">
          <p14:sldIdLst>
            <p14:sldId id="350"/>
            <p14:sldId id="2147482468"/>
            <p14:sldId id="2147482480"/>
            <p14:sldId id="2147482481"/>
            <p14:sldId id="2147482482"/>
            <p14:sldId id="2147482483"/>
            <p14:sldId id="2147482484"/>
            <p14:sldId id="2147482485"/>
            <p14:sldId id="2147482486"/>
            <p14:sldId id="2147482487"/>
            <p14:sldId id="2147482488"/>
            <p14:sldId id="2147482489"/>
            <p14:sldId id="2147482470"/>
            <p14:sldId id="2147482473"/>
            <p14:sldId id="2147482474"/>
            <p14:sldId id="2147482475"/>
            <p14:sldId id="2147482476"/>
            <p14:sldId id="273"/>
            <p14:sldId id="287"/>
            <p14:sldId id="272"/>
            <p14:sldId id="2147482471"/>
            <p14:sldId id="277"/>
            <p14:sldId id="278"/>
            <p14:sldId id="279"/>
            <p14:sldId id="280"/>
            <p14:sldId id="2147482472"/>
            <p14:sldId id="2147482491"/>
            <p14:sldId id="2147482492"/>
            <p14:sldId id="2147482493"/>
            <p14:sldId id="2147482490"/>
            <p14:sldId id="283"/>
            <p14:sldId id="284"/>
            <p14:sldId id="2147482479"/>
            <p14:sldId id="286"/>
            <p14:sldId id="2147482477"/>
            <p14:sldId id="2147482478"/>
            <p14:sldId id="2147482494"/>
          </p14:sldIdLst>
        </p14:section>
        <p14:section name="Specifics of the FHIR SQL Builder" id="{1BA3B565-6071-7D42-941B-6EE915A6AE7C}">
          <p14:sldIdLst>
            <p14:sldId id="21474824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54"/>
    <p:restoredTop sz="59596"/>
  </p:normalViewPr>
  <p:slideViewPr>
    <p:cSldViewPr snapToGrid="0">
      <p:cViewPr varScale="1">
        <p:scale>
          <a:sx n="69" d="100"/>
          <a:sy n="69" d="100"/>
        </p:scale>
        <p:origin x="1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90F2E7-F4FD-4CD5-BFB9-8E1204C2E5B2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4199E6-0B9B-4668-B17E-81BA721CACE0}">
      <dgm:prSet/>
      <dgm:spPr/>
      <dgm:t>
        <a:bodyPr/>
        <a:lstStyle/>
        <a:p>
          <a:r>
            <a:rPr lang="en-US"/>
            <a:t>Word embeddings are vector representations of words.</a:t>
          </a:r>
        </a:p>
      </dgm:t>
    </dgm:pt>
    <dgm:pt modelId="{A334F3A5-4639-4CBF-96A8-C9B32FD058A6}" type="parTrans" cxnId="{BA2A92EF-A7DC-4AF5-9D2C-FD4E0EEF0AF6}">
      <dgm:prSet/>
      <dgm:spPr/>
      <dgm:t>
        <a:bodyPr/>
        <a:lstStyle/>
        <a:p>
          <a:endParaRPr lang="en-US"/>
        </a:p>
      </dgm:t>
    </dgm:pt>
    <dgm:pt modelId="{AE12BFCD-10AD-49B5-8B82-AE50A149FEAE}" type="sibTrans" cxnId="{BA2A92EF-A7DC-4AF5-9D2C-FD4E0EEF0AF6}">
      <dgm:prSet/>
      <dgm:spPr/>
      <dgm:t>
        <a:bodyPr/>
        <a:lstStyle/>
        <a:p>
          <a:endParaRPr lang="en-US"/>
        </a:p>
      </dgm:t>
    </dgm:pt>
    <dgm:pt modelId="{6513F5C7-9DF3-4A86-8F25-9FC60FC2CFF0}">
      <dgm:prSet/>
      <dgm:spPr/>
      <dgm:t>
        <a:bodyPr/>
        <a:lstStyle/>
        <a:p>
          <a:r>
            <a:rPr lang="en-US" dirty="0"/>
            <a:t>Words with similar meanings have similar vectors.</a:t>
          </a:r>
        </a:p>
      </dgm:t>
    </dgm:pt>
    <dgm:pt modelId="{29C920F3-D2C9-4BEA-AFCC-DC0198BCC56F}" type="parTrans" cxnId="{EA00CE54-6D7B-4C5B-9A60-50CC466BEFB8}">
      <dgm:prSet/>
      <dgm:spPr/>
      <dgm:t>
        <a:bodyPr/>
        <a:lstStyle/>
        <a:p>
          <a:endParaRPr lang="en-US"/>
        </a:p>
      </dgm:t>
    </dgm:pt>
    <dgm:pt modelId="{1F010B4D-D754-4E98-8D65-2613113F7A05}" type="sibTrans" cxnId="{EA00CE54-6D7B-4C5B-9A60-50CC466BEFB8}">
      <dgm:prSet/>
      <dgm:spPr/>
      <dgm:t>
        <a:bodyPr/>
        <a:lstStyle/>
        <a:p>
          <a:endParaRPr lang="en-US"/>
        </a:p>
      </dgm:t>
    </dgm:pt>
    <dgm:pt modelId="{696EA4CB-BA36-4462-A3B5-BEDF9F40B996}">
      <dgm:prSet/>
      <dgm:spPr/>
      <dgm:t>
        <a:bodyPr/>
        <a:lstStyle/>
        <a:p>
          <a:r>
            <a:rPr lang="en-US"/>
            <a:t>Enable models to understand word relationships in numerical form.</a:t>
          </a:r>
        </a:p>
      </dgm:t>
    </dgm:pt>
    <dgm:pt modelId="{E2C1665F-4312-489B-A6C3-51C7BE8FB364}" type="parTrans" cxnId="{DF39019D-2D88-4661-B173-6B0B14B69669}">
      <dgm:prSet/>
      <dgm:spPr/>
      <dgm:t>
        <a:bodyPr/>
        <a:lstStyle/>
        <a:p>
          <a:endParaRPr lang="en-US"/>
        </a:p>
      </dgm:t>
    </dgm:pt>
    <dgm:pt modelId="{9FE95C80-B1F8-4A65-92A3-4A38FF4DF685}" type="sibTrans" cxnId="{DF39019D-2D88-4661-B173-6B0B14B69669}">
      <dgm:prSet/>
      <dgm:spPr/>
      <dgm:t>
        <a:bodyPr/>
        <a:lstStyle/>
        <a:p>
          <a:endParaRPr lang="en-US"/>
        </a:p>
      </dgm:t>
    </dgm:pt>
    <dgm:pt modelId="{E8D36355-0039-434F-BEDF-B1218F231AB8}">
      <dgm:prSet/>
      <dgm:spPr/>
      <dgm:t>
        <a:bodyPr/>
        <a:lstStyle/>
        <a:p>
          <a:r>
            <a:rPr lang="en-US"/>
            <a:t>Example: 'doctor' and 'nurse' have closer embeddings than 'doctor' and 'car'.</a:t>
          </a:r>
        </a:p>
      </dgm:t>
    </dgm:pt>
    <dgm:pt modelId="{1CAA906A-D727-42B0-8B2E-7F02153FB844}" type="parTrans" cxnId="{775203AE-49ED-4FD4-87CE-45B323883831}">
      <dgm:prSet/>
      <dgm:spPr/>
      <dgm:t>
        <a:bodyPr/>
        <a:lstStyle/>
        <a:p>
          <a:endParaRPr lang="en-US"/>
        </a:p>
      </dgm:t>
    </dgm:pt>
    <dgm:pt modelId="{3DD299FF-20C7-4BAD-B1D5-CA2E6600A5C9}" type="sibTrans" cxnId="{775203AE-49ED-4FD4-87CE-45B323883831}">
      <dgm:prSet/>
      <dgm:spPr/>
      <dgm:t>
        <a:bodyPr/>
        <a:lstStyle/>
        <a:p>
          <a:endParaRPr lang="en-US"/>
        </a:p>
      </dgm:t>
    </dgm:pt>
    <dgm:pt modelId="{C6A46711-E2D8-0E41-819E-1BC33812B74D}" type="pres">
      <dgm:prSet presAssocID="{7090F2E7-F4FD-4CD5-BFB9-8E1204C2E5B2}" presName="vert0" presStyleCnt="0">
        <dgm:presLayoutVars>
          <dgm:dir/>
          <dgm:animOne val="branch"/>
          <dgm:animLvl val="lvl"/>
        </dgm:presLayoutVars>
      </dgm:prSet>
      <dgm:spPr/>
    </dgm:pt>
    <dgm:pt modelId="{66A0A01C-ED33-D44A-A8BC-3C18CB1D85C4}" type="pres">
      <dgm:prSet presAssocID="{E84199E6-0B9B-4668-B17E-81BA721CACE0}" presName="thickLine" presStyleLbl="alignNode1" presStyleIdx="0" presStyleCnt="4"/>
      <dgm:spPr/>
    </dgm:pt>
    <dgm:pt modelId="{C98D9E87-34F4-1A43-8CCA-49AA61B3FB41}" type="pres">
      <dgm:prSet presAssocID="{E84199E6-0B9B-4668-B17E-81BA721CACE0}" presName="horz1" presStyleCnt="0"/>
      <dgm:spPr/>
    </dgm:pt>
    <dgm:pt modelId="{55D76234-94A1-6A49-B13C-1E2BAE95ABFB}" type="pres">
      <dgm:prSet presAssocID="{E84199E6-0B9B-4668-B17E-81BA721CACE0}" presName="tx1" presStyleLbl="revTx" presStyleIdx="0" presStyleCnt="4"/>
      <dgm:spPr/>
    </dgm:pt>
    <dgm:pt modelId="{211BFA81-152C-0A48-84CF-3DAD1966CEE4}" type="pres">
      <dgm:prSet presAssocID="{E84199E6-0B9B-4668-B17E-81BA721CACE0}" presName="vert1" presStyleCnt="0"/>
      <dgm:spPr/>
    </dgm:pt>
    <dgm:pt modelId="{75119BA6-9CB6-EB4D-8440-CC5F74AF3558}" type="pres">
      <dgm:prSet presAssocID="{6513F5C7-9DF3-4A86-8F25-9FC60FC2CFF0}" presName="thickLine" presStyleLbl="alignNode1" presStyleIdx="1" presStyleCnt="4"/>
      <dgm:spPr/>
    </dgm:pt>
    <dgm:pt modelId="{91B6DD28-6658-354F-AEE7-509705A81448}" type="pres">
      <dgm:prSet presAssocID="{6513F5C7-9DF3-4A86-8F25-9FC60FC2CFF0}" presName="horz1" presStyleCnt="0"/>
      <dgm:spPr/>
    </dgm:pt>
    <dgm:pt modelId="{0C50A887-A2F2-6B4E-9C3E-46AC64EA12B5}" type="pres">
      <dgm:prSet presAssocID="{6513F5C7-9DF3-4A86-8F25-9FC60FC2CFF0}" presName="tx1" presStyleLbl="revTx" presStyleIdx="1" presStyleCnt="4"/>
      <dgm:spPr/>
    </dgm:pt>
    <dgm:pt modelId="{394BC298-2CB8-E942-9377-148305761D0B}" type="pres">
      <dgm:prSet presAssocID="{6513F5C7-9DF3-4A86-8F25-9FC60FC2CFF0}" presName="vert1" presStyleCnt="0"/>
      <dgm:spPr/>
    </dgm:pt>
    <dgm:pt modelId="{B6D0C00F-95FE-DA4D-97F9-F3480F848C10}" type="pres">
      <dgm:prSet presAssocID="{696EA4CB-BA36-4462-A3B5-BEDF9F40B996}" presName="thickLine" presStyleLbl="alignNode1" presStyleIdx="2" presStyleCnt="4"/>
      <dgm:spPr/>
    </dgm:pt>
    <dgm:pt modelId="{0FE0EA6B-5AA7-F04E-8402-C558B49F7026}" type="pres">
      <dgm:prSet presAssocID="{696EA4CB-BA36-4462-A3B5-BEDF9F40B996}" presName="horz1" presStyleCnt="0"/>
      <dgm:spPr/>
    </dgm:pt>
    <dgm:pt modelId="{4D85436A-943E-A74F-B30C-BF4492E3C1EA}" type="pres">
      <dgm:prSet presAssocID="{696EA4CB-BA36-4462-A3B5-BEDF9F40B996}" presName="tx1" presStyleLbl="revTx" presStyleIdx="2" presStyleCnt="4"/>
      <dgm:spPr/>
    </dgm:pt>
    <dgm:pt modelId="{99E11834-48E3-EA4B-91DB-D25EDCBC3F29}" type="pres">
      <dgm:prSet presAssocID="{696EA4CB-BA36-4462-A3B5-BEDF9F40B996}" presName="vert1" presStyleCnt="0"/>
      <dgm:spPr/>
    </dgm:pt>
    <dgm:pt modelId="{48AFC04C-B44D-F543-8971-EC395F3D4287}" type="pres">
      <dgm:prSet presAssocID="{E8D36355-0039-434F-BEDF-B1218F231AB8}" presName="thickLine" presStyleLbl="alignNode1" presStyleIdx="3" presStyleCnt="4"/>
      <dgm:spPr/>
    </dgm:pt>
    <dgm:pt modelId="{089B7186-43B7-C54B-A751-60B3E67A7CD2}" type="pres">
      <dgm:prSet presAssocID="{E8D36355-0039-434F-BEDF-B1218F231AB8}" presName="horz1" presStyleCnt="0"/>
      <dgm:spPr/>
    </dgm:pt>
    <dgm:pt modelId="{6EF2227C-0302-844F-B07C-500E2A7FF59A}" type="pres">
      <dgm:prSet presAssocID="{E8D36355-0039-434F-BEDF-B1218F231AB8}" presName="tx1" presStyleLbl="revTx" presStyleIdx="3" presStyleCnt="4"/>
      <dgm:spPr/>
    </dgm:pt>
    <dgm:pt modelId="{EDDF9206-9E89-9B48-829C-52F8A113DAE8}" type="pres">
      <dgm:prSet presAssocID="{E8D36355-0039-434F-BEDF-B1218F231AB8}" presName="vert1" presStyleCnt="0"/>
      <dgm:spPr/>
    </dgm:pt>
  </dgm:ptLst>
  <dgm:cxnLst>
    <dgm:cxn modelId="{F8C4DB03-87AF-1F4E-911B-16AAED298CBE}" type="presOf" srcId="{E8D36355-0039-434F-BEDF-B1218F231AB8}" destId="{6EF2227C-0302-844F-B07C-500E2A7FF59A}" srcOrd="0" destOrd="0" presId="urn:microsoft.com/office/officeart/2008/layout/LinedList"/>
    <dgm:cxn modelId="{0F7AB618-5698-9144-B9B5-DC615543A8BC}" type="presOf" srcId="{E84199E6-0B9B-4668-B17E-81BA721CACE0}" destId="{55D76234-94A1-6A49-B13C-1E2BAE95ABFB}" srcOrd="0" destOrd="0" presId="urn:microsoft.com/office/officeart/2008/layout/LinedList"/>
    <dgm:cxn modelId="{EA00CE54-6D7B-4C5B-9A60-50CC466BEFB8}" srcId="{7090F2E7-F4FD-4CD5-BFB9-8E1204C2E5B2}" destId="{6513F5C7-9DF3-4A86-8F25-9FC60FC2CFF0}" srcOrd="1" destOrd="0" parTransId="{29C920F3-D2C9-4BEA-AFCC-DC0198BCC56F}" sibTransId="{1F010B4D-D754-4E98-8D65-2613113F7A05}"/>
    <dgm:cxn modelId="{DF39019D-2D88-4661-B173-6B0B14B69669}" srcId="{7090F2E7-F4FD-4CD5-BFB9-8E1204C2E5B2}" destId="{696EA4CB-BA36-4462-A3B5-BEDF9F40B996}" srcOrd="2" destOrd="0" parTransId="{E2C1665F-4312-489B-A6C3-51C7BE8FB364}" sibTransId="{9FE95C80-B1F8-4A65-92A3-4A38FF4DF685}"/>
    <dgm:cxn modelId="{3F057EAC-7036-3A42-B86C-37E1C63F1C4D}" type="presOf" srcId="{696EA4CB-BA36-4462-A3B5-BEDF9F40B996}" destId="{4D85436A-943E-A74F-B30C-BF4492E3C1EA}" srcOrd="0" destOrd="0" presId="urn:microsoft.com/office/officeart/2008/layout/LinedList"/>
    <dgm:cxn modelId="{775203AE-49ED-4FD4-87CE-45B323883831}" srcId="{7090F2E7-F4FD-4CD5-BFB9-8E1204C2E5B2}" destId="{E8D36355-0039-434F-BEDF-B1218F231AB8}" srcOrd="3" destOrd="0" parTransId="{1CAA906A-D727-42B0-8B2E-7F02153FB844}" sibTransId="{3DD299FF-20C7-4BAD-B1D5-CA2E6600A5C9}"/>
    <dgm:cxn modelId="{4CF6B6B0-66DF-574F-802E-56AB2577127D}" type="presOf" srcId="{6513F5C7-9DF3-4A86-8F25-9FC60FC2CFF0}" destId="{0C50A887-A2F2-6B4E-9C3E-46AC64EA12B5}" srcOrd="0" destOrd="0" presId="urn:microsoft.com/office/officeart/2008/layout/LinedList"/>
    <dgm:cxn modelId="{BA2A92EF-A7DC-4AF5-9D2C-FD4E0EEF0AF6}" srcId="{7090F2E7-F4FD-4CD5-BFB9-8E1204C2E5B2}" destId="{E84199E6-0B9B-4668-B17E-81BA721CACE0}" srcOrd="0" destOrd="0" parTransId="{A334F3A5-4639-4CBF-96A8-C9B32FD058A6}" sibTransId="{AE12BFCD-10AD-49B5-8B82-AE50A149FEAE}"/>
    <dgm:cxn modelId="{184F98F8-6FDD-F740-88AC-FA63B355EBBD}" type="presOf" srcId="{7090F2E7-F4FD-4CD5-BFB9-8E1204C2E5B2}" destId="{C6A46711-E2D8-0E41-819E-1BC33812B74D}" srcOrd="0" destOrd="0" presId="urn:microsoft.com/office/officeart/2008/layout/LinedList"/>
    <dgm:cxn modelId="{DFBC01CC-FF7E-1642-B734-5EE41AA0C11B}" type="presParOf" srcId="{C6A46711-E2D8-0E41-819E-1BC33812B74D}" destId="{66A0A01C-ED33-D44A-A8BC-3C18CB1D85C4}" srcOrd="0" destOrd="0" presId="urn:microsoft.com/office/officeart/2008/layout/LinedList"/>
    <dgm:cxn modelId="{6E1E24FE-9AF3-8F4E-876E-CFE7EA23AE94}" type="presParOf" srcId="{C6A46711-E2D8-0E41-819E-1BC33812B74D}" destId="{C98D9E87-34F4-1A43-8CCA-49AA61B3FB41}" srcOrd="1" destOrd="0" presId="urn:microsoft.com/office/officeart/2008/layout/LinedList"/>
    <dgm:cxn modelId="{675647FD-3BF6-A049-8B22-9F2CABD4B04D}" type="presParOf" srcId="{C98D9E87-34F4-1A43-8CCA-49AA61B3FB41}" destId="{55D76234-94A1-6A49-B13C-1E2BAE95ABFB}" srcOrd="0" destOrd="0" presId="urn:microsoft.com/office/officeart/2008/layout/LinedList"/>
    <dgm:cxn modelId="{30C75C0A-126C-2546-8BA0-49F9EF974C7C}" type="presParOf" srcId="{C98D9E87-34F4-1A43-8CCA-49AA61B3FB41}" destId="{211BFA81-152C-0A48-84CF-3DAD1966CEE4}" srcOrd="1" destOrd="0" presId="urn:microsoft.com/office/officeart/2008/layout/LinedList"/>
    <dgm:cxn modelId="{2A70A795-F62B-6442-95E5-52B5DC1B43A6}" type="presParOf" srcId="{C6A46711-E2D8-0E41-819E-1BC33812B74D}" destId="{75119BA6-9CB6-EB4D-8440-CC5F74AF3558}" srcOrd="2" destOrd="0" presId="urn:microsoft.com/office/officeart/2008/layout/LinedList"/>
    <dgm:cxn modelId="{DBC8012C-D4AA-BD41-A234-25A6D12240B8}" type="presParOf" srcId="{C6A46711-E2D8-0E41-819E-1BC33812B74D}" destId="{91B6DD28-6658-354F-AEE7-509705A81448}" srcOrd="3" destOrd="0" presId="urn:microsoft.com/office/officeart/2008/layout/LinedList"/>
    <dgm:cxn modelId="{66CE8361-A713-E34F-A929-60D82F7F000F}" type="presParOf" srcId="{91B6DD28-6658-354F-AEE7-509705A81448}" destId="{0C50A887-A2F2-6B4E-9C3E-46AC64EA12B5}" srcOrd="0" destOrd="0" presId="urn:microsoft.com/office/officeart/2008/layout/LinedList"/>
    <dgm:cxn modelId="{96698592-E16E-9B44-93AB-D10FC73DF60E}" type="presParOf" srcId="{91B6DD28-6658-354F-AEE7-509705A81448}" destId="{394BC298-2CB8-E942-9377-148305761D0B}" srcOrd="1" destOrd="0" presId="urn:microsoft.com/office/officeart/2008/layout/LinedList"/>
    <dgm:cxn modelId="{F6ACBF31-2BB2-C342-8CC5-746ED7601785}" type="presParOf" srcId="{C6A46711-E2D8-0E41-819E-1BC33812B74D}" destId="{B6D0C00F-95FE-DA4D-97F9-F3480F848C10}" srcOrd="4" destOrd="0" presId="urn:microsoft.com/office/officeart/2008/layout/LinedList"/>
    <dgm:cxn modelId="{2E5E72ED-543E-C548-BF5D-B7D9FAF3895D}" type="presParOf" srcId="{C6A46711-E2D8-0E41-819E-1BC33812B74D}" destId="{0FE0EA6B-5AA7-F04E-8402-C558B49F7026}" srcOrd="5" destOrd="0" presId="urn:microsoft.com/office/officeart/2008/layout/LinedList"/>
    <dgm:cxn modelId="{B1371F4B-63CC-BD41-A8E6-02824F7F41AA}" type="presParOf" srcId="{0FE0EA6B-5AA7-F04E-8402-C558B49F7026}" destId="{4D85436A-943E-A74F-B30C-BF4492E3C1EA}" srcOrd="0" destOrd="0" presId="urn:microsoft.com/office/officeart/2008/layout/LinedList"/>
    <dgm:cxn modelId="{DACEB577-5F59-9C48-B3F9-D22B24301B62}" type="presParOf" srcId="{0FE0EA6B-5AA7-F04E-8402-C558B49F7026}" destId="{99E11834-48E3-EA4B-91DB-D25EDCBC3F29}" srcOrd="1" destOrd="0" presId="urn:microsoft.com/office/officeart/2008/layout/LinedList"/>
    <dgm:cxn modelId="{AD51617D-F701-D14F-90E9-D6FA9A231ABA}" type="presParOf" srcId="{C6A46711-E2D8-0E41-819E-1BC33812B74D}" destId="{48AFC04C-B44D-F543-8971-EC395F3D4287}" srcOrd="6" destOrd="0" presId="urn:microsoft.com/office/officeart/2008/layout/LinedList"/>
    <dgm:cxn modelId="{267F84E3-BD58-584E-BFD9-BFD4CC83E7E8}" type="presParOf" srcId="{C6A46711-E2D8-0E41-819E-1BC33812B74D}" destId="{089B7186-43B7-C54B-A751-60B3E67A7CD2}" srcOrd="7" destOrd="0" presId="urn:microsoft.com/office/officeart/2008/layout/LinedList"/>
    <dgm:cxn modelId="{1279445D-6241-314A-8386-81A25244CBB3}" type="presParOf" srcId="{089B7186-43B7-C54B-A751-60B3E67A7CD2}" destId="{6EF2227C-0302-844F-B07C-500E2A7FF59A}" srcOrd="0" destOrd="0" presId="urn:microsoft.com/office/officeart/2008/layout/LinedList"/>
    <dgm:cxn modelId="{D1959B05-4CEF-4E4F-93B0-9D122A3F6AD3}" type="presParOf" srcId="{089B7186-43B7-C54B-A751-60B3E67A7CD2}" destId="{EDDF9206-9E89-9B48-829C-52F8A113DAE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57A3F7-8A84-47DE-9622-D535521589DF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6636D5E-5D3A-49D6-9BE4-DA24BABAAAE4}">
      <dgm:prSet/>
      <dgm:spPr/>
      <dgm:t>
        <a:bodyPr/>
        <a:lstStyle/>
        <a:p>
          <a:r>
            <a:rPr lang="en-US"/>
            <a:t>Introduced by Google in 2013.</a:t>
          </a:r>
        </a:p>
      </dgm:t>
    </dgm:pt>
    <dgm:pt modelId="{F5072D06-FF8F-4240-93B4-79587FB1EC08}" type="parTrans" cxnId="{EF49F5DC-3330-444B-A723-B85CEA7F66B4}">
      <dgm:prSet/>
      <dgm:spPr/>
      <dgm:t>
        <a:bodyPr/>
        <a:lstStyle/>
        <a:p>
          <a:endParaRPr lang="en-US"/>
        </a:p>
      </dgm:t>
    </dgm:pt>
    <dgm:pt modelId="{7087C438-6951-4F69-BD23-7E581B73A795}" type="sibTrans" cxnId="{EF49F5DC-3330-444B-A723-B85CEA7F66B4}">
      <dgm:prSet/>
      <dgm:spPr/>
      <dgm:t>
        <a:bodyPr/>
        <a:lstStyle/>
        <a:p>
          <a:endParaRPr lang="en-US"/>
        </a:p>
      </dgm:t>
    </dgm:pt>
    <dgm:pt modelId="{6442FC24-3F44-4C1B-930D-E1C274D9E4BA}">
      <dgm:prSet/>
      <dgm:spPr/>
      <dgm:t>
        <a:bodyPr/>
        <a:lstStyle/>
        <a:p>
          <a:r>
            <a:rPr lang="en-US"/>
            <a:t>Learns word embeddings using shallow neural networks.</a:t>
          </a:r>
        </a:p>
      </dgm:t>
    </dgm:pt>
    <dgm:pt modelId="{95EC9EB3-B363-4C78-B467-9DCB11A61D4A}" type="parTrans" cxnId="{A73F8C23-E199-463B-A45C-1BFA6F47E78E}">
      <dgm:prSet/>
      <dgm:spPr/>
      <dgm:t>
        <a:bodyPr/>
        <a:lstStyle/>
        <a:p>
          <a:endParaRPr lang="en-US"/>
        </a:p>
      </dgm:t>
    </dgm:pt>
    <dgm:pt modelId="{A81186AF-50FB-438F-88FB-FE446AEC3D18}" type="sibTrans" cxnId="{A73F8C23-E199-463B-A45C-1BFA6F47E78E}">
      <dgm:prSet/>
      <dgm:spPr/>
      <dgm:t>
        <a:bodyPr/>
        <a:lstStyle/>
        <a:p>
          <a:endParaRPr lang="en-US"/>
        </a:p>
      </dgm:t>
    </dgm:pt>
    <dgm:pt modelId="{AE4D3AAD-64D5-43B3-887A-D2D08C65611C}">
      <dgm:prSet/>
      <dgm:spPr/>
      <dgm:t>
        <a:bodyPr/>
        <a:lstStyle/>
        <a:p>
          <a:r>
            <a:rPr lang="en-US"/>
            <a:t>Two main approaches:</a:t>
          </a:r>
        </a:p>
      </dgm:t>
    </dgm:pt>
    <dgm:pt modelId="{61A8D5C1-AA7E-4BDA-ABD5-383072B526C8}" type="parTrans" cxnId="{0D2F377D-AB88-467C-AC36-0526FFD0B75E}">
      <dgm:prSet/>
      <dgm:spPr/>
      <dgm:t>
        <a:bodyPr/>
        <a:lstStyle/>
        <a:p>
          <a:endParaRPr lang="en-US"/>
        </a:p>
      </dgm:t>
    </dgm:pt>
    <dgm:pt modelId="{B2E6DA76-CC54-4913-9F2B-9232EEBDFB9A}" type="sibTrans" cxnId="{0D2F377D-AB88-467C-AC36-0526FFD0B75E}">
      <dgm:prSet/>
      <dgm:spPr/>
      <dgm:t>
        <a:bodyPr/>
        <a:lstStyle/>
        <a:p>
          <a:endParaRPr lang="en-US"/>
        </a:p>
      </dgm:t>
    </dgm:pt>
    <dgm:pt modelId="{D5FEE991-B7C2-49AC-9B09-750C3BC3D578}">
      <dgm:prSet/>
      <dgm:spPr/>
      <dgm:t>
        <a:bodyPr/>
        <a:lstStyle/>
        <a:p>
          <a:r>
            <a:rPr lang="en-US" dirty="0"/>
            <a:t>	• CBOW (Continuous Bag of Words)</a:t>
          </a:r>
        </a:p>
      </dgm:t>
    </dgm:pt>
    <dgm:pt modelId="{F2271499-4C6F-470F-833B-B18A4C58E084}" type="parTrans" cxnId="{1EAC7580-3700-4BEB-9341-796E2736AAF8}">
      <dgm:prSet/>
      <dgm:spPr/>
      <dgm:t>
        <a:bodyPr/>
        <a:lstStyle/>
        <a:p>
          <a:endParaRPr lang="en-US"/>
        </a:p>
      </dgm:t>
    </dgm:pt>
    <dgm:pt modelId="{8D436D76-2A9B-41E2-B5ED-408892CFA52E}" type="sibTrans" cxnId="{1EAC7580-3700-4BEB-9341-796E2736AAF8}">
      <dgm:prSet/>
      <dgm:spPr/>
      <dgm:t>
        <a:bodyPr/>
        <a:lstStyle/>
        <a:p>
          <a:endParaRPr lang="en-US"/>
        </a:p>
      </dgm:t>
    </dgm:pt>
    <dgm:pt modelId="{126EC285-DD97-4548-A1E4-2EBA8EBCF5AF}">
      <dgm:prSet/>
      <dgm:spPr/>
      <dgm:t>
        <a:bodyPr/>
        <a:lstStyle/>
        <a:p>
          <a:r>
            <a:rPr lang="en-US" dirty="0"/>
            <a:t>	• Skip-gram</a:t>
          </a:r>
        </a:p>
      </dgm:t>
    </dgm:pt>
    <dgm:pt modelId="{3E2614E8-E566-4F1F-B82E-2B32C79EAAB1}" type="parTrans" cxnId="{5FAA815B-7AD4-4E2E-B261-3858D13A5848}">
      <dgm:prSet/>
      <dgm:spPr/>
      <dgm:t>
        <a:bodyPr/>
        <a:lstStyle/>
        <a:p>
          <a:endParaRPr lang="en-US"/>
        </a:p>
      </dgm:t>
    </dgm:pt>
    <dgm:pt modelId="{70E1AD33-72DD-469D-9F65-6A8B16429B44}" type="sibTrans" cxnId="{5FAA815B-7AD4-4E2E-B261-3858D13A5848}">
      <dgm:prSet/>
      <dgm:spPr/>
      <dgm:t>
        <a:bodyPr/>
        <a:lstStyle/>
        <a:p>
          <a:endParaRPr lang="en-US"/>
        </a:p>
      </dgm:t>
    </dgm:pt>
    <dgm:pt modelId="{CA9F9F72-BA95-0D4C-A053-B7C02FCA16A2}" type="pres">
      <dgm:prSet presAssocID="{BA57A3F7-8A84-47DE-9622-D535521589DF}" presName="vert0" presStyleCnt="0">
        <dgm:presLayoutVars>
          <dgm:dir/>
          <dgm:animOne val="branch"/>
          <dgm:animLvl val="lvl"/>
        </dgm:presLayoutVars>
      </dgm:prSet>
      <dgm:spPr/>
    </dgm:pt>
    <dgm:pt modelId="{2BBB3632-C932-1C44-A0BE-EA84FBCFA4BA}" type="pres">
      <dgm:prSet presAssocID="{D6636D5E-5D3A-49D6-9BE4-DA24BABAAAE4}" presName="thickLine" presStyleLbl="alignNode1" presStyleIdx="0" presStyleCnt="5"/>
      <dgm:spPr/>
    </dgm:pt>
    <dgm:pt modelId="{653B90CA-2F2A-6D42-AE39-1CDC438B53CC}" type="pres">
      <dgm:prSet presAssocID="{D6636D5E-5D3A-49D6-9BE4-DA24BABAAAE4}" presName="horz1" presStyleCnt="0"/>
      <dgm:spPr/>
    </dgm:pt>
    <dgm:pt modelId="{D8E286A5-C6B3-5D4B-AE43-F8739D5C09CD}" type="pres">
      <dgm:prSet presAssocID="{D6636D5E-5D3A-49D6-9BE4-DA24BABAAAE4}" presName="tx1" presStyleLbl="revTx" presStyleIdx="0" presStyleCnt="5"/>
      <dgm:spPr/>
    </dgm:pt>
    <dgm:pt modelId="{26CA2132-A5AD-594B-BA9C-C2907E224BB1}" type="pres">
      <dgm:prSet presAssocID="{D6636D5E-5D3A-49D6-9BE4-DA24BABAAAE4}" presName="vert1" presStyleCnt="0"/>
      <dgm:spPr/>
    </dgm:pt>
    <dgm:pt modelId="{FAC65CD4-3A2E-C143-98E8-99842CA07275}" type="pres">
      <dgm:prSet presAssocID="{6442FC24-3F44-4C1B-930D-E1C274D9E4BA}" presName="thickLine" presStyleLbl="alignNode1" presStyleIdx="1" presStyleCnt="5"/>
      <dgm:spPr/>
    </dgm:pt>
    <dgm:pt modelId="{7067ED82-BEB9-6348-8FFF-D51632299D87}" type="pres">
      <dgm:prSet presAssocID="{6442FC24-3F44-4C1B-930D-E1C274D9E4BA}" presName="horz1" presStyleCnt="0"/>
      <dgm:spPr/>
    </dgm:pt>
    <dgm:pt modelId="{43E63650-7428-E94A-B856-4B2AA835BAE8}" type="pres">
      <dgm:prSet presAssocID="{6442FC24-3F44-4C1B-930D-E1C274D9E4BA}" presName="tx1" presStyleLbl="revTx" presStyleIdx="1" presStyleCnt="5"/>
      <dgm:spPr/>
    </dgm:pt>
    <dgm:pt modelId="{40D195BF-3458-9D40-9697-219AA2754732}" type="pres">
      <dgm:prSet presAssocID="{6442FC24-3F44-4C1B-930D-E1C274D9E4BA}" presName="vert1" presStyleCnt="0"/>
      <dgm:spPr/>
    </dgm:pt>
    <dgm:pt modelId="{8B878EB7-92A8-D94D-A54C-367D5C8279B7}" type="pres">
      <dgm:prSet presAssocID="{AE4D3AAD-64D5-43B3-887A-D2D08C65611C}" presName="thickLine" presStyleLbl="alignNode1" presStyleIdx="2" presStyleCnt="5"/>
      <dgm:spPr/>
    </dgm:pt>
    <dgm:pt modelId="{E38DBE5E-7AC4-B646-808E-368E143A13F3}" type="pres">
      <dgm:prSet presAssocID="{AE4D3AAD-64D5-43B3-887A-D2D08C65611C}" presName="horz1" presStyleCnt="0"/>
      <dgm:spPr/>
    </dgm:pt>
    <dgm:pt modelId="{F71B874E-8EEC-8A4F-8E87-CF5D8DB3ADC5}" type="pres">
      <dgm:prSet presAssocID="{AE4D3AAD-64D5-43B3-887A-D2D08C65611C}" presName="tx1" presStyleLbl="revTx" presStyleIdx="2" presStyleCnt="5"/>
      <dgm:spPr/>
    </dgm:pt>
    <dgm:pt modelId="{A0FBF1E9-1282-2347-9199-DEA2A6B35A77}" type="pres">
      <dgm:prSet presAssocID="{AE4D3AAD-64D5-43B3-887A-D2D08C65611C}" presName="vert1" presStyleCnt="0"/>
      <dgm:spPr/>
    </dgm:pt>
    <dgm:pt modelId="{0EB6024B-CE55-3448-A393-F6F56600C283}" type="pres">
      <dgm:prSet presAssocID="{D5FEE991-B7C2-49AC-9B09-750C3BC3D578}" presName="thickLine" presStyleLbl="alignNode1" presStyleIdx="3" presStyleCnt="5"/>
      <dgm:spPr/>
    </dgm:pt>
    <dgm:pt modelId="{11B0DF8E-6A77-6643-A175-A7F1E6AE82B3}" type="pres">
      <dgm:prSet presAssocID="{D5FEE991-B7C2-49AC-9B09-750C3BC3D578}" presName="horz1" presStyleCnt="0"/>
      <dgm:spPr/>
    </dgm:pt>
    <dgm:pt modelId="{78B8CDBB-9A0C-A14E-8061-54AAECD27721}" type="pres">
      <dgm:prSet presAssocID="{D5FEE991-B7C2-49AC-9B09-750C3BC3D578}" presName="tx1" presStyleLbl="revTx" presStyleIdx="3" presStyleCnt="5"/>
      <dgm:spPr/>
    </dgm:pt>
    <dgm:pt modelId="{41AA04A1-87F6-2941-B817-FCE24F39FE9B}" type="pres">
      <dgm:prSet presAssocID="{D5FEE991-B7C2-49AC-9B09-750C3BC3D578}" presName="vert1" presStyleCnt="0"/>
      <dgm:spPr/>
    </dgm:pt>
    <dgm:pt modelId="{DDB0B103-92C5-CF4C-9333-FB144F2D1AFD}" type="pres">
      <dgm:prSet presAssocID="{126EC285-DD97-4548-A1E4-2EBA8EBCF5AF}" presName="thickLine" presStyleLbl="alignNode1" presStyleIdx="4" presStyleCnt="5"/>
      <dgm:spPr/>
    </dgm:pt>
    <dgm:pt modelId="{4555B452-EC49-6C45-BB96-C4C6E6889C39}" type="pres">
      <dgm:prSet presAssocID="{126EC285-DD97-4548-A1E4-2EBA8EBCF5AF}" presName="horz1" presStyleCnt="0"/>
      <dgm:spPr/>
    </dgm:pt>
    <dgm:pt modelId="{898F1A6E-1AF5-EC49-8D5A-915F0B3DFF1D}" type="pres">
      <dgm:prSet presAssocID="{126EC285-DD97-4548-A1E4-2EBA8EBCF5AF}" presName="tx1" presStyleLbl="revTx" presStyleIdx="4" presStyleCnt="5"/>
      <dgm:spPr/>
    </dgm:pt>
    <dgm:pt modelId="{785466CE-4444-E845-839C-409EE8D84BF5}" type="pres">
      <dgm:prSet presAssocID="{126EC285-DD97-4548-A1E4-2EBA8EBCF5AF}" presName="vert1" presStyleCnt="0"/>
      <dgm:spPr/>
    </dgm:pt>
  </dgm:ptLst>
  <dgm:cxnLst>
    <dgm:cxn modelId="{ED6A331A-F476-3144-A989-9FFF80911DA4}" type="presOf" srcId="{D6636D5E-5D3A-49D6-9BE4-DA24BABAAAE4}" destId="{D8E286A5-C6B3-5D4B-AE43-F8739D5C09CD}" srcOrd="0" destOrd="0" presId="urn:microsoft.com/office/officeart/2008/layout/LinedList"/>
    <dgm:cxn modelId="{A73F8C23-E199-463B-A45C-1BFA6F47E78E}" srcId="{BA57A3F7-8A84-47DE-9622-D535521589DF}" destId="{6442FC24-3F44-4C1B-930D-E1C274D9E4BA}" srcOrd="1" destOrd="0" parTransId="{95EC9EB3-B363-4C78-B467-9DCB11A61D4A}" sibTransId="{A81186AF-50FB-438F-88FB-FE446AEC3D18}"/>
    <dgm:cxn modelId="{97FF9338-9AA2-454A-828C-06E3150C4933}" type="presOf" srcId="{6442FC24-3F44-4C1B-930D-E1C274D9E4BA}" destId="{43E63650-7428-E94A-B856-4B2AA835BAE8}" srcOrd="0" destOrd="0" presId="urn:microsoft.com/office/officeart/2008/layout/LinedList"/>
    <dgm:cxn modelId="{D97E493B-B598-D645-97FE-BEE4C30CF11F}" type="presOf" srcId="{D5FEE991-B7C2-49AC-9B09-750C3BC3D578}" destId="{78B8CDBB-9A0C-A14E-8061-54AAECD27721}" srcOrd="0" destOrd="0" presId="urn:microsoft.com/office/officeart/2008/layout/LinedList"/>
    <dgm:cxn modelId="{744B2540-3DBB-114A-B965-0D9C721B6E19}" type="presOf" srcId="{126EC285-DD97-4548-A1E4-2EBA8EBCF5AF}" destId="{898F1A6E-1AF5-EC49-8D5A-915F0B3DFF1D}" srcOrd="0" destOrd="0" presId="urn:microsoft.com/office/officeart/2008/layout/LinedList"/>
    <dgm:cxn modelId="{5FAA815B-7AD4-4E2E-B261-3858D13A5848}" srcId="{BA57A3F7-8A84-47DE-9622-D535521589DF}" destId="{126EC285-DD97-4548-A1E4-2EBA8EBCF5AF}" srcOrd="4" destOrd="0" parTransId="{3E2614E8-E566-4F1F-B82E-2B32C79EAAB1}" sibTransId="{70E1AD33-72DD-469D-9F65-6A8B16429B44}"/>
    <dgm:cxn modelId="{0D2F377D-AB88-467C-AC36-0526FFD0B75E}" srcId="{BA57A3F7-8A84-47DE-9622-D535521589DF}" destId="{AE4D3AAD-64D5-43B3-887A-D2D08C65611C}" srcOrd="2" destOrd="0" parTransId="{61A8D5C1-AA7E-4BDA-ABD5-383072B526C8}" sibTransId="{B2E6DA76-CC54-4913-9F2B-9232EEBDFB9A}"/>
    <dgm:cxn modelId="{1EAC7580-3700-4BEB-9341-796E2736AAF8}" srcId="{BA57A3F7-8A84-47DE-9622-D535521589DF}" destId="{D5FEE991-B7C2-49AC-9B09-750C3BC3D578}" srcOrd="3" destOrd="0" parTransId="{F2271499-4C6F-470F-833B-B18A4C58E084}" sibTransId="{8D436D76-2A9B-41E2-B5ED-408892CFA52E}"/>
    <dgm:cxn modelId="{02DCFEB5-7BA8-1447-B9D7-FDF28568F44D}" type="presOf" srcId="{AE4D3AAD-64D5-43B3-887A-D2D08C65611C}" destId="{F71B874E-8EEC-8A4F-8E87-CF5D8DB3ADC5}" srcOrd="0" destOrd="0" presId="urn:microsoft.com/office/officeart/2008/layout/LinedList"/>
    <dgm:cxn modelId="{EF49F5DC-3330-444B-A723-B85CEA7F66B4}" srcId="{BA57A3F7-8A84-47DE-9622-D535521589DF}" destId="{D6636D5E-5D3A-49D6-9BE4-DA24BABAAAE4}" srcOrd="0" destOrd="0" parTransId="{F5072D06-FF8F-4240-93B4-79587FB1EC08}" sibTransId="{7087C438-6951-4F69-BD23-7E581B73A795}"/>
    <dgm:cxn modelId="{3D276ADF-8B37-AA47-B6D6-1BFD20339AD7}" type="presOf" srcId="{BA57A3F7-8A84-47DE-9622-D535521589DF}" destId="{CA9F9F72-BA95-0D4C-A053-B7C02FCA16A2}" srcOrd="0" destOrd="0" presId="urn:microsoft.com/office/officeart/2008/layout/LinedList"/>
    <dgm:cxn modelId="{596B4E7E-0FC2-7F40-AEC7-E1282EA6A316}" type="presParOf" srcId="{CA9F9F72-BA95-0D4C-A053-B7C02FCA16A2}" destId="{2BBB3632-C932-1C44-A0BE-EA84FBCFA4BA}" srcOrd="0" destOrd="0" presId="urn:microsoft.com/office/officeart/2008/layout/LinedList"/>
    <dgm:cxn modelId="{DB71E8E4-80B1-FA4F-BFDE-B7C0C9977190}" type="presParOf" srcId="{CA9F9F72-BA95-0D4C-A053-B7C02FCA16A2}" destId="{653B90CA-2F2A-6D42-AE39-1CDC438B53CC}" srcOrd="1" destOrd="0" presId="urn:microsoft.com/office/officeart/2008/layout/LinedList"/>
    <dgm:cxn modelId="{E4C78A75-4032-334D-8F5F-182DC7D4C5D0}" type="presParOf" srcId="{653B90CA-2F2A-6D42-AE39-1CDC438B53CC}" destId="{D8E286A5-C6B3-5D4B-AE43-F8739D5C09CD}" srcOrd="0" destOrd="0" presId="urn:microsoft.com/office/officeart/2008/layout/LinedList"/>
    <dgm:cxn modelId="{BC30CB06-00EC-ED40-B7A3-5C232E447B9D}" type="presParOf" srcId="{653B90CA-2F2A-6D42-AE39-1CDC438B53CC}" destId="{26CA2132-A5AD-594B-BA9C-C2907E224BB1}" srcOrd="1" destOrd="0" presId="urn:microsoft.com/office/officeart/2008/layout/LinedList"/>
    <dgm:cxn modelId="{3A555DFD-6FA6-F442-8DF0-6124C18A2FA5}" type="presParOf" srcId="{CA9F9F72-BA95-0D4C-A053-B7C02FCA16A2}" destId="{FAC65CD4-3A2E-C143-98E8-99842CA07275}" srcOrd="2" destOrd="0" presId="urn:microsoft.com/office/officeart/2008/layout/LinedList"/>
    <dgm:cxn modelId="{241751DE-A87B-EA44-B179-94E4040C08D0}" type="presParOf" srcId="{CA9F9F72-BA95-0D4C-A053-B7C02FCA16A2}" destId="{7067ED82-BEB9-6348-8FFF-D51632299D87}" srcOrd="3" destOrd="0" presId="urn:microsoft.com/office/officeart/2008/layout/LinedList"/>
    <dgm:cxn modelId="{FCA8E409-8335-7940-B04B-21671E57EBF9}" type="presParOf" srcId="{7067ED82-BEB9-6348-8FFF-D51632299D87}" destId="{43E63650-7428-E94A-B856-4B2AA835BAE8}" srcOrd="0" destOrd="0" presId="urn:microsoft.com/office/officeart/2008/layout/LinedList"/>
    <dgm:cxn modelId="{2DD506AB-314E-4B49-80B5-9B5B5C504164}" type="presParOf" srcId="{7067ED82-BEB9-6348-8FFF-D51632299D87}" destId="{40D195BF-3458-9D40-9697-219AA2754732}" srcOrd="1" destOrd="0" presId="urn:microsoft.com/office/officeart/2008/layout/LinedList"/>
    <dgm:cxn modelId="{5EB99545-4E6F-5F48-81DA-509EAA50720F}" type="presParOf" srcId="{CA9F9F72-BA95-0D4C-A053-B7C02FCA16A2}" destId="{8B878EB7-92A8-D94D-A54C-367D5C8279B7}" srcOrd="4" destOrd="0" presId="urn:microsoft.com/office/officeart/2008/layout/LinedList"/>
    <dgm:cxn modelId="{F113E0D4-8C44-AC4A-A7EF-3C7E04288858}" type="presParOf" srcId="{CA9F9F72-BA95-0D4C-A053-B7C02FCA16A2}" destId="{E38DBE5E-7AC4-B646-808E-368E143A13F3}" srcOrd="5" destOrd="0" presId="urn:microsoft.com/office/officeart/2008/layout/LinedList"/>
    <dgm:cxn modelId="{606ED849-8D54-694D-9589-D3C3C7AC56D7}" type="presParOf" srcId="{E38DBE5E-7AC4-B646-808E-368E143A13F3}" destId="{F71B874E-8EEC-8A4F-8E87-CF5D8DB3ADC5}" srcOrd="0" destOrd="0" presId="urn:microsoft.com/office/officeart/2008/layout/LinedList"/>
    <dgm:cxn modelId="{5543D7F8-F8F2-1D4A-8246-06064B13D7D4}" type="presParOf" srcId="{E38DBE5E-7AC4-B646-808E-368E143A13F3}" destId="{A0FBF1E9-1282-2347-9199-DEA2A6B35A77}" srcOrd="1" destOrd="0" presId="urn:microsoft.com/office/officeart/2008/layout/LinedList"/>
    <dgm:cxn modelId="{20F32B5E-E75D-9143-83E7-9C879E8C785C}" type="presParOf" srcId="{CA9F9F72-BA95-0D4C-A053-B7C02FCA16A2}" destId="{0EB6024B-CE55-3448-A393-F6F56600C283}" srcOrd="6" destOrd="0" presId="urn:microsoft.com/office/officeart/2008/layout/LinedList"/>
    <dgm:cxn modelId="{D566F825-06B5-9242-9CC3-0137254C79E3}" type="presParOf" srcId="{CA9F9F72-BA95-0D4C-A053-B7C02FCA16A2}" destId="{11B0DF8E-6A77-6643-A175-A7F1E6AE82B3}" srcOrd="7" destOrd="0" presId="urn:microsoft.com/office/officeart/2008/layout/LinedList"/>
    <dgm:cxn modelId="{CC601D4B-0A5E-3548-8733-A58A270E499F}" type="presParOf" srcId="{11B0DF8E-6A77-6643-A175-A7F1E6AE82B3}" destId="{78B8CDBB-9A0C-A14E-8061-54AAECD27721}" srcOrd="0" destOrd="0" presId="urn:microsoft.com/office/officeart/2008/layout/LinedList"/>
    <dgm:cxn modelId="{3EF2A24A-6790-344F-BF42-3D280995069C}" type="presParOf" srcId="{11B0DF8E-6A77-6643-A175-A7F1E6AE82B3}" destId="{41AA04A1-87F6-2941-B817-FCE24F39FE9B}" srcOrd="1" destOrd="0" presId="urn:microsoft.com/office/officeart/2008/layout/LinedList"/>
    <dgm:cxn modelId="{FD66C256-C050-B84B-9651-7A3DB4792C62}" type="presParOf" srcId="{CA9F9F72-BA95-0D4C-A053-B7C02FCA16A2}" destId="{DDB0B103-92C5-CF4C-9333-FB144F2D1AFD}" srcOrd="8" destOrd="0" presId="urn:microsoft.com/office/officeart/2008/layout/LinedList"/>
    <dgm:cxn modelId="{0B02A4D4-44AA-A14B-A761-791A5A77C7E9}" type="presParOf" srcId="{CA9F9F72-BA95-0D4C-A053-B7C02FCA16A2}" destId="{4555B452-EC49-6C45-BB96-C4C6E6889C39}" srcOrd="9" destOrd="0" presId="urn:microsoft.com/office/officeart/2008/layout/LinedList"/>
    <dgm:cxn modelId="{0E510DFF-3AAD-EF44-8228-BB27A8BDE20C}" type="presParOf" srcId="{4555B452-EC49-6C45-BB96-C4C6E6889C39}" destId="{898F1A6E-1AF5-EC49-8D5A-915F0B3DFF1D}" srcOrd="0" destOrd="0" presId="urn:microsoft.com/office/officeart/2008/layout/LinedList"/>
    <dgm:cxn modelId="{5DB6426D-0D21-504E-9BAE-69027C2CEB88}" type="presParOf" srcId="{4555B452-EC49-6C45-BB96-C4C6E6889C39}" destId="{785466CE-4444-E845-839C-409EE8D84B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0A01C-ED33-D44A-A8BC-3C18CB1D85C4}">
      <dsp:nvSpPr>
        <dsp:cNvPr id="0" name=""/>
        <dsp:cNvSpPr/>
      </dsp:nvSpPr>
      <dsp:spPr>
        <a:xfrm>
          <a:off x="0" y="0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D76234-94A1-6A49-B13C-1E2BAE95ABFB}">
      <dsp:nvSpPr>
        <dsp:cNvPr id="0" name=""/>
        <dsp:cNvSpPr/>
      </dsp:nvSpPr>
      <dsp:spPr>
        <a:xfrm>
          <a:off x="0" y="0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Word embeddings are vector representations of words.</a:t>
          </a:r>
        </a:p>
      </dsp:txBody>
      <dsp:txXfrm>
        <a:off x="0" y="0"/>
        <a:ext cx="10495943" cy="1088136"/>
      </dsp:txXfrm>
    </dsp:sp>
    <dsp:sp modelId="{75119BA6-9CB6-EB4D-8440-CC5F74AF3558}">
      <dsp:nvSpPr>
        <dsp:cNvPr id="0" name=""/>
        <dsp:cNvSpPr/>
      </dsp:nvSpPr>
      <dsp:spPr>
        <a:xfrm>
          <a:off x="0" y="1088136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C50A887-A2F2-6B4E-9C3E-46AC64EA12B5}">
      <dsp:nvSpPr>
        <dsp:cNvPr id="0" name=""/>
        <dsp:cNvSpPr/>
      </dsp:nvSpPr>
      <dsp:spPr>
        <a:xfrm>
          <a:off x="0" y="1088136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Words with similar meanings have similar vectors.</a:t>
          </a:r>
        </a:p>
      </dsp:txBody>
      <dsp:txXfrm>
        <a:off x="0" y="1088136"/>
        <a:ext cx="10495943" cy="1088136"/>
      </dsp:txXfrm>
    </dsp:sp>
    <dsp:sp modelId="{B6D0C00F-95FE-DA4D-97F9-F3480F848C10}">
      <dsp:nvSpPr>
        <dsp:cNvPr id="0" name=""/>
        <dsp:cNvSpPr/>
      </dsp:nvSpPr>
      <dsp:spPr>
        <a:xfrm>
          <a:off x="0" y="2176272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85436A-943E-A74F-B30C-BF4492E3C1EA}">
      <dsp:nvSpPr>
        <dsp:cNvPr id="0" name=""/>
        <dsp:cNvSpPr/>
      </dsp:nvSpPr>
      <dsp:spPr>
        <a:xfrm>
          <a:off x="0" y="2176272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Enable models to understand word relationships in numerical form.</a:t>
          </a:r>
        </a:p>
      </dsp:txBody>
      <dsp:txXfrm>
        <a:off x="0" y="2176272"/>
        <a:ext cx="10495943" cy="1088136"/>
      </dsp:txXfrm>
    </dsp:sp>
    <dsp:sp modelId="{48AFC04C-B44D-F543-8971-EC395F3D4287}">
      <dsp:nvSpPr>
        <dsp:cNvPr id="0" name=""/>
        <dsp:cNvSpPr/>
      </dsp:nvSpPr>
      <dsp:spPr>
        <a:xfrm>
          <a:off x="0" y="3264408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F2227C-0302-844F-B07C-500E2A7FF59A}">
      <dsp:nvSpPr>
        <dsp:cNvPr id="0" name=""/>
        <dsp:cNvSpPr/>
      </dsp:nvSpPr>
      <dsp:spPr>
        <a:xfrm>
          <a:off x="0" y="3264408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Example: 'doctor' and 'nurse' have closer embeddings than 'doctor' and 'car'.</a:t>
          </a:r>
        </a:p>
      </dsp:txBody>
      <dsp:txXfrm>
        <a:off x="0" y="3264408"/>
        <a:ext cx="10495943" cy="1088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B3632-C932-1C44-A0BE-EA84FBCFA4BA}">
      <dsp:nvSpPr>
        <dsp:cNvPr id="0" name=""/>
        <dsp:cNvSpPr/>
      </dsp:nvSpPr>
      <dsp:spPr>
        <a:xfrm>
          <a:off x="0" y="531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E286A5-C6B3-5D4B-AE43-F8739D5C09CD}">
      <dsp:nvSpPr>
        <dsp:cNvPr id="0" name=""/>
        <dsp:cNvSpPr/>
      </dsp:nvSpPr>
      <dsp:spPr>
        <a:xfrm>
          <a:off x="0" y="531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Introduced by Google in 2013.</a:t>
          </a:r>
        </a:p>
      </dsp:txBody>
      <dsp:txXfrm>
        <a:off x="0" y="531"/>
        <a:ext cx="10495943" cy="870296"/>
      </dsp:txXfrm>
    </dsp:sp>
    <dsp:sp modelId="{FAC65CD4-3A2E-C143-98E8-99842CA07275}">
      <dsp:nvSpPr>
        <dsp:cNvPr id="0" name=""/>
        <dsp:cNvSpPr/>
      </dsp:nvSpPr>
      <dsp:spPr>
        <a:xfrm>
          <a:off x="0" y="870827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E63650-7428-E94A-B856-4B2AA835BAE8}">
      <dsp:nvSpPr>
        <dsp:cNvPr id="0" name=""/>
        <dsp:cNvSpPr/>
      </dsp:nvSpPr>
      <dsp:spPr>
        <a:xfrm>
          <a:off x="0" y="870827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Learns word embeddings using shallow neural networks.</a:t>
          </a:r>
        </a:p>
      </dsp:txBody>
      <dsp:txXfrm>
        <a:off x="0" y="870827"/>
        <a:ext cx="10495943" cy="870296"/>
      </dsp:txXfrm>
    </dsp:sp>
    <dsp:sp modelId="{8B878EB7-92A8-D94D-A54C-367D5C8279B7}">
      <dsp:nvSpPr>
        <dsp:cNvPr id="0" name=""/>
        <dsp:cNvSpPr/>
      </dsp:nvSpPr>
      <dsp:spPr>
        <a:xfrm>
          <a:off x="0" y="1741123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1B874E-8EEC-8A4F-8E87-CF5D8DB3ADC5}">
      <dsp:nvSpPr>
        <dsp:cNvPr id="0" name=""/>
        <dsp:cNvSpPr/>
      </dsp:nvSpPr>
      <dsp:spPr>
        <a:xfrm>
          <a:off x="0" y="1741123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Two main approaches:</a:t>
          </a:r>
        </a:p>
      </dsp:txBody>
      <dsp:txXfrm>
        <a:off x="0" y="1741123"/>
        <a:ext cx="10495943" cy="870296"/>
      </dsp:txXfrm>
    </dsp:sp>
    <dsp:sp modelId="{0EB6024B-CE55-3448-A393-F6F56600C283}">
      <dsp:nvSpPr>
        <dsp:cNvPr id="0" name=""/>
        <dsp:cNvSpPr/>
      </dsp:nvSpPr>
      <dsp:spPr>
        <a:xfrm>
          <a:off x="0" y="2611420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B8CDBB-9A0C-A14E-8061-54AAECD27721}">
      <dsp:nvSpPr>
        <dsp:cNvPr id="0" name=""/>
        <dsp:cNvSpPr/>
      </dsp:nvSpPr>
      <dsp:spPr>
        <a:xfrm>
          <a:off x="0" y="2611420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• CBOW (Continuous Bag of Words)</a:t>
          </a:r>
        </a:p>
      </dsp:txBody>
      <dsp:txXfrm>
        <a:off x="0" y="2611420"/>
        <a:ext cx="10495943" cy="870296"/>
      </dsp:txXfrm>
    </dsp:sp>
    <dsp:sp modelId="{DDB0B103-92C5-CF4C-9333-FB144F2D1AFD}">
      <dsp:nvSpPr>
        <dsp:cNvPr id="0" name=""/>
        <dsp:cNvSpPr/>
      </dsp:nvSpPr>
      <dsp:spPr>
        <a:xfrm>
          <a:off x="0" y="3481716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8F1A6E-1AF5-EC49-8D5A-915F0B3DFF1D}">
      <dsp:nvSpPr>
        <dsp:cNvPr id="0" name=""/>
        <dsp:cNvSpPr/>
      </dsp:nvSpPr>
      <dsp:spPr>
        <a:xfrm>
          <a:off x="0" y="3481716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• Skip-gram</a:t>
          </a:r>
        </a:p>
      </dsp:txBody>
      <dsp:txXfrm>
        <a:off x="0" y="3481716"/>
        <a:ext cx="10495943" cy="870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02122-5AEC-C96D-5281-C64DAEAF89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06D3F74B-83E5-4D53-ADBD-DB4E587BA0A8}" type="slidenum">
              <a:rPr lang="en-US" smtClean="0">
                <a:latin typeface="Verdana" panose="020B0604030504040204" pitchFamily="34" charset="0"/>
              </a:rPr>
              <a:t>‹#›</a:t>
            </a:fld>
            <a:endParaRPr lang="en-US">
              <a:latin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0D8ED-AA8D-7AE3-DB3B-61F95FFD4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Verdana" panose="020B0604030504040204" pitchFamily="34" charset="0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1BB591-39E6-0954-8EF9-581F8FF1D2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361897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76" userDrawn="1">
          <p15:clr>
            <a:srgbClr val="F26B43"/>
          </p15:clr>
        </p15:guide>
        <p15:guide id="3" pos="347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6100" y="1064419"/>
            <a:ext cx="5765800" cy="3243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6100" y="4400550"/>
            <a:ext cx="5765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D29A23D1-645A-47C4-AAAF-6F2DE82A7D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1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9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30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94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2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200" dirty="0"/>
              <a:t>RNNs pass information from one step to the next.</a:t>
            </a:r>
          </a:p>
          <a:p>
            <a:pPr>
              <a:defRPr sz="1800"/>
            </a:pPr>
            <a:r>
              <a:rPr lang="en-US" sz="1200" dirty="0"/>
              <a:t>They remember past inputs using 'hidden states'.</a:t>
            </a:r>
          </a:p>
          <a:p>
            <a:pPr>
              <a:defRPr sz="1800"/>
            </a:pPr>
            <a:r>
              <a:rPr lang="en-US" sz="1200" dirty="0"/>
              <a:t>Good for short sequences, but struggle with long dependencies.</a:t>
            </a:r>
          </a:p>
          <a:p>
            <a:pPr>
              <a:defRPr sz="1800"/>
            </a:pPr>
            <a:r>
              <a:rPr lang="en-US" sz="1200" dirty="0"/>
              <a:t>Example: predicting the next word in 'The patient is feeling...'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84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66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67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83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44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25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63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EF34D13-BC3E-86EA-9D4F-856E5490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11553" y="179763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3513465 w 12192000"/>
              <a:gd name="connsiteY4" fmla="*/ 6858001 h 6858001"/>
              <a:gd name="connsiteX5" fmla="*/ 0 w 12192000"/>
              <a:gd name="connsiteY5" fmla="*/ 510759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3513465" y="6858001"/>
                </a:lnTo>
                <a:lnTo>
                  <a:pt x="0" y="5107593"/>
                </a:lnTo>
                <a:close/>
              </a:path>
            </a:pathLst>
          </a:custGeom>
          <a:gradFill>
            <a:gsLst>
              <a:gs pos="30000">
                <a:schemeClr val="bg2">
                  <a:lumMod val="10000"/>
                  <a:alpha val="0"/>
                </a:schemeClr>
              </a:gs>
              <a:gs pos="100000">
                <a:schemeClr val="tx2">
                  <a:lumMod val="10000"/>
                  <a:alpha val="35000"/>
                </a:schemeClr>
              </a:gs>
              <a:gs pos="0">
                <a:schemeClr val="bg2">
                  <a:lumMod val="10000"/>
                  <a:alpha val="0"/>
                </a:schemeClr>
              </a:gs>
              <a:gs pos="70000">
                <a:schemeClr val="bg2">
                  <a:lumMod val="10000"/>
                  <a:alpha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/>
            <a:endParaRPr lang="en-US" noProof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06B902F-16EC-BD3F-C2B0-EDF7B1D4A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217074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7E1C6CE2-5FA1-930F-518C-E8962B562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-147220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2FFED81-82B3-0F39-1B70-0286BC448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-126013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Graphic 10">
            <a:extLst>
              <a:ext uri="{FF2B5EF4-FFF2-40B4-BE49-F238E27FC236}">
                <a16:creationId xmlns:a16="http://schemas.microsoft.com/office/drawing/2014/main" id="{129C23D1-F20D-428E-17F6-8BF23C191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40854" y="-10480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2717CF-8B90-65F9-DB2B-9474078F5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09354" y="-835997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C5B4E2">
                  <a:lumMod val="75000"/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49B57647-9E99-1BD2-0328-42F2B3BE2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1913" y="-6239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5000">
                  <a:srgbClr val="C5B4E2"/>
                </a:gs>
                <a:gs pos="3300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AC99965-25BD-CBAA-FC4D-F4F62E4C9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8032" y="-41186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821A11DD-4151-5B32-18DB-FC4A4A096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62972" y="-1997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96B326-0E44-36CA-5B5E-F85C34E36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6709" y="12273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0CA1C9E4-3B4D-A4CF-B041-6D864C7A6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1111" y="22434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3C2D26D-B1F0-CDC1-8642-009998811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239682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0" name="Graphic 10">
            <a:extLst>
              <a:ext uri="{FF2B5EF4-FFF2-40B4-BE49-F238E27FC236}">
                <a16:creationId xmlns:a16="http://schemas.microsoft.com/office/drawing/2014/main" id="{E2C97942-CEAB-B2F1-3625-6F9F09D14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56206" y="26088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7DF1CEA-7E83-84E1-F96B-E5D038570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11735" y="282096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4A4823D3-ED44-05BC-A945-98A0F20AE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67264" y="30330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EAEE620-70FB-E19F-EB40-6A81E6237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2793" y="324509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F2EDAAE7-C03C-6F5A-1743-0167B19C2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78323" y="34571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FEEE33B-2152-E922-1E6C-6267D69AF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33852" y="366923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7" name="Graphic 10">
            <a:extLst>
              <a:ext uri="{FF2B5EF4-FFF2-40B4-BE49-F238E27FC236}">
                <a16:creationId xmlns:a16="http://schemas.microsoft.com/office/drawing/2014/main" id="{7387A476-7547-353E-37A3-2C00AEF0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9382" y="388129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9C6F9AD-12FC-D7EB-B9B0-D28E8569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1991" y="409688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0D47CF11-5798-6A08-DC19-3292A6F9E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00441" y="430543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C579C1B-711E-EE0E-B282-3E5464BEC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5995" y="451750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2" name="Graphic 10">
            <a:extLst>
              <a:ext uri="{FF2B5EF4-FFF2-40B4-BE49-F238E27FC236}">
                <a16:creationId xmlns:a16="http://schemas.microsoft.com/office/drawing/2014/main" id="{8697D1A3-DD74-D19A-14F1-24272475E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1500" y="472956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07A79E4-9519-4E03-F4ED-35412820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74548" y="494163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Graphic 10">
            <a:extLst>
              <a:ext uri="{FF2B5EF4-FFF2-40B4-BE49-F238E27FC236}">
                <a16:creationId xmlns:a16="http://schemas.microsoft.com/office/drawing/2014/main" id="{C7AEA665-3421-363B-9EE4-BCE6B2FED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22559" y="515370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C5B4E2">
                    <a:lumMod val="5000"/>
                    <a:lumOff val="95000"/>
                  </a:srgbClr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2AF25AB-2E60-09C3-5621-27D775DA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8088" y="536577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C6069EAA-0851-B7F6-6662-71EFBC6E9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333617" y="557783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937CA5C-1A69-7886-E26E-D35E41C2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9146" y="5789905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50000"/>
                  <a:alpha val="90000"/>
                </a:srgbClr>
              </a:gs>
              <a:gs pos="84000">
                <a:srgbClr val="92C0E9">
                  <a:lumMod val="75000"/>
                  <a:alpha val="90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D7C75355-3FCF-9A19-33B5-DB7B4CFC4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44676" y="600197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64912BB-A58F-4ED2-43CB-3EF92A7DB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07285" y="6217553"/>
            <a:ext cx="677162" cy="2513238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2AD040A3-CAF2-46CD-85F0-0F7F81D08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955735" y="642610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000" baseline="0"/>
            </a:lvl1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85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27681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36909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25288 -0.1546136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7187 -0.1855362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90365 -0.2164589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4217 -0.2473815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55441 -0.2783042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31247 -0.3092268 E" pathEditMode="relative" ptsTypes="">
                                      <p:cBhvr>
                                        <p:cTn id="127" dur="1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1471 -0.3401493 E" pathEditMode="relative" ptsTypes="">
                                      <p:cBhvr>
                                        <p:cTn id="129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583333E-02 E" pathEditMode="relative" ptsTypes="">
                                      <p:cBhvr>
                                        <p:cTn id="131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87996 E" pathEditMode="relative" ptsTypes="">
                                      <p:cBhvr>
                                        <p:cTn id="133" dur="1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2697 -0.1597222 E" pathEditMode="relative" ptsTypes="">
                                      <p:cBhvr>
                                        <p:cTn id="135" dur="1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5235 -0.1906448 E" pathEditMode="relative" ptsTypes="">
                                      <p:cBhvr>
                                        <p:cTn id="137" dur="1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77774 -0.2215675 E" pathEditMode="relative" ptsTypes="">
                                      <p:cBhvr>
                                        <p:cTn id="139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0312 -0.2524902 E" pathEditMode="relative" ptsTypes="">
                                      <p:cBhvr>
                                        <p:cTn id="141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4285 -0.2834128 E" pathEditMode="relative" ptsTypes="">
                                      <p:cBhvr>
                                        <p:cTn id="143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25388 -0.3143355 E" pathEditMode="relative" ptsTypes="">
                                      <p:cBhvr>
                                        <p:cTn id="145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07927 -0.345258 E" pathEditMode="relative" ptsTypes="">
                                      <p:cBhvr>
                                        <p:cTn id="147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84657 -0.3766932 E" pathEditMode="relative" ptsTypes="">
                                      <p:cBhvr>
                                        <p:cTn id="149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73003 -0.4071032 E" pathEditMode="relative" ptsTypes="">
                                      <p:cBhvr>
                                        <p:cTn id="15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47318 -0.4380259 E" pathEditMode="relative" ptsTypes="">
                                      <p:cBhvr>
                                        <p:cTn id="153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238079 -0.4689485 E" pathEditMode="relative" ptsTypes="">
                                      <p:cBhvr>
                                        <p:cTn id="155" dur="15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51445 -0.4998713 E" pathEditMode="relative" ptsTypes="">
                                      <p:cBhvr>
                                        <p:cTn id="157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803155 -0.5307938 E" pathEditMode="relative" ptsTypes="">
                                      <p:cBhvr>
                                        <p:cTn id="159" dur="15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85694 -0.5617166 E" pathEditMode="relative" ptsTypes="">
                                      <p:cBhvr>
                                        <p:cTn id="161" dur="15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68233 -0.5926391 E" pathEditMode="relative" ptsTypes="">
                                      <p:cBhvr>
                                        <p:cTn id="163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650771 -0.6235618 E" pathEditMode="relative" ptsTypes="">
                                      <p:cBhvr>
                                        <p:cTn id="165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933309 -0.6544845 E" pathEditMode="relative" ptsTypes="">
                                      <p:cBhvr>
                                        <p:cTn id="167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215847 -0.685407 E" pathEditMode="relative" ptsTypes="">
                                      <p:cBhvr>
                                        <p:cTn id="169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498385 -0.7163297 E" pathEditMode="relative" ptsTypes="">
                                      <p:cBhvr>
                                        <p:cTn id="171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  <p:bldP spid="23" grpId="1" animBg="1"/>
      <p:bldP spid="28" grpId="0" animBg="1"/>
      <p:bldP spid="28" grpId="1" animBg="1"/>
      <p:bldP spid="9" grpId="0" animBg="1"/>
      <p:bldP spid="9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F90E-C437-B160-DB42-AA6E08BC3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00BE-F723-E229-99A1-0212A69DEA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49413"/>
            <a:ext cx="110998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E7DC-B27D-C64A-6BC6-E9CFD57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B8C1-DF1F-1201-36FB-343DCD5B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B9C0-2A34-AC36-769C-6DE99F35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DF02C81-A083-F218-CF77-BE161A7F8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143000"/>
            <a:ext cx="11099800" cy="381000"/>
          </a:xfrm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 smtClean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add subtitle, use font size 18,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1112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3101" y="1524001"/>
            <a:ext cx="8305800" cy="2317750"/>
          </a:xfrm>
        </p:spPr>
        <p:txBody>
          <a:bodyPr bIns="144000" anchor="b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44,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43101" y="3967163"/>
            <a:ext cx="8305800" cy="1222375"/>
          </a:xfrm>
        </p:spPr>
        <p:txBody>
          <a:bodyPr lIns="0" tIns="144000" rIns="0" bIns="0" anchor="t">
            <a:normAutofit/>
          </a:bodyPr>
          <a:lstStyle>
            <a:lvl1pPr marL="0" indent="0" algn="ctr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220210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195160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170109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145059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20009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-94959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24526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270310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295360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-69909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A73426FB-FD72-BC03-F20F-E76F1364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560" y="6913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0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-4363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4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-0.03268 0.0382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1.85185E-6 L -0.06536 0.07477 " pathEditMode="relative" rAng="0" ptsTypes="AA">
                                      <p:cBhvr>
                                        <p:cTn id="4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07407E-6 L -0.09804 0.11135 " pathEditMode="relative" rAng="0" ptsTypes="AA">
                                      <p:cBhvr>
                                        <p:cTn id="4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13072 0.14792 " pathEditMode="relative" rAng="0" ptsTypes="AA">
                                      <p:cBhvr>
                                        <p:cTn id="45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0.16341 0.18449 " pathEditMode="relative" rAng="0" ptsTypes="AA">
                                      <p:cBhvr>
                                        <p:cTn id="47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9609 0.22084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0.22864 0.25741 " pathEditMode="relative" rAng="0" ptsTypes="AA">
                                      <p:cBhvr>
                                        <p:cTn id="51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33333E-6 L -0.26132 0.29398 " pathEditMode="relative" rAng="0" ptsTypes="AA">
                                      <p:cBhvr>
                                        <p:cTn id="53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29401 0.33056 " pathEditMode="relative" rAng="0" ptsTypes="AA">
                                      <p:cBhvr>
                                        <p:cTn id="55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-0.32669 0.36713 " pathEditMode="relative" rAng="0" ptsTypes="AA">
                                      <p:cBhvr>
                                        <p:cTn id="57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3.267263E-02 3.652592E-02 E" pathEditMode="relative" ptsTypes="">
                                      <p:cBhvr>
                                        <p:cTn id="89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91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93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95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97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99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01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03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940537 0.3287418 E" pathEditMode="relative" ptsTypes="">
                                      <p:cBhvr>
                                        <p:cTn id="105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3267228 0.3677704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3.7037E-6 " pathEditMode="relative" rAng="0" ptsTypes="AA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2.59259E-6 " pathEditMode="relative" rAng="0" ptsTypes="AA">
                                      <p:cBhvr>
                                        <p:cTn id="1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5" grpId="0" animBg="1"/>
      <p:bldP spid="120" grpId="0" animBg="1"/>
      <p:bldP spid="12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0AC0-4C91-09D8-4EB7-2339802F7B2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9AA6C-79DD-00E8-6E3B-5771F9BB6E7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3D544-760D-F8F7-B34C-0EFE2025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3E48D-B146-F645-8CC2-E41A6C6E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C6A6-CBCB-F14D-6DDF-15206BB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50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BF71-CF3E-230E-BA48-B91D64744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DA8-A6BF-4AB8-86CF-BDB3A0A7C5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B2F4B-E795-2C6E-B791-FA285AAACF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1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03344-E744-22A3-9A75-3B9F08F90E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595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71797-9A36-AAF5-12A9-BFE7F5200ED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595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E33A-1CC7-BF0C-166A-266148BD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BEDD7-557F-FE4D-6955-35BD859E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7413A-A7A5-542D-649B-72ADBBD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455070D-BED4-EC0F-FBA9-F4C41F2BF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9619A86-78F8-F132-0B47-F30E5C047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E2CEA68-50AE-F9C8-9C83-42DD30430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2385B9-B5B0-5372-0604-E5B72C9B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547D4E-D7A0-D018-C320-DD98F64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81FAD0-7A6E-F4EC-802B-0E2095D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99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1CF2424-3037-4B4E-D498-DACD55DE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243564-9F90-9ECE-2686-717877E6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D5816A-A563-F4DA-76F8-5E4E362F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945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693B-C87B-579E-9804-888003BD2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5236C-6934-9C66-504A-8F0B460FD0D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19E9-01B5-8DB8-17BD-128C735F74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2463-E3CA-957F-6112-5C9C3E83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9AB0-EAEB-3767-BC49-60F999D4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D070-2586-23C5-26E6-E3FA7318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C8E8BFF-8BC3-159C-CB63-CCB6BA27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F6C3600-11E2-A516-9631-F9CE08E70E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FCADADE-630C-988E-4352-B1E904FD30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3524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869D-DF7B-2703-9E04-157257D37C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DC0CC-6F94-0E17-FE23-A3FBB5C118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9500" y="1524000"/>
            <a:ext cx="5486400" cy="4762500"/>
          </a:xfr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900000" rIns="360000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75E52-8DB8-6048-9901-D16A5CA4E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750AE-50CF-50BA-B5C8-BA8ED97E6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8FF9FA-D3C7-040B-F613-A409EE3FA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74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ture)"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DDE2CD5-04AF-E44A-3D47-A38FBFFC37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11" name="Title 67">
            <a:extLst>
              <a:ext uri="{FF2B5EF4-FFF2-40B4-BE49-F238E27FC236}">
                <a16:creationId xmlns:a16="http://schemas.microsoft.com/office/drawing/2014/main" id="{0C3EB450-B833-689E-3131-6F56B67DB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6275614" cy="231775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E971615-77E4-E062-C4A0-A9F503D4AE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100" y="3967163"/>
            <a:ext cx="6275615" cy="122237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20,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82A3A59-64B7-A01E-ABEC-B1D35CF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90334" y="368300"/>
            <a:ext cx="3055566" cy="6588760"/>
          </a:xfrm>
          <a:custGeom>
            <a:avLst/>
            <a:gdLst>
              <a:gd name="connsiteX0" fmla="*/ 0 w 3055566"/>
              <a:gd name="connsiteY0" fmla="*/ 0 h 6588760"/>
              <a:gd name="connsiteX1" fmla="*/ 3055566 w 3055566"/>
              <a:gd name="connsiteY1" fmla="*/ 1516182 h 6588760"/>
              <a:gd name="connsiteX2" fmla="*/ 3055566 w 3055566"/>
              <a:gd name="connsiteY2" fmla="*/ 6588760 h 6588760"/>
              <a:gd name="connsiteX3" fmla="*/ 0 w 3055566"/>
              <a:gd name="connsiteY3" fmla="*/ 6588760 h 6588760"/>
              <a:gd name="connsiteX4" fmla="*/ 0 w 3055566"/>
              <a:gd name="connsiteY4" fmla="*/ 6482134 h 6588760"/>
              <a:gd name="connsiteX5" fmla="*/ 0 w 3055566"/>
              <a:gd name="connsiteY5" fmla="*/ 6367834 h 6588760"/>
              <a:gd name="connsiteX6" fmla="*/ 0 w 3055566"/>
              <a:gd name="connsiteY6" fmla="*/ 5560477 h 6588760"/>
              <a:gd name="connsiteX7" fmla="*/ 0 w 3055566"/>
              <a:gd name="connsiteY7" fmla="*/ 5440734 h 6588760"/>
              <a:gd name="connsiteX8" fmla="*/ 0 w 3055566"/>
              <a:gd name="connsiteY8" fmla="*/ 5286839 h 6588760"/>
              <a:gd name="connsiteX9" fmla="*/ 0 w 3055566"/>
              <a:gd name="connsiteY9" fmla="*/ 3942134 h 6588760"/>
              <a:gd name="connsiteX10" fmla="*/ 0 w 3055566"/>
              <a:gd name="connsiteY10" fmla="*/ 3934197 h 6588760"/>
              <a:gd name="connsiteX11" fmla="*/ 0 w 3055566"/>
              <a:gd name="connsiteY11" fmla="*/ 2978626 h 6588760"/>
              <a:gd name="connsiteX12" fmla="*/ 0 w 3055566"/>
              <a:gd name="connsiteY12" fmla="*/ 1772021 h 6588760"/>
              <a:gd name="connsiteX13" fmla="*/ 0 w 3055566"/>
              <a:gd name="connsiteY13" fmla="*/ 995734 h 658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55566" h="6588760">
                <a:moveTo>
                  <a:pt x="0" y="0"/>
                </a:moveTo>
                <a:lnTo>
                  <a:pt x="3055566" y="1516182"/>
                </a:lnTo>
                <a:lnTo>
                  <a:pt x="3055566" y="6588760"/>
                </a:lnTo>
                <a:lnTo>
                  <a:pt x="0" y="6588760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00000">
                  <a:schemeClr val="accent2"/>
                </a:gs>
                <a:gs pos="1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EC0FEE0-FFFF-FC07-EBB9-CDBB1304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16267" y="368300"/>
            <a:ext cx="3292930" cy="6645419"/>
          </a:xfrm>
          <a:custGeom>
            <a:avLst/>
            <a:gdLst>
              <a:gd name="connsiteX0" fmla="*/ 0 w 3292930"/>
              <a:gd name="connsiteY0" fmla="*/ 0 h 6645419"/>
              <a:gd name="connsiteX1" fmla="*/ 3292930 w 3292930"/>
              <a:gd name="connsiteY1" fmla="*/ 1633963 h 6645419"/>
              <a:gd name="connsiteX2" fmla="*/ 3292930 w 3292930"/>
              <a:gd name="connsiteY2" fmla="*/ 6645419 h 6645419"/>
              <a:gd name="connsiteX3" fmla="*/ 0 w 3292930"/>
              <a:gd name="connsiteY3" fmla="*/ 6645419 h 6645419"/>
              <a:gd name="connsiteX4" fmla="*/ 0 w 3292930"/>
              <a:gd name="connsiteY4" fmla="*/ 6482134 h 6645419"/>
              <a:gd name="connsiteX5" fmla="*/ 0 w 3292930"/>
              <a:gd name="connsiteY5" fmla="*/ 6367834 h 6645419"/>
              <a:gd name="connsiteX6" fmla="*/ 0 w 3292930"/>
              <a:gd name="connsiteY6" fmla="*/ 5560477 h 6645419"/>
              <a:gd name="connsiteX7" fmla="*/ 0 w 3292930"/>
              <a:gd name="connsiteY7" fmla="*/ 5440734 h 6645419"/>
              <a:gd name="connsiteX8" fmla="*/ 0 w 3292930"/>
              <a:gd name="connsiteY8" fmla="*/ 5286839 h 6645419"/>
              <a:gd name="connsiteX9" fmla="*/ 0 w 3292930"/>
              <a:gd name="connsiteY9" fmla="*/ 3942134 h 6645419"/>
              <a:gd name="connsiteX10" fmla="*/ 0 w 3292930"/>
              <a:gd name="connsiteY10" fmla="*/ 3934197 h 6645419"/>
              <a:gd name="connsiteX11" fmla="*/ 0 w 3292930"/>
              <a:gd name="connsiteY11" fmla="*/ 2978626 h 6645419"/>
              <a:gd name="connsiteX12" fmla="*/ 0 w 3292930"/>
              <a:gd name="connsiteY12" fmla="*/ 1772021 h 6645419"/>
              <a:gd name="connsiteX13" fmla="*/ 0 w 3292930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92930" h="6645419">
                <a:moveTo>
                  <a:pt x="0" y="0"/>
                </a:moveTo>
                <a:lnTo>
                  <a:pt x="3292930" y="1633963"/>
                </a:lnTo>
                <a:lnTo>
                  <a:pt x="3292930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75000"/>
                </a:schemeClr>
              </a:gs>
              <a:gs pos="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0715C5-C9DC-DB57-3B95-04D1AE8AE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28136" y="1143000"/>
            <a:ext cx="635184" cy="1928579"/>
          </a:xfrm>
          <a:custGeom>
            <a:avLst/>
            <a:gdLst>
              <a:gd name="connsiteX0" fmla="*/ 0 w 712819"/>
              <a:gd name="connsiteY0" fmla="*/ 0 h 2164300"/>
              <a:gd name="connsiteX1" fmla="*/ 712819 w 712819"/>
              <a:gd name="connsiteY1" fmla="*/ 353704 h 2164300"/>
              <a:gd name="connsiteX2" fmla="*/ 712819 w 712819"/>
              <a:gd name="connsiteY2" fmla="*/ 360048 h 2164300"/>
              <a:gd name="connsiteX3" fmla="*/ 712819 w 712819"/>
              <a:gd name="connsiteY3" fmla="*/ 897076 h 2164300"/>
              <a:gd name="connsiteX4" fmla="*/ 712819 w 712819"/>
              <a:gd name="connsiteY4" fmla="*/ 1620928 h 2164300"/>
              <a:gd name="connsiteX5" fmla="*/ 712819 w 712819"/>
              <a:gd name="connsiteY5" fmla="*/ 2157956 h 2164300"/>
              <a:gd name="connsiteX6" fmla="*/ 712819 w 712819"/>
              <a:gd name="connsiteY6" fmla="*/ 2164300 h 2164300"/>
              <a:gd name="connsiteX7" fmla="*/ 0 w 712819"/>
              <a:gd name="connsiteY7" fmla="*/ 1810596 h 2164300"/>
              <a:gd name="connsiteX8" fmla="*/ 0 w 712819"/>
              <a:gd name="connsiteY8" fmla="*/ 1804252 h 2164300"/>
              <a:gd name="connsiteX9" fmla="*/ 0 w 712819"/>
              <a:gd name="connsiteY9" fmla="*/ 1267224 h 2164300"/>
              <a:gd name="connsiteX10" fmla="*/ 0 w 712819"/>
              <a:gd name="connsiteY10" fmla="*/ 543372 h 2164300"/>
              <a:gd name="connsiteX11" fmla="*/ 0 w 712819"/>
              <a:gd name="connsiteY11" fmla="*/ 6344 h 216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12819" h="2164300">
                <a:moveTo>
                  <a:pt x="0" y="0"/>
                </a:moveTo>
                <a:lnTo>
                  <a:pt x="712819" y="353704"/>
                </a:lnTo>
                <a:lnTo>
                  <a:pt x="712819" y="360048"/>
                </a:lnTo>
                <a:lnTo>
                  <a:pt x="712819" y="897076"/>
                </a:lnTo>
                <a:lnTo>
                  <a:pt x="712819" y="1620928"/>
                </a:lnTo>
                <a:lnTo>
                  <a:pt x="712819" y="2157956"/>
                </a:lnTo>
                <a:lnTo>
                  <a:pt x="712819" y="2164300"/>
                </a:lnTo>
                <a:lnTo>
                  <a:pt x="0" y="1810596"/>
                </a:lnTo>
                <a:lnTo>
                  <a:pt x="0" y="1804252"/>
                </a:lnTo>
                <a:lnTo>
                  <a:pt x="0" y="1267224"/>
                </a:lnTo>
                <a:lnTo>
                  <a:pt x="0" y="543372"/>
                </a:lnTo>
                <a:lnTo>
                  <a:pt x="0" y="6344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B502E4A-CB25-56F4-4122-BAB1DF3AE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42200" y="355600"/>
            <a:ext cx="3540058" cy="6645419"/>
          </a:xfrm>
          <a:custGeom>
            <a:avLst/>
            <a:gdLst>
              <a:gd name="connsiteX0" fmla="*/ 0 w 3540058"/>
              <a:gd name="connsiteY0" fmla="*/ 0 h 6645419"/>
              <a:gd name="connsiteX1" fmla="*/ 3540058 w 3540058"/>
              <a:gd name="connsiteY1" fmla="*/ 1756589 h 6645419"/>
              <a:gd name="connsiteX2" fmla="*/ 3540058 w 3540058"/>
              <a:gd name="connsiteY2" fmla="*/ 6645419 h 6645419"/>
              <a:gd name="connsiteX3" fmla="*/ 0 w 3540058"/>
              <a:gd name="connsiteY3" fmla="*/ 6645419 h 6645419"/>
              <a:gd name="connsiteX4" fmla="*/ 0 w 3540058"/>
              <a:gd name="connsiteY4" fmla="*/ 6482134 h 6645419"/>
              <a:gd name="connsiteX5" fmla="*/ 0 w 3540058"/>
              <a:gd name="connsiteY5" fmla="*/ 6367834 h 6645419"/>
              <a:gd name="connsiteX6" fmla="*/ 0 w 3540058"/>
              <a:gd name="connsiteY6" fmla="*/ 5560477 h 6645419"/>
              <a:gd name="connsiteX7" fmla="*/ 0 w 3540058"/>
              <a:gd name="connsiteY7" fmla="*/ 5440734 h 6645419"/>
              <a:gd name="connsiteX8" fmla="*/ 0 w 3540058"/>
              <a:gd name="connsiteY8" fmla="*/ 5286839 h 6645419"/>
              <a:gd name="connsiteX9" fmla="*/ 0 w 3540058"/>
              <a:gd name="connsiteY9" fmla="*/ 3942134 h 6645419"/>
              <a:gd name="connsiteX10" fmla="*/ 0 w 3540058"/>
              <a:gd name="connsiteY10" fmla="*/ 3934197 h 6645419"/>
              <a:gd name="connsiteX11" fmla="*/ 0 w 3540058"/>
              <a:gd name="connsiteY11" fmla="*/ 2978626 h 6645419"/>
              <a:gd name="connsiteX12" fmla="*/ 0 w 3540058"/>
              <a:gd name="connsiteY12" fmla="*/ 1772021 h 6645419"/>
              <a:gd name="connsiteX13" fmla="*/ 0 w 3540058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40058" h="6645419">
                <a:moveTo>
                  <a:pt x="0" y="0"/>
                </a:moveTo>
                <a:lnTo>
                  <a:pt x="3540058" y="1756589"/>
                </a:lnTo>
                <a:lnTo>
                  <a:pt x="3540058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CFF55A-1D5F-AAA6-4D3A-1DFCBBC26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821714" y="3222172"/>
            <a:ext cx="483977" cy="1654169"/>
          </a:xfrm>
          <a:custGeom>
            <a:avLst/>
            <a:gdLst>
              <a:gd name="connsiteX0" fmla="*/ 0 w 594266"/>
              <a:gd name="connsiteY0" fmla="*/ 0 h 2031124"/>
              <a:gd name="connsiteX1" fmla="*/ 594266 w 594266"/>
              <a:gd name="connsiteY1" fmla="*/ 294877 h 2031124"/>
              <a:gd name="connsiteX2" fmla="*/ 594266 w 594266"/>
              <a:gd name="connsiteY2" fmla="*/ 526950 h 2031124"/>
              <a:gd name="connsiteX3" fmla="*/ 594266 w 594266"/>
              <a:gd name="connsiteY3" fmla="*/ 747877 h 2031124"/>
              <a:gd name="connsiteX4" fmla="*/ 594266 w 594266"/>
              <a:gd name="connsiteY4" fmla="*/ 1578124 h 2031124"/>
              <a:gd name="connsiteX5" fmla="*/ 594266 w 594266"/>
              <a:gd name="connsiteY5" fmla="*/ 1799051 h 2031124"/>
              <a:gd name="connsiteX6" fmla="*/ 594266 w 594266"/>
              <a:gd name="connsiteY6" fmla="*/ 2031124 h 2031124"/>
              <a:gd name="connsiteX7" fmla="*/ 0 w 594266"/>
              <a:gd name="connsiteY7" fmla="*/ 1736247 h 2031124"/>
              <a:gd name="connsiteX8" fmla="*/ 0 w 594266"/>
              <a:gd name="connsiteY8" fmla="*/ 1504174 h 2031124"/>
              <a:gd name="connsiteX9" fmla="*/ 0 w 594266"/>
              <a:gd name="connsiteY9" fmla="*/ 1283247 h 2031124"/>
              <a:gd name="connsiteX10" fmla="*/ 0 w 594266"/>
              <a:gd name="connsiteY10" fmla="*/ 453000 h 2031124"/>
              <a:gd name="connsiteX11" fmla="*/ 0 w 594266"/>
              <a:gd name="connsiteY11" fmla="*/ 232073 h 203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4266" h="2031124">
                <a:moveTo>
                  <a:pt x="0" y="0"/>
                </a:moveTo>
                <a:lnTo>
                  <a:pt x="594266" y="294877"/>
                </a:lnTo>
                <a:lnTo>
                  <a:pt x="594266" y="526950"/>
                </a:lnTo>
                <a:lnTo>
                  <a:pt x="594266" y="747877"/>
                </a:lnTo>
                <a:lnTo>
                  <a:pt x="594266" y="1578124"/>
                </a:lnTo>
                <a:lnTo>
                  <a:pt x="594266" y="1799051"/>
                </a:lnTo>
                <a:lnTo>
                  <a:pt x="594266" y="2031124"/>
                </a:lnTo>
                <a:lnTo>
                  <a:pt x="0" y="1736247"/>
                </a:lnTo>
                <a:lnTo>
                  <a:pt x="0" y="1504174"/>
                </a:lnTo>
                <a:lnTo>
                  <a:pt x="0" y="1283247"/>
                </a:lnTo>
                <a:lnTo>
                  <a:pt x="0" y="453000"/>
                </a:lnTo>
                <a:lnTo>
                  <a:pt x="0" y="232073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9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1561E-FFE1-F9A5-FBF8-E494B0436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45728" y="4127662"/>
            <a:ext cx="622300" cy="2146138"/>
          </a:xfrm>
          <a:custGeom>
            <a:avLst/>
            <a:gdLst>
              <a:gd name="connsiteX0" fmla="*/ 0 w 622300"/>
              <a:gd name="connsiteY0" fmla="*/ 0 h 2146138"/>
              <a:gd name="connsiteX1" fmla="*/ 622300 w 622300"/>
              <a:gd name="connsiteY1" fmla="*/ 308788 h 2146138"/>
              <a:gd name="connsiteX2" fmla="*/ 622300 w 622300"/>
              <a:gd name="connsiteY2" fmla="*/ 423088 h 2146138"/>
              <a:gd name="connsiteX3" fmla="*/ 622300 w 622300"/>
              <a:gd name="connsiteY3" fmla="*/ 524688 h 2146138"/>
              <a:gd name="connsiteX4" fmla="*/ 622300 w 622300"/>
              <a:gd name="connsiteY4" fmla="*/ 545838 h 2146138"/>
              <a:gd name="connsiteX5" fmla="*/ 622300 w 622300"/>
              <a:gd name="connsiteY5" fmla="*/ 647438 h 2146138"/>
              <a:gd name="connsiteX6" fmla="*/ 622300 w 622300"/>
              <a:gd name="connsiteY6" fmla="*/ 750208 h 2146138"/>
              <a:gd name="connsiteX7" fmla="*/ 622300 w 622300"/>
              <a:gd name="connsiteY7" fmla="*/ 761738 h 2146138"/>
              <a:gd name="connsiteX8" fmla="*/ 622300 w 622300"/>
              <a:gd name="connsiteY8" fmla="*/ 851808 h 2146138"/>
              <a:gd name="connsiteX9" fmla="*/ 622300 w 622300"/>
              <a:gd name="connsiteY9" fmla="*/ 863338 h 2146138"/>
              <a:gd name="connsiteX10" fmla="*/ 622300 w 622300"/>
              <a:gd name="connsiteY10" fmla="*/ 966108 h 2146138"/>
              <a:gd name="connsiteX11" fmla="*/ 622300 w 622300"/>
              <a:gd name="connsiteY11" fmla="*/ 1067708 h 2146138"/>
              <a:gd name="connsiteX12" fmla="*/ 622300 w 622300"/>
              <a:gd name="connsiteY12" fmla="*/ 1387218 h 2146138"/>
              <a:gd name="connsiteX13" fmla="*/ 622300 w 622300"/>
              <a:gd name="connsiteY13" fmla="*/ 1488818 h 2146138"/>
              <a:gd name="connsiteX14" fmla="*/ 622300 w 622300"/>
              <a:gd name="connsiteY14" fmla="*/ 1591588 h 2146138"/>
              <a:gd name="connsiteX15" fmla="*/ 622300 w 622300"/>
              <a:gd name="connsiteY15" fmla="*/ 1603118 h 2146138"/>
              <a:gd name="connsiteX16" fmla="*/ 622300 w 622300"/>
              <a:gd name="connsiteY16" fmla="*/ 1693188 h 2146138"/>
              <a:gd name="connsiteX17" fmla="*/ 622300 w 622300"/>
              <a:gd name="connsiteY17" fmla="*/ 1704718 h 2146138"/>
              <a:gd name="connsiteX18" fmla="*/ 622300 w 622300"/>
              <a:gd name="connsiteY18" fmla="*/ 1807488 h 2146138"/>
              <a:gd name="connsiteX19" fmla="*/ 622300 w 622300"/>
              <a:gd name="connsiteY19" fmla="*/ 1909088 h 2146138"/>
              <a:gd name="connsiteX20" fmla="*/ 622300 w 622300"/>
              <a:gd name="connsiteY20" fmla="*/ 1930238 h 2146138"/>
              <a:gd name="connsiteX21" fmla="*/ 622300 w 622300"/>
              <a:gd name="connsiteY21" fmla="*/ 2031838 h 2146138"/>
              <a:gd name="connsiteX22" fmla="*/ 622300 w 622300"/>
              <a:gd name="connsiteY22" fmla="*/ 2146138 h 2146138"/>
              <a:gd name="connsiteX23" fmla="*/ 0 w 622300"/>
              <a:gd name="connsiteY23" fmla="*/ 1837351 h 2146138"/>
              <a:gd name="connsiteX24" fmla="*/ 0 w 622300"/>
              <a:gd name="connsiteY24" fmla="*/ 1723051 h 2146138"/>
              <a:gd name="connsiteX25" fmla="*/ 0 w 622300"/>
              <a:gd name="connsiteY25" fmla="*/ 1621451 h 2146138"/>
              <a:gd name="connsiteX26" fmla="*/ 0 w 622300"/>
              <a:gd name="connsiteY26" fmla="*/ 1600300 h 2146138"/>
              <a:gd name="connsiteX27" fmla="*/ 0 w 622300"/>
              <a:gd name="connsiteY27" fmla="*/ 1498700 h 2146138"/>
              <a:gd name="connsiteX28" fmla="*/ 0 w 622300"/>
              <a:gd name="connsiteY28" fmla="*/ 1395930 h 2146138"/>
              <a:gd name="connsiteX29" fmla="*/ 0 w 622300"/>
              <a:gd name="connsiteY29" fmla="*/ 1384400 h 2146138"/>
              <a:gd name="connsiteX30" fmla="*/ 0 w 622300"/>
              <a:gd name="connsiteY30" fmla="*/ 1294330 h 2146138"/>
              <a:gd name="connsiteX31" fmla="*/ 0 w 622300"/>
              <a:gd name="connsiteY31" fmla="*/ 1282800 h 2146138"/>
              <a:gd name="connsiteX32" fmla="*/ 0 w 622300"/>
              <a:gd name="connsiteY32" fmla="*/ 1180030 h 2146138"/>
              <a:gd name="connsiteX33" fmla="*/ 0 w 622300"/>
              <a:gd name="connsiteY33" fmla="*/ 1078430 h 2146138"/>
              <a:gd name="connsiteX34" fmla="*/ 0 w 622300"/>
              <a:gd name="connsiteY34" fmla="*/ 758921 h 2146138"/>
              <a:gd name="connsiteX35" fmla="*/ 0 w 622300"/>
              <a:gd name="connsiteY35" fmla="*/ 657321 h 2146138"/>
              <a:gd name="connsiteX36" fmla="*/ 0 w 622300"/>
              <a:gd name="connsiteY36" fmla="*/ 554551 h 2146138"/>
              <a:gd name="connsiteX37" fmla="*/ 0 w 622300"/>
              <a:gd name="connsiteY37" fmla="*/ 543021 h 2146138"/>
              <a:gd name="connsiteX38" fmla="*/ 0 w 622300"/>
              <a:gd name="connsiteY38" fmla="*/ 452951 h 2146138"/>
              <a:gd name="connsiteX39" fmla="*/ 0 w 622300"/>
              <a:gd name="connsiteY39" fmla="*/ 441421 h 2146138"/>
              <a:gd name="connsiteX40" fmla="*/ 0 w 622300"/>
              <a:gd name="connsiteY40" fmla="*/ 338651 h 2146138"/>
              <a:gd name="connsiteX41" fmla="*/ 0 w 622300"/>
              <a:gd name="connsiteY41" fmla="*/ 237051 h 2146138"/>
              <a:gd name="connsiteX42" fmla="*/ 0 w 622300"/>
              <a:gd name="connsiteY42" fmla="*/ 215900 h 2146138"/>
              <a:gd name="connsiteX43" fmla="*/ 0 w 622300"/>
              <a:gd name="connsiteY43" fmla="*/ 114300 h 21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22300" h="2146138">
                <a:moveTo>
                  <a:pt x="0" y="0"/>
                </a:moveTo>
                <a:lnTo>
                  <a:pt x="622300" y="308788"/>
                </a:lnTo>
                <a:lnTo>
                  <a:pt x="622300" y="423088"/>
                </a:lnTo>
                <a:lnTo>
                  <a:pt x="622300" y="524688"/>
                </a:lnTo>
                <a:lnTo>
                  <a:pt x="622300" y="545838"/>
                </a:lnTo>
                <a:lnTo>
                  <a:pt x="622300" y="647438"/>
                </a:lnTo>
                <a:lnTo>
                  <a:pt x="622300" y="750208"/>
                </a:lnTo>
                <a:lnTo>
                  <a:pt x="622300" y="761738"/>
                </a:lnTo>
                <a:lnTo>
                  <a:pt x="622300" y="851808"/>
                </a:lnTo>
                <a:lnTo>
                  <a:pt x="622300" y="863338"/>
                </a:lnTo>
                <a:lnTo>
                  <a:pt x="622300" y="966108"/>
                </a:lnTo>
                <a:lnTo>
                  <a:pt x="622300" y="1067708"/>
                </a:lnTo>
                <a:lnTo>
                  <a:pt x="622300" y="1387218"/>
                </a:lnTo>
                <a:lnTo>
                  <a:pt x="622300" y="1488818"/>
                </a:lnTo>
                <a:lnTo>
                  <a:pt x="622300" y="1591588"/>
                </a:lnTo>
                <a:lnTo>
                  <a:pt x="622300" y="1603118"/>
                </a:lnTo>
                <a:lnTo>
                  <a:pt x="622300" y="1693188"/>
                </a:lnTo>
                <a:lnTo>
                  <a:pt x="622300" y="1704718"/>
                </a:lnTo>
                <a:lnTo>
                  <a:pt x="622300" y="1807488"/>
                </a:lnTo>
                <a:lnTo>
                  <a:pt x="622300" y="1909088"/>
                </a:lnTo>
                <a:lnTo>
                  <a:pt x="622300" y="1930238"/>
                </a:lnTo>
                <a:lnTo>
                  <a:pt x="622300" y="2031838"/>
                </a:lnTo>
                <a:lnTo>
                  <a:pt x="622300" y="2146138"/>
                </a:lnTo>
                <a:lnTo>
                  <a:pt x="0" y="1837351"/>
                </a:lnTo>
                <a:lnTo>
                  <a:pt x="0" y="1723051"/>
                </a:lnTo>
                <a:lnTo>
                  <a:pt x="0" y="1621451"/>
                </a:lnTo>
                <a:lnTo>
                  <a:pt x="0" y="1600300"/>
                </a:lnTo>
                <a:lnTo>
                  <a:pt x="0" y="1498700"/>
                </a:lnTo>
                <a:lnTo>
                  <a:pt x="0" y="1395930"/>
                </a:lnTo>
                <a:lnTo>
                  <a:pt x="0" y="1384400"/>
                </a:lnTo>
                <a:lnTo>
                  <a:pt x="0" y="1294330"/>
                </a:lnTo>
                <a:lnTo>
                  <a:pt x="0" y="1282800"/>
                </a:lnTo>
                <a:lnTo>
                  <a:pt x="0" y="1180030"/>
                </a:lnTo>
                <a:lnTo>
                  <a:pt x="0" y="1078430"/>
                </a:lnTo>
                <a:lnTo>
                  <a:pt x="0" y="758921"/>
                </a:lnTo>
                <a:lnTo>
                  <a:pt x="0" y="657321"/>
                </a:lnTo>
                <a:lnTo>
                  <a:pt x="0" y="554551"/>
                </a:lnTo>
                <a:lnTo>
                  <a:pt x="0" y="543021"/>
                </a:lnTo>
                <a:lnTo>
                  <a:pt x="0" y="452951"/>
                </a:lnTo>
                <a:lnTo>
                  <a:pt x="0" y="441421"/>
                </a:lnTo>
                <a:lnTo>
                  <a:pt x="0" y="338651"/>
                </a:lnTo>
                <a:lnTo>
                  <a:pt x="0" y="237051"/>
                </a:lnTo>
                <a:lnTo>
                  <a:pt x="0" y="215900"/>
                </a:lnTo>
                <a:lnTo>
                  <a:pt x="0" y="114300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89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0" tIns="0" rIns="0" bIns="0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BBAE49-6B14-65B6-CA87-EE5253B41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19612" y="1854200"/>
            <a:ext cx="633150" cy="2150136"/>
          </a:xfrm>
          <a:custGeom>
            <a:avLst/>
            <a:gdLst>
              <a:gd name="connsiteX0" fmla="*/ 0 w 633150"/>
              <a:gd name="connsiteY0" fmla="*/ 0 h 2150136"/>
              <a:gd name="connsiteX1" fmla="*/ 633150 w 633150"/>
              <a:gd name="connsiteY1" fmla="*/ 314171 h 2150136"/>
              <a:gd name="connsiteX2" fmla="*/ 633150 w 633150"/>
              <a:gd name="connsiteY2" fmla="*/ 513405 h 2150136"/>
              <a:gd name="connsiteX3" fmla="*/ 633150 w 633150"/>
              <a:gd name="connsiteY3" fmla="*/ 1950903 h 2150136"/>
              <a:gd name="connsiteX4" fmla="*/ 633150 w 633150"/>
              <a:gd name="connsiteY4" fmla="*/ 2150136 h 2150136"/>
              <a:gd name="connsiteX5" fmla="*/ 0 w 633150"/>
              <a:gd name="connsiteY5" fmla="*/ 1835965 h 2150136"/>
              <a:gd name="connsiteX6" fmla="*/ 0 w 633150"/>
              <a:gd name="connsiteY6" fmla="*/ 1636732 h 2150136"/>
              <a:gd name="connsiteX7" fmla="*/ 0 w 633150"/>
              <a:gd name="connsiteY7" fmla="*/ 199234 h 215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3150" h="2150136">
                <a:moveTo>
                  <a:pt x="0" y="0"/>
                </a:moveTo>
                <a:lnTo>
                  <a:pt x="633150" y="314171"/>
                </a:lnTo>
                <a:lnTo>
                  <a:pt x="633150" y="513405"/>
                </a:lnTo>
                <a:lnTo>
                  <a:pt x="633150" y="1950903"/>
                </a:lnTo>
                <a:lnTo>
                  <a:pt x="633150" y="2150136"/>
                </a:lnTo>
                <a:lnTo>
                  <a:pt x="0" y="1835965"/>
                </a:lnTo>
                <a:lnTo>
                  <a:pt x="0" y="1636732"/>
                </a:lnTo>
                <a:lnTo>
                  <a:pt x="0" y="199234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72000"/>
                </a:srgbClr>
              </a:gs>
              <a:gs pos="100000">
                <a:srgbClr val="2F2A95">
                  <a:alpha val="8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……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E344-8FC6-9C44-DD7D-8F78A4E6DE3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BB5DB-C28B-B116-6A61-282D5993E514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1CF3-F9AC-4E4E-03E4-43B31A583F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2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3889 L -3.33333E-6 -3.7037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-0.03472 L -3.75E-6 1.85185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1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100" grpId="0" animBg="1"/>
      <p:bldP spid="73" grpId="0" animBg="1"/>
      <p:bldP spid="12" grpId="0" animBg="1"/>
      <p:bldP spid="33" grpId="0" animBg="1"/>
      <p:bldP spid="19" grpId="0" animBg="1"/>
      <p:bldP spid="9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800" y="1524001"/>
            <a:ext cx="7023100" cy="2317750"/>
          </a:xfrm>
        </p:spPr>
        <p:txBody>
          <a:bodyPr bIns="144000" anchor="b">
            <a:normAutofit/>
          </a:bodyPr>
          <a:lstStyle>
            <a:lvl1pPr algn="l" rtl="0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36,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22800" y="3967163"/>
            <a:ext cx="7023100" cy="1222375"/>
          </a:xfrm>
        </p:spPr>
        <p:txBody>
          <a:bodyPr lIns="0" tIns="144000" rIns="0" bIns="0" anchor="t">
            <a:normAutofit/>
          </a:bodyPr>
          <a:lstStyle>
            <a:lvl1pPr marL="0" indent="0" algn="l" rtl="0">
              <a:buFont typeface="Verdana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16,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101893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76842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51792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9613E9-BE82-93D5-8C3F-BB04E5F2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826" y="-17930"/>
            <a:ext cx="2784904" cy="6301255"/>
          </a:xfrm>
          <a:custGeom>
            <a:avLst/>
            <a:gdLst>
              <a:gd name="connsiteX0" fmla="*/ 0 w 2784904"/>
              <a:gd name="connsiteY0" fmla="*/ 0 h 6301255"/>
              <a:gd name="connsiteX1" fmla="*/ 2784904 w 2784904"/>
              <a:gd name="connsiteY1" fmla="*/ 0 h 6301255"/>
              <a:gd name="connsiteX2" fmla="*/ 2784904 w 2784904"/>
              <a:gd name="connsiteY2" fmla="*/ 14755 h 6301255"/>
              <a:gd name="connsiteX3" fmla="*/ 2784904 w 2784904"/>
              <a:gd name="connsiteY3" fmla="*/ 1456078 h 6301255"/>
              <a:gd name="connsiteX4" fmla="*/ 2784904 w 2784904"/>
              <a:gd name="connsiteY4" fmla="*/ 1470833 h 6301255"/>
              <a:gd name="connsiteX5" fmla="*/ 2784904 w 2784904"/>
              <a:gd name="connsiteY5" fmla="*/ 4830422 h 6301255"/>
              <a:gd name="connsiteX6" fmla="*/ 2784904 w 2784904"/>
              <a:gd name="connsiteY6" fmla="*/ 4845177 h 6301255"/>
              <a:gd name="connsiteX7" fmla="*/ 2784904 w 2784904"/>
              <a:gd name="connsiteY7" fmla="*/ 6286500 h 6301255"/>
              <a:gd name="connsiteX8" fmla="*/ 2784904 w 2784904"/>
              <a:gd name="connsiteY8" fmla="*/ 6301255 h 6301255"/>
              <a:gd name="connsiteX9" fmla="*/ 0 w 2784904"/>
              <a:gd name="connsiteY9" fmla="*/ 4954961 h 6301255"/>
              <a:gd name="connsiteX10" fmla="*/ 0 w 2784904"/>
              <a:gd name="connsiteY10" fmla="*/ 4940206 h 6301255"/>
              <a:gd name="connsiteX11" fmla="*/ 0 w 2784904"/>
              <a:gd name="connsiteY11" fmla="*/ 3498883 h 6301255"/>
              <a:gd name="connsiteX12" fmla="*/ 0 w 2784904"/>
              <a:gd name="connsiteY12" fmla="*/ 3484128 h 6301255"/>
              <a:gd name="connsiteX13" fmla="*/ 0 w 2784904"/>
              <a:gd name="connsiteY13" fmla="*/ 1470833 h 6301255"/>
              <a:gd name="connsiteX14" fmla="*/ 0 w 2784904"/>
              <a:gd name="connsiteY14" fmla="*/ 1456078 h 6301255"/>
              <a:gd name="connsiteX15" fmla="*/ 0 w 2784904"/>
              <a:gd name="connsiteY15" fmla="*/ 14755 h 630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4904" h="6301255">
                <a:moveTo>
                  <a:pt x="0" y="0"/>
                </a:moveTo>
                <a:lnTo>
                  <a:pt x="2784904" y="0"/>
                </a:lnTo>
                <a:lnTo>
                  <a:pt x="2784904" y="14755"/>
                </a:lnTo>
                <a:lnTo>
                  <a:pt x="2784904" y="1456078"/>
                </a:lnTo>
                <a:lnTo>
                  <a:pt x="2784904" y="1470833"/>
                </a:lnTo>
                <a:lnTo>
                  <a:pt x="2784904" y="4830422"/>
                </a:lnTo>
                <a:lnTo>
                  <a:pt x="2784904" y="4845177"/>
                </a:lnTo>
                <a:lnTo>
                  <a:pt x="2784904" y="6286500"/>
                </a:lnTo>
                <a:lnTo>
                  <a:pt x="2784904" y="6301255"/>
                </a:lnTo>
                <a:lnTo>
                  <a:pt x="0" y="4954961"/>
                </a:lnTo>
                <a:lnTo>
                  <a:pt x="0" y="4940206"/>
                </a:lnTo>
                <a:lnTo>
                  <a:pt x="0" y="3498883"/>
                </a:lnTo>
                <a:lnTo>
                  <a:pt x="0" y="3484128"/>
                </a:lnTo>
                <a:lnTo>
                  <a:pt x="0" y="1470833"/>
                </a:lnTo>
                <a:lnTo>
                  <a:pt x="0" y="1456078"/>
                </a:lnTo>
                <a:lnTo>
                  <a:pt x="0" y="1475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8000">
                  <a:schemeClr val="accent2"/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26742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692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23358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126943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15199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177043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48407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74680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2340242A-9028-BDF2-B234-CEFF2870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2333" y="-203428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E44E955E-7612-E8F0-3B5D-365C947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7620" y="-229146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1" name="Graphic 10">
            <a:extLst>
              <a:ext uri="{FF2B5EF4-FFF2-40B4-BE49-F238E27FC236}">
                <a16:creationId xmlns:a16="http://schemas.microsoft.com/office/drawing/2014/main" id="{5D9C53CF-BDD4-B556-0C5D-03B8F815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2907" y="-25486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2DD8D5-232D-2D37-C219-11B51A3B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7741" y="0"/>
            <a:ext cx="3052740" cy="6286500"/>
          </a:xfrm>
          <a:custGeom>
            <a:avLst/>
            <a:gdLst>
              <a:gd name="connsiteX0" fmla="*/ 0 w 3052740"/>
              <a:gd name="connsiteY0" fmla="*/ 0 h 6286500"/>
              <a:gd name="connsiteX1" fmla="*/ 3052740 w 3052740"/>
              <a:gd name="connsiteY1" fmla="*/ 0 h 6286500"/>
              <a:gd name="connsiteX2" fmla="*/ 3052740 w 3052740"/>
              <a:gd name="connsiteY2" fmla="*/ 1456078 h 6286500"/>
              <a:gd name="connsiteX3" fmla="*/ 3052740 w 3052740"/>
              <a:gd name="connsiteY3" fmla="*/ 4830422 h 6286500"/>
              <a:gd name="connsiteX4" fmla="*/ 3052740 w 3052740"/>
              <a:gd name="connsiteY4" fmla="*/ 6286500 h 6286500"/>
              <a:gd name="connsiteX5" fmla="*/ 0 w 3052740"/>
              <a:gd name="connsiteY5" fmla="*/ 4810727 h 6286500"/>
              <a:gd name="connsiteX6" fmla="*/ 0 w 3052740"/>
              <a:gd name="connsiteY6" fmla="*/ 3354649 h 6286500"/>
              <a:gd name="connsiteX7" fmla="*/ 0 w 3052740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2740" h="6286500">
                <a:moveTo>
                  <a:pt x="0" y="0"/>
                </a:moveTo>
                <a:lnTo>
                  <a:pt x="3052740" y="0"/>
                </a:lnTo>
                <a:lnTo>
                  <a:pt x="3052740" y="1456078"/>
                </a:lnTo>
                <a:lnTo>
                  <a:pt x="3052740" y="4830422"/>
                </a:lnTo>
                <a:lnTo>
                  <a:pt x="3052740" y="6286500"/>
                </a:lnTo>
                <a:lnTo>
                  <a:pt x="0" y="4810727"/>
                </a:lnTo>
                <a:lnTo>
                  <a:pt x="0" y="3354649"/>
                </a:lnTo>
                <a:lnTo>
                  <a:pt x="0" y="1456078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75000"/>
                </a:schemeClr>
              </a:gs>
              <a:gs pos="10000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 rt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88690719-AF8F-23FF-0686-C12A1BF1A4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6741" y="0"/>
            <a:ext cx="3323874" cy="6286500"/>
          </a:xfrm>
          <a:custGeom>
            <a:avLst/>
            <a:gdLst>
              <a:gd name="connsiteX0" fmla="*/ 0 w 3323874"/>
              <a:gd name="connsiteY0" fmla="*/ 0 h 6286500"/>
              <a:gd name="connsiteX1" fmla="*/ 3323874 w 3323874"/>
              <a:gd name="connsiteY1" fmla="*/ 0 h 6286500"/>
              <a:gd name="connsiteX2" fmla="*/ 3323874 w 3323874"/>
              <a:gd name="connsiteY2" fmla="*/ 1456078 h 6286500"/>
              <a:gd name="connsiteX3" fmla="*/ 3323874 w 3323874"/>
              <a:gd name="connsiteY3" fmla="*/ 4830422 h 6286500"/>
              <a:gd name="connsiteX4" fmla="*/ 3323874 w 3323874"/>
              <a:gd name="connsiteY4" fmla="*/ 6286500 h 6286500"/>
              <a:gd name="connsiteX5" fmla="*/ 0 w 3323874"/>
              <a:gd name="connsiteY5" fmla="*/ 4679655 h 6286500"/>
              <a:gd name="connsiteX6" fmla="*/ 0 w 3323874"/>
              <a:gd name="connsiteY6" fmla="*/ 3223577 h 6286500"/>
              <a:gd name="connsiteX7" fmla="*/ 0 w 3323874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3874" h="6286500">
                <a:moveTo>
                  <a:pt x="0" y="0"/>
                </a:moveTo>
                <a:lnTo>
                  <a:pt x="3323874" y="0"/>
                </a:lnTo>
                <a:lnTo>
                  <a:pt x="3323874" y="1456078"/>
                </a:lnTo>
                <a:lnTo>
                  <a:pt x="3323874" y="4830422"/>
                </a:lnTo>
                <a:lnTo>
                  <a:pt x="3323874" y="6286500"/>
                </a:lnTo>
                <a:lnTo>
                  <a:pt x="0" y="4679655"/>
                </a:lnTo>
                <a:lnTo>
                  <a:pt x="0" y="3223577"/>
                </a:lnTo>
                <a:lnTo>
                  <a:pt x="0" y="145607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9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9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0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1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2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4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2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-0.03268 0.03819 " pathEditMode="relative" rAng="0" ptsTypes="AA">
                                      <p:cBhvr>
                                        <p:cTn id="4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-3.33333E-6 L -0.06536 0.07477 " pathEditMode="relative" rAng="0" ptsTypes="AA">
                                      <p:cBhvr>
                                        <p:cTn id="50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-0.09804 0.11134 " pathEditMode="relative" rAng="0" ptsTypes="AA">
                                      <p:cBhvr>
                                        <p:cTn id="5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13072 0.14791 " pathEditMode="relative" rAng="0" ptsTypes="AA">
                                      <p:cBhvr>
                                        <p:cTn id="54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16341 0.18449 " pathEditMode="relative" rAng="0" ptsTypes="AA">
                                      <p:cBhvr>
                                        <p:cTn id="56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19609 0.22083 " pathEditMode="relative" rAng="0" ptsTypes="AA">
                                      <p:cBhvr>
                                        <p:cTn id="5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-0.22864 0.25741 " pathEditMode="relative" rAng="0" ptsTypes="AA">
                                      <p:cBhvr>
                                        <p:cTn id="60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26132 0.29398 " pathEditMode="relative" rAng="0" ptsTypes="AA">
                                      <p:cBhvr>
                                        <p:cTn id="62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29401 0.33055 " pathEditMode="relative" rAng="0" ptsTypes="AA">
                                      <p:cBhvr>
                                        <p:cTn id="64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-0.32669 0.36713 " pathEditMode="relative" rAng="0" ptsTypes="AA">
                                      <p:cBhvr>
                                        <p:cTn id="66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-0.35885 0.40555 " pathEditMode="relative" rAng="0" ptsTypes="AA">
                                      <p:cBhvr>
                                        <p:cTn id="68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43" y="20278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39127 0.44305 " pathEditMode="relative" rAng="0" ptsTypes="AA">
                                      <p:cBhvr>
                                        <p:cTn id="70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70" y="2215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22222E-6 L -0.42369 0.48055 " pathEditMode="relative" rAng="0" ptsTypes="AA">
                                      <p:cBhvr>
                                        <p:cTn id="72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5" y="2402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0.03889 L 2.5E-6 -3.7037E-6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-0.03472 L 2.5E-6 -2.59259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-3.33333E-6 L -0.03268 0.03658 " pathEditMode="relative" rAng="0" ptsTypes="AA">
                                      <p:cBhvr>
                                        <p:cTn id="111" dur="15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1829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-2.22222E-6 L -0.29401 0.32871 " pathEditMode="relative" rAng="0" ptsTypes="AA">
                                      <p:cBhvr>
                                        <p:cTn id="127" dur="150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435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-3.33333E-6 L -0.32669 0.36783 " pathEditMode="relative" rAng="0" ptsTypes="AA">
                                      <p:cBhvr>
                                        <p:cTn id="129" dur="15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8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200"/>
                  </p:stCondLst>
                  <p:childTnLst>
                    <p:animMotion origin="layout" path="M 2.5E-6 -0.03472 L 2.5E-6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7" grpId="0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121" grpId="0" animBg="1"/>
      <p:bldP spid="36" grpId="0" animBg="1"/>
      <p:bldP spid="36" grpId="1" animBg="1"/>
      <p:bldP spid="40" grpId="0" animBg="1"/>
      <p:bldP spid="40" grpId="1" animBg="1"/>
      <p:bldP spid="41" grpId="0" animBg="1"/>
      <p:bldP spid="41" grpId="1" animBg="1"/>
      <p:bldP spid="33" grpId="0" animBg="1"/>
      <p:bldP spid="129" grpId="0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3A600-7862-1261-A2A1-034E7EDC5F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DE4F-C3BC-007D-EF1F-8A400A10CB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09/10/2026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7045-F2C9-FC48-9295-31C1919A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0BA8C-A0A2-493C-9386-2300DE9A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FD8990E-4FA2-F603-EAB5-7E6A1B77BA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BD11F3-A53B-D639-35D7-4319E4A9D7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FA86F74-A4FA-366C-0547-8046917C56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100" y="2733964"/>
            <a:ext cx="4798014" cy="1390072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2pPr>
            <a:lvl3pPr marL="9144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3pPr>
            <a:lvl4pPr marL="13716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4pPr>
            <a:lvl5pPr marL="18288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Agenda 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865F23-5DAD-7144-3906-23B0256A1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543898" y="4599753"/>
            <a:ext cx="668911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9C2217-4CFC-25EC-DA63-8712F58F9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956527" y="3491486"/>
            <a:ext cx="684155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EDA2C1-FFE7-6894-FD8F-C50BF0AC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819684" y="567262"/>
            <a:ext cx="668910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103F671-8345-2357-3652-7FA124AF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 flipH="1" flipV="1">
            <a:off x="391819" y="1208739"/>
            <a:ext cx="684153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C5D3CAD-A58F-85CC-5577-5156C96582E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032500" y="16271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DFC5834E-A3BC-6828-034C-89FD765ACEDC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32500" y="24241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157F0C1-B6FC-72BD-CA5B-1311A3971CB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32500" y="322103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0044BEAE-C33F-CB1A-53E6-A17672D6A30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32500" y="401796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D7CE6FD3-B71D-C181-AF40-259A4DC70025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32500" y="48148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810397D2-C488-84C8-3A6A-A910F6380379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032500" y="56118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F5CE08-CCD2-5631-5E5C-0549366B707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83614" y="16271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F086F16D-D8C3-5108-DDA3-6DE3CF47DAD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83614" y="24241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733F1917-302D-A5BE-C1D5-B17CBA9FCB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783614" y="322103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B5DEE5E6-59FB-33F9-8980-0004276C0D4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783614" y="401796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694A4538-3017-9257-1896-BB231AD719C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783614" y="48148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0417A4EF-B02C-2531-83C9-9CB7F8FEC52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83614" y="56118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A8D5C0A-62A1-A1BD-FC12-40AC23FD0347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 flipV="1">
            <a:off x="6026150" y="152400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4540FA9F-D2C3-C3B3-F06B-8A93911F161F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 flipV="1">
            <a:off x="6026150" y="2317396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8BAB9388-6C79-0B3A-D970-FCD1B3755E4B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 flipV="1">
            <a:off x="6026150" y="3110792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CE680E7-AB02-36CD-457F-DFF340B368F7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 flipV="1">
            <a:off x="6026150" y="3904188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B21F9694-65DC-62B0-9986-AF2F72BF4651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 flipV="1">
            <a:off x="6026150" y="4697584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0C916E77-D393-A9D7-F66A-3C30D0A6F66B}"/>
              </a:ext>
            </a:extLst>
          </p:cNvPr>
          <p:cNvSpPr>
            <a:spLocks noGrp="1"/>
          </p:cNvSpPr>
          <p:nvPr userDrawn="1">
            <p:ph type="body" sz="quarter" idx="30"/>
          </p:nvPr>
        </p:nvSpPr>
        <p:spPr>
          <a:xfrm flipV="1">
            <a:off x="6026150" y="549098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E2208320-8DC6-96C5-E060-B21A416A640C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 flipV="1">
            <a:off x="6026150" y="6284375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64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2" presetClass="entr" presetSubtype="2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2" presetClass="entr" presetSubtype="2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03472 L 5.55112E-17 -1.85185E-6 " pathEditMode="relative" rAng="0" ptsTypes="AA">
                                      <p:cBhvr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1"/>
      <p:bldP spid="46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1"/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1"/>
      <p:bldP spid="4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1"/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/>
      <p:bldP spid="42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/>
      <p:bldP spid="3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1"/>
      <p:bldP spid="32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1"/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1"/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1"/>
      <p:bldP spid="4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Title, Use Font Size 28, Title Case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D0CE95-89EC-95E6-2690-5F3F08272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1143000"/>
            <a:ext cx="11099800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2ED0-34DB-2CAB-894B-1E7907C3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38976-C93B-4F0C-AE4A-3BD284E7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07CFC-F38E-4EE4-C6AD-B62650FA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526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08F7DFD-C55A-7C50-49C1-18FEBAA61E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EB5D1D4-76C4-135C-702C-458E7E26FE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461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DC19C9A-F6D3-FF60-7DFA-8F060BA40F1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3528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CDA20B33-282D-E1A8-107F-F67672993C7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595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53C791ED-08CF-B7DA-7F4A-53CB1BEB2BF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966199" y="1649413"/>
            <a:ext cx="2679701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884DE-4818-51FE-42F0-5E3E0E26CC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33CA-E4C6-74FC-102E-3E7170DCB4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984476-DB18-6EFC-CFFF-7DC3D02F4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22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0410E3-2E05-8E15-231D-2E0A556225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100" y="1535054"/>
            <a:ext cx="5486400" cy="2306696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quote, use font size 20, sentence case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9F86920-BC32-7706-32FF-8247600998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3967163"/>
            <a:ext cx="5486400" cy="383864"/>
          </a:xfrm>
        </p:spPr>
        <p:txBody>
          <a:bodyPr l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Verdana" panose="020B0602030504020204" pitchFamily="34" charset="0"/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</a:lstStyle>
          <a:p>
            <a:pPr lvl="0"/>
            <a:r>
              <a:rPr lang="en-US"/>
              <a:t>Add name here, Use Font Size 20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DF5267-6EC5-2B94-99C9-E08682F032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101" y="4477027"/>
            <a:ext cx="5486400" cy="180947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Add Job Title Here, Use Font Size 16, Title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64C483-C645-5E7F-EFF5-99277788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42666" y="3266987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EE7642-7909-D90B-8143-34DAC95C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48618" y="1540541"/>
            <a:ext cx="792518" cy="2477701"/>
          </a:xfrm>
          <a:custGeom>
            <a:avLst/>
            <a:gdLst>
              <a:gd name="connsiteX0" fmla="*/ 0 w 792518"/>
              <a:gd name="connsiteY0" fmla="*/ 0 h 2477701"/>
              <a:gd name="connsiteX1" fmla="*/ 792518 w 792518"/>
              <a:gd name="connsiteY1" fmla="*/ 393250 h 2477701"/>
              <a:gd name="connsiteX2" fmla="*/ 792518 w 792518"/>
              <a:gd name="connsiteY2" fmla="*/ 2477701 h 2477701"/>
              <a:gd name="connsiteX3" fmla="*/ 0 w 792518"/>
              <a:gd name="connsiteY3" fmla="*/ 2084451 h 247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518" h="2477701">
                <a:moveTo>
                  <a:pt x="0" y="0"/>
                </a:moveTo>
                <a:lnTo>
                  <a:pt x="792518" y="393250"/>
                </a:lnTo>
                <a:lnTo>
                  <a:pt x="792518" y="2477701"/>
                </a:lnTo>
                <a:lnTo>
                  <a:pt x="0" y="208445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96B6EE-7991-F35C-13AF-6C1E27A6C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89573" y="863906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3B1E8CF-D9BE-4C10-89CD-694F1CB6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55203" y="1894579"/>
            <a:ext cx="594266" cy="2252051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D382A5-D297-2172-10D7-B3211F5D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66109" y="3282189"/>
            <a:ext cx="280587" cy="1063324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2F6D961-F6BB-6F53-6225-FC3F5E6FEE8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105039" y="1915436"/>
            <a:ext cx="3005021" cy="3027128"/>
          </a:xfrm>
          <a:prstGeom prst="ellipse">
            <a:avLst/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108000" rIns="72000" anchor="ctr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D6EEFFD-7435-4311-196A-430BFF7DA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0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5A9052-56DE-4C67-C703-CF3564650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2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77C5-B8F9-C666-5D6D-A5A7C28F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41641" y="2997378"/>
            <a:ext cx="794338" cy="2505291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957B57-EDF2-25DE-1CE6-3781527D3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1C13550-37C6-2BBC-2A2B-F99CDB5E6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EA53CC4-970B-4F45-D2C2-25F4A84808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73E30D-1AE7-4F81-1DDA-772C67B40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9A9BC-90C2-C963-3FC8-FA400A67F5A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F3AFE1-A6C1-1C01-9BE5-A5158F44EB8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7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75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9000" y="9999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1.25E-6 0.03889 L 1.25E-6 1.85185E-6 " pathEditMode="relative" rAng="0" ptsTypes="AA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5" grpId="0" animBg="1"/>
      <p:bldP spid="17" grpId="0" animBg="1"/>
      <p:bldP spid="4" grpId="0" animBg="1"/>
      <p:bldP spid="6" grpId="0" animBg="1"/>
      <p:bldP spid="16" grpId="0" animBg="1"/>
      <p:bldP spid="22" grpId="0" animBg="1"/>
      <p:bldP spid="22" grpId="1" animBg="1"/>
      <p:bldP spid="22" grpId="2" animBg="1"/>
      <p:bldP spid="31" grpId="0" animBg="1"/>
      <p:bldP spid="30" grpId="0" animBg="1"/>
      <p:bldP spid="5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1EC7D8-1702-47D3-3E76-6073B3B80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93B37E-EF0B-F4D7-8555-765DDCEEA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649413"/>
            <a:ext cx="4076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2DDAF-9E6F-C6DE-7FEE-4D4746895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429" t="8712" r="5429" b="8712"/>
          <a:stretch/>
        </p:blipFill>
        <p:spPr>
          <a:xfrm>
            <a:off x="4715436" y="1753534"/>
            <a:ext cx="6968564" cy="43034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782D8E-80C3-D0D0-9E0D-CEA146D08B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62600" y="2266950"/>
            <a:ext cx="5295900" cy="3309938"/>
          </a:xfrm>
          <a:prstGeom prst="round2SameRect">
            <a:avLst>
              <a:gd name="adj1" fmla="val 1822"/>
              <a:gd name="adj2" fmla="val 0"/>
            </a:avLst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432000" rIns="360000" anchor="t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0209E-58FE-65A9-A756-1EFB127AEF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1A56-91AC-E9BB-5AC3-0E78DD8A2D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8B26E-FDE5-346C-3B2D-042F602F4C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06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Picture)"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5486400" cy="2317750"/>
          </a:xfrm>
        </p:spPr>
        <p:txBody>
          <a:bodyPr anchor="b" anchorCtr="0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46100" y="3967163"/>
            <a:ext cx="5486400" cy="1222375"/>
          </a:xfr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</a:pPr>
            <a:r>
              <a:rPr lang="en-US"/>
              <a:t>Click to add subtitle, use font size 20, sentence case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20F6BA9-3F42-B62D-4399-F81E1CEF2A0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051072" y="-507998"/>
            <a:ext cx="3576255" cy="8052777"/>
          </a:xfrm>
          <a:custGeom>
            <a:avLst/>
            <a:gdLst>
              <a:gd name="connsiteX0" fmla="*/ 0 w 3576255"/>
              <a:gd name="connsiteY0" fmla="*/ 0 h 8052777"/>
              <a:gd name="connsiteX1" fmla="*/ 3576255 w 3576255"/>
              <a:gd name="connsiteY1" fmla="*/ 1774552 h 8052777"/>
              <a:gd name="connsiteX2" fmla="*/ 3576255 w 3576255"/>
              <a:gd name="connsiteY2" fmla="*/ 8052777 h 8052777"/>
              <a:gd name="connsiteX3" fmla="*/ 0 w 3576255"/>
              <a:gd name="connsiteY3" fmla="*/ 6278225 h 805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255" h="8052777">
                <a:moveTo>
                  <a:pt x="0" y="0"/>
                </a:moveTo>
                <a:lnTo>
                  <a:pt x="3576255" y="1774552"/>
                </a:lnTo>
                <a:lnTo>
                  <a:pt x="3576255" y="8052777"/>
                </a:lnTo>
                <a:lnTo>
                  <a:pt x="0" y="6278225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2556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97B7E6-79FF-1035-79D6-97D4BA11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70353" y="4635500"/>
            <a:ext cx="557347" cy="1651000"/>
          </a:xfrm>
          <a:custGeom>
            <a:avLst/>
            <a:gdLst>
              <a:gd name="connsiteX0" fmla="*/ 0 w 3030784"/>
              <a:gd name="connsiteY0" fmla="*/ 0 h 8977922"/>
              <a:gd name="connsiteX1" fmla="*/ 3030784 w 3030784"/>
              <a:gd name="connsiteY1" fmla="*/ 1503885 h 8977922"/>
              <a:gd name="connsiteX2" fmla="*/ 3030784 w 3030784"/>
              <a:gd name="connsiteY2" fmla="*/ 8977922 h 8977922"/>
              <a:gd name="connsiteX3" fmla="*/ 0 w 3030784"/>
              <a:gd name="connsiteY3" fmla="*/ 7474037 h 89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0784" h="8977922">
                <a:moveTo>
                  <a:pt x="0" y="0"/>
                </a:moveTo>
                <a:lnTo>
                  <a:pt x="3030784" y="1503885"/>
                </a:lnTo>
                <a:lnTo>
                  <a:pt x="3030784" y="8977922"/>
                </a:lnTo>
                <a:lnTo>
                  <a:pt x="0" y="7474037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9BB291-4B51-DA63-86CC-144EE928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06220" y="4470400"/>
            <a:ext cx="539680" cy="1816100"/>
          </a:xfrm>
          <a:custGeom>
            <a:avLst/>
            <a:gdLst>
              <a:gd name="connsiteX0" fmla="*/ 0 w 701962"/>
              <a:gd name="connsiteY0" fmla="*/ 0 h 2362201"/>
              <a:gd name="connsiteX1" fmla="*/ 701962 w 701962"/>
              <a:gd name="connsiteY1" fmla="*/ 348316 h 2362201"/>
              <a:gd name="connsiteX2" fmla="*/ 701962 w 701962"/>
              <a:gd name="connsiteY2" fmla="*/ 780116 h 2362201"/>
              <a:gd name="connsiteX3" fmla="*/ 701962 w 701962"/>
              <a:gd name="connsiteY3" fmla="*/ 1930401 h 2362201"/>
              <a:gd name="connsiteX4" fmla="*/ 701962 w 701962"/>
              <a:gd name="connsiteY4" fmla="*/ 2362201 h 2362201"/>
              <a:gd name="connsiteX5" fmla="*/ 0 w 701962"/>
              <a:gd name="connsiteY5" fmla="*/ 2013886 h 2362201"/>
              <a:gd name="connsiteX6" fmla="*/ 0 w 701962"/>
              <a:gd name="connsiteY6" fmla="*/ 1582086 h 2362201"/>
              <a:gd name="connsiteX7" fmla="*/ 0 w 701962"/>
              <a:gd name="connsiteY7" fmla="*/ 431800 h 236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962" h="2362201">
                <a:moveTo>
                  <a:pt x="0" y="0"/>
                </a:moveTo>
                <a:lnTo>
                  <a:pt x="701962" y="348316"/>
                </a:lnTo>
                <a:lnTo>
                  <a:pt x="701962" y="780116"/>
                </a:lnTo>
                <a:lnTo>
                  <a:pt x="701962" y="1930401"/>
                </a:lnTo>
                <a:lnTo>
                  <a:pt x="701962" y="2362201"/>
                </a:lnTo>
                <a:lnTo>
                  <a:pt x="0" y="2013886"/>
                </a:lnTo>
                <a:lnTo>
                  <a:pt x="0" y="1582086"/>
                </a:lnTo>
                <a:lnTo>
                  <a:pt x="0" y="431800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DB4D9DB-D366-2538-B48B-36DCBB68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75900" y="698500"/>
            <a:ext cx="557347" cy="1651000"/>
          </a:xfrm>
          <a:custGeom>
            <a:avLst/>
            <a:gdLst>
              <a:gd name="connsiteX0" fmla="*/ 0 w 557347"/>
              <a:gd name="connsiteY0" fmla="*/ 0 h 1651000"/>
              <a:gd name="connsiteX1" fmla="*/ 557347 w 557347"/>
              <a:gd name="connsiteY1" fmla="*/ 276558 h 1651000"/>
              <a:gd name="connsiteX2" fmla="*/ 557347 w 557347"/>
              <a:gd name="connsiteY2" fmla="*/ 1651000 h 1651000"/>
              <a:gd name="connsiteX3" fmla="*/ 0 w 557347"/>
              <a:gd name="connsiteY3" fmla="*/ 1374442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347" h="1651000">
                <a:moveTo>
                  <a:pt x="0" y="0"/>
                </a:moveTo>
                <a:lnTo>
                  <a:pt x="557347" y="276558"/>
                </a:lnTo>
                <a:lnTo>
                  <a:pt x="557347" y="1651000"/>
                </a:lnTo>
                <a:lnTo>
                  <a:pt x="0" y="137444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buFontTx/>
              <a:buNone/>
              <a:defRPr kumimoji="0" lang="en-US" sz="100" b="0" i="0" u="none" strike="noStrike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005CB4-E4F8-2AB3-56A2-7D9C9C29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19332" y="2298700"/>
            <a:ext cx="539680" cy="1816100"/>
          </a:xfrm>
          <a:custGeom>
            <a:avLst/>
            <a:gdLst>
              <a:gd name="connsiteX0" fmla="*/ 0 w 539680"/>
              <a:gd name="connsiteY0" fmla="*/ 0 h 1816100"/>
              <a:gd name="connsiteX1" fmla="*/ 539680 w 539680"/>
              <a:gd name="connsiteY1" fmla="*/ 267791 h 1816100"/>
              <a:gd name="connsiteX2" fmla="*/ 539680 w 539680"/>
              <a:gd name="connsiteY2" fmla="*/ 599767 h 1816100"/>
              <a:gd name="connsiteX3" fmla="*/ 539680 w 539680"/>
              <a:gd name="connsiteY3" fmla="*/ 1484125 h 1816100"/>
              <a:gd name="connsiteX4" fmla="*/ 539680 w 539680"/>
              <a:gd name="connsiteY4" fmla="*/ 1816100 h 1816100"/>
              <a:gd name="connsiteX5" fmla="*/ 0 w 539680"/>
              <a:gd name="connsiteY5" fmla="*/ 1548310 h 1816100"/>
              <a:gd name="connsiteX6" fmla="*/ 0 w 539680"/>
              <a:gd name="connsiteY6" fmla="*/ 1216335 h 1816100"/>
              <a:gd name="connsiteX7" fmla="*/ 0 w 539680"/>
              <a:gd name="connsiteY7" fmla="*/ 331975 h 18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9680" h="1816100">
                <a:moveTo>
                  <a:pt x="0" y="0"/>
                </a:moveTo>
                <a:lnTo>
                  <a:pt x="539680" y="267791"/>
                </a:lnTo>
                <a:lnTo>
                  <a:pt x="539680" y="599767"/>
                </a:lnTo>
                <a:lnTo>
                  <a:pt x="539680" y="1484125"/>
                </a:lnTo>
                <a:lnTo>
                  <a:pt x="539680" y="1816100"/>
                </a:lnTo>
                <a:lnTo>
                  <a:pt x="0" y="1548310"/>
                </a:lnTo>
                <a:lnTo>
                  <a:pt x="0" y="1216335"/>
                </a:lnTo>
                <a:lnTo>
                  <a:pt x="0" y="331975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FontTx/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hi</a:t>
            </a:r>
          </a:p>
        </p:txBody>
      </p:sp>
      <p:pic>
        <p:nvPicPr>
          <p:cNvPr id="35" name="Graphic 34" descr="InterSystems: Creative data technology">
            <a:extLst>
              <a:ext uri="{FF2B5EF4-FFF2-40B4-BE49-F238E27FC236}">
                <a16:creationId xmlns:a16="http://schemas.microsoft.com/office/drawing/2014/main" id="{F0C72F17-40F0-F9CD-8B0E-F2E0C7B665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4F20-0F5A-DCA7-0A80-A01B2617AE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3DF0C-9FFC-222C-495F-F976BBFD363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ED08-974B-8751-2821-4721403F57C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31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0.03889 L -1.66667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2.59259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2.59259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9" grpId="0" animBg="1"/>
      <p:bldP spid="18" grpId="0" animBg="1"/>
      <p:bldP spid="19" grpId="0" animBg="1"/>
      <p:bldP spid="3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01E4783-E28F-6DAC-9820-B8921415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6882103 w 12192000"/>
              <a:gd name="connsiteY4" fmla="*/ 6858001 h 6858001"/>
              <a:gd name="connsiteX5" fmla="*/ 0 w 12192000"/>
              <a:gd name="connsiteY5" fmla="*/ 342933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6882103" y="6858001"/>
                </a:lnTo>
                <a:lnTo>
                  <a:pt x="0" y="3429337"/>
                </a:lnTo>
                <a:close/>
              </a:path>
            </a:pathLst>
          </a:custGeom>
          <a:gradFill>
            <a:gsLst>
              <a:gs pos="28000">
                <a:srgbClr val="2F2A95">
                  <a:lumMod val="50000"/>
                  <a:alpha val="0"/>
                </a:srgbClr>
              </a:gs>
              <a:gs pos="98165">
                <a:srgbClr val="2F2A95">
                  <a:lumMod val="50000"/>
                </a:srgbClr>
              </a:gs>
              <a:gs pos="62000">
                <a:srgbClr val="2F2A95">
                  <a:lumMod val="50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tIns="90000" bIns="90000" rtlCol="0" anchor="t">
            <a:no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2A95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pic>
        <p:nvPicPr>
          <p:cNvPr id="3" name="Graphic 2" descr="InterSystems: Creative data technology">
            <a:extLst>
              <a:ext uri="{FF2B5EF4-FFF2-40B4-BE49-F238E27FC236}">
                <a16:creationId xmlns:a16="http://schemas.microsoft.com/office/drawing/2014/main" id="{3D5778B1-72D3-3D37-7816-ADBD37C68EE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24438" y="1917866"/>
            <a:ext cx="2143123" cy="57149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2744788"/>
            <a:ext cx="5486400" cy="1096962"/>
          </a:xfrm>
        </p:spPr>
        <p:txBody>
          <a:bodyPr bIns="108000" anchor="b" anchorCtr="0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65500" y="3967162"/>
            <a:ext cx="5461000" cy="1096963"/>
          </a:xfrm>
        </p:spPr>
        <p:txBody>
          <a:bodyPr tIns="108000" anchor="t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1A2F962-E4A4-1DA4-3FA5-2125F232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973" y="-1761510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4" name="Graphic 10">
            <a:extLst>
              <a:ext uri="{FF2B5EF4-FFF2-40B4-BE49-F238E27FC236}">
                <a16:creationId xmlns:a16="http://schemas.microsoft.com/office/drawing/2014/main" id="{625489B4-78EB-10CD-68A8-F338971CD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053337" y="-153887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84FA20C-3951-A719-6C06-43C277C6A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1700" y="-1316240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9F93CBF6-1E33-FD41-EAA1-2CE80D707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330065" y="-109360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7407530-492B-CB41-FD56-EA18EBA4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8429" y="-870971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8" name="Graphic 10">
            <a:extLst>
              <a:ext uri="{FF2B5EF4-FFF2-40B4-BE49-F238E27FC236}">
                <a16:creationId xmlns:a16="http://schemas.microsoft.com/office/drawing/2014/main" id="{E9211BE1-3C69-4AA8-8A51-3D83983F6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606794" y="-648336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C60D65D-DD95-B536-C036-010C76B47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45158" y="-425701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EB15150-BCEE-3408-D680-1E1F0FC0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1267" y="2998830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1" name="Graphic 10">
            <a:extLst>
              <a:ext uri="{FF2B5EF4-FFF2-40B4-BE49-F238E27FC236}">
                <a16:creationId xmlns:a16="http://schemas.microsoft.com/office/drawing/2014/main" id="{9489480C-274C-BAFF-9CF8-1C0CE00C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769630" y="322146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35C9A61C-7FDB-A2B7-FEB1-13AB67098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07994" y="3444100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Graphic 10">
            <a:extLst>
              <a:ext uri="{FF2B5EF4-FFF2-40B4-BE49-F238E27FC236}">
                <a16:creationId xmlns:a16="http://schemas.microsoft.com/office/drawing/2014/main" id="{96A0FDAD-B7EC-C0B0-6176-F1C39FE8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46359" y="366673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524668BE-9A21-463E-56BB-91F4C02D4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883523" y="-203066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4AB2B88-BEDE-D77E-201C-952A36002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21887" y="1956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44B185F6-BF82-0F9F-841C-03D8A4E59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160252" y="24220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DF4CA17-F7FD-7A98-EC9A-8F854B63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616" y="46483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EA75C024-A1C6-00BC-272C-0ECFEE5B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436980" y="68747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8FF8846-A7A5-3491-A702-FE5528C32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344" y="91010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C94050D7-B4E6-AAA0-63AC-7AA490FC1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13709" y="113274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BAA3995-93ED-EA84-DF46-1474FAAE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2074" y="1355377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F8814E9-32FB-0907-6A87-70A5AD25D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4722" y="3889369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42988FB9-D740-533A-EA47-7158F038F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323087" y="411200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E95EFA58-A45B-BD28-A95C-E37D4B3C3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61451" y="4334639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84D53227-7EE7-1769-B43A-E5831C3D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9816" y="455727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E20B0AB9-818A-3D01-C950-EF532383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38180" y="477990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7" name="Graphic 10">
            <a:extLst>
              <a:ext uri="{FF2B5EF4-FFF2-40B4-BE49-F238E27FC236}">
                <a16:creationId xmlns:a16="http://schemas.microsoft.com/office/drawing/2014/main" id="{D7140AF6-DF12-5D9B-48C3-454792A62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876545" y="500254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B014BE5-6286-F6BB-E68A-CDBF92A72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14909" y="522517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9" name="Graphic 10">
            <a:extLst>
              <a:ext uri="{FF2B5EF4-FFF2-40B4-BE49-F238E27FC236}">
                <a16:creationId xmlns:a16="http://schemas.microsoft.com/office/drawing/2014/main" id="{88BA1BCA-43BA-C8E1-0184-BA219348B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153273" y="544781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6076AF90-1D9C-E76A-0679-7146C1DC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91637" y="567044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1" name="Graphic 10">
            <a:extLst>
              <a:ext uri="{FF2B5EF4-FFF2-40B4-BE49-F238E27FC236}">
                <a16:creationId xmlns:a16="http://schemas.microsoft.com/office/drawing/2014/main" id="{E0CC398D-8182-975D-58EB-5BEA5C3EE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430002" y="589308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E5D418A4-45CA-F92D-67E8-973F3D11E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8366" y="6115717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4AA9B-88C8-13CD-DF48-DB328E58A2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05341-3D1F-AF19-E6E6-44F90FC8F3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10/9/26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268FA-6FEE-025D-3F88-771214B6B97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4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293782 0.5895622 E" pathEditMode="relative" ptsTypes="">
                                      <p:cBhvr>
                                        <p:cTn id="2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997164 0.5570988 E" pathEditMode="relative" ptsTypes="">
                                      <p:cBhvr>
                                        <p:cTn id="27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700546 0.5246352 E" pathEditMode="relative" ptsTypes="">
                                      <p:cBhvr>
                                        <p:cTn id="32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03929 0.4921717 E" pathEditMode="relative" ptsTypes="">
                                      <p:cBhvr>
                                        <p:cTn id="37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07313 0.4597082 E" pathEditMode="relative" ptsTypes="">
                                      <p:cBhvr>
                                        <p:cTn id="42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10695 0.4272448 E" pathEditMode="relative" ptsTypes="">
                                      <p:cBhvr>
                                        <p:cTn id="47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20844 0.3298542 E" pathEditMode="relative" ptsTypes="">
                                      <p:cBhvr>
                                        <p:cTn id="52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624227 0.2973906 E" pathEditMode="relative" ptsTypes="">
                                      <p:cBhvr>
                                        <p:cTn id="57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217461 0.3623177 E" pathEditMode="relative" ptsTypes="">
                                      <p:cBhvr>
                                        <p:cTn id="62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4078 0.3947811 E" pathEditMode="relative" ptsTypes="">
                                      <p:cBhvr>
                                        <p:cTn id="67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2761 0.2649271 E" pathEditMode="relative" ptsTypes="">
                                      <p:cBhvr>
                                        <p:cTn id="72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030992 0.2324636 E" pathEditMode="relative" ptsTypes="">
                                      <p:cBhvr>
                                        <p:cTn id="77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734375 0.2 E" pathEditMode="relative" ptsTypes="">
                                      <p:cBhvr>
                                        <p:cTn id="82" dur="150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37758 0.1675365 E" pathEditMode="relative" ptsTypes="">
                                      <p:cBhvr>
                                        <p:cTn id="87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41142 0.1350731 E" pathEditMode="relative" ptsTypes="">
                                      <p:cBhvr>
                                        <p:cTn id="92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0.11875 -0.13518 " pathEditMode="relative" rAng="0" ptsTypes="AA">
                                      <p:cBhvr>
                                        <p:cTn id="97" dur="1500" spd="-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-6759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84633 -0.1675364 E" pathEditMode="relative" ptsTypes="">
                                      <p:cBhvr>
                                        <p:cTn id="102" dur="15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8125 -0.2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077868 -0.2324635 E" pathEditMode="relative" ptsTypes="">
                                      <p:cBhvr>
                                        <p:cTn id="112" dur="150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74485 -0.264927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71103 -0.2973905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719 -0.329854 E" pathEditMode="relative" ptsTypes="">
                                      <p:cBhvr>
                                        <p:cTn id="127" dur="1500" spd="-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64336 -0.3623175 E" pathEditMode="relative" ptsTypes="">
                                      <p:cBhvr>
                                        <p:cTn id="132" dur="15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60953 -0.394781 E" pathEditMode="relative" ptsTypes="">
                                      <p:cBhvr>
                                        <p:cTn id="137" dur="150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57571 -0.4272446 E" pathEditMode="relative" ptsTypes="">
                                      <p:cBhvr>
                                        <p:cTn id="142" dur="1500" spd="-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154187 -0.459708 E" pathEditMode="relative" ptsTypes="">
                                      <p:cBhvr>
                                        <p:cTn id="147" dur="1500" spd="-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450806 -0.4921715 E" pathEditMode="relative" ptsTypes="">
                                      <p:cBhvr>
                                        <p:cTn id="152" dur="1500" spd="-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747422 -0.5246352 E" pathEditMode="relative" ptsTypes="">
                                      <p:cBhvr>
                                        <p:cTn id="157" dur="1500" spd="-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44039 -0.5570987 E" pathEditMode="relative" ptsTypes="">
                                      <p:cBhvr>
                                        <p:cTn id="162" dur="150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40656 -0.5895621 E" pathEditMode="relative" ptsTypes="">
                                      <p:cBhvr>
                                        <p:cTn id="167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3.33333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4" grpId="0" animBg="1"/>
      <p:bldP spid="94" grpId="1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END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3BE562-CC54-E713-F3C4-483C147FEFEF}"/>
              </a:ext>
            </a:extLst>
          </p:cNvPr>
          <p:cNvSpPr/>
          <p:nvPr userDrawn="1"/>
        </p:nvSpPr>
        <p:spPr>
          <a:xfrm>
            <a:off x="571501" y="571500"/>
            <a:ext cx="110490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8000">
                <a:solidFill>
                  <a:schemeClr val="tx1"/>
                </a:solidFill>
                <a:latin typeface="+mj-lt"/>
              </a:rPr>
              <a:t>MASTER END </a:t>
            </a:r>
            <a:br>
              <a:rPr lang="en-US" sz="8000">
                <a:solidFill>
                  <a:schemeClr val="tx1"/>
                </a:solidFill>
                <a:latin typeface="+mj-lt"/>
              </a:rPr>
            </a:br>
            <a:r>
              <a:rPr lang="en-US" sz="8000">
                <a:solidFill>
                  <a:schemeClr val="tx1"/>
                </a:solidFill>
                <a:latin typeface="Verdana" panose="020B0604030504040204" pitchFamily="34" charset="0"/>
              </a:rPr>
              <a:t>DELETE ANY MASTER LAYOUTS BEYOND THIS POINT</a:t>
            </a:r>
            <a:endParaRPr lang="en-US" sz="5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0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5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0CAED-5146-95B5-AA0C-82EB84FE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0FF8-80F4-FB91-EED3-2B95EB592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524000"/>
            <a:ext cx="11104562" cy="4757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1224-4265-9B42-372F-30A22B4AF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9" y="6492925"/>
            <a:ext cx="8302626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dirty="0">
                <a:latin typeface="Verdana" panose="020B0604030504040204" pitchFamily="34" charset="0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8E69-9E7A-79AE-DEF5-19C280737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75900" y="6492925"/>
            <a:ext cx="127000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smtClean="0">
                <a:latin typeface="Verdana" panose="020B0604030504040204" pitchFamily="34" charset="0"/>
              </a:defRPr>
            </a:lvl1pPr>
          </a:lstStyle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09/10/2026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BAD8-5B8C-5850-0601-3F05CC6FE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074" y="6492925"/>
            <a:ext cx="5429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lang="en-US" sz="1000" b="0" smtClean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50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78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83" r:id="rId10"/>
    <p:sldLayoutId id="2147483680" r:id="rId11"/>
    <p:sldLayoutId id="2147483684" r:id="rId12"/>
    <p:sldLayoutId id="2147483679" r:id="rId13"/>
    <p:sldLayoutId id="2147483667" r:id="rId14"/>
    <p:sldLayoutId id="2147483660" r:id="rId15"/>
    <p:sldLayoutId id="2147483668" r:id="rId16"/>
    <p:sldLayoutId id="2147483674" r:id="rId17"/>
    <p:sldLayoutId id="2147483662" r:id="rId18"/>
    <p:sldLayoutId id="2147483663" r:id="rId19"/>
    <p:sldLayoutId id="2147483685" r:id="rId20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0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FA489"/>
          </p15:clr>
        </p15:guide>
        <p15:guide id="2" pos="7680" userDrawn="1">
          <p15:clr>
            <a:srgbClr val="FFA489"/>
          </p15:clr>
        </p15:guide>
        <p15:guide id="3" pos="344" userDrawn="1">
          <p15:clr>
            <a:srgbClr val="FFA489"/>
          </p15:clr>
        </p15:guide>
        <p15:guide id="4" pos="1144" userDrawn="1">
          <p15:clr>
            <a:srgbClr val="FFA489"/>
          </p15:clr>
        </p15:guide>
        <p15:guide id="5" pos="1224" userDrawn="1">
          <p15:clr>
            <a:srgbClr val="FFA489"/>
          </p15:clr>
        </p15:guide>
        <p15:guide id="6" pos="2032" userDrawn="1">
          <p15:clr>
            <a:srgbClr val="FFA489"/>
          </p15:clr>
        </p15:guide>
        <p15:guide id="7" pos="2112" userDrawn="1">
          <p15:clr>
            <a:srgbClr val="FFA489"/>
          </p15:clr>
        </p15:guide>
        <p15:guide id="8" pos="2912" userDrawn="1">
          <p15:clr>
            <a:srgbClr val="FFA489"/>
          </p15:clr>
        </p15:guide>
        <p15:guide id="9" pos="2992" userDrawn="1">
          <p15:clr>
            <a:srgbClr val="FFA489"/>
          </p15:clr>
        </p15:guide>
        <p15:guide id="10" pos="3800" userDrawn="1">
          <p15:clr>
            <a:srgbClr val="FFA489"/>
          </p15:clr>
        </p15:guide>
        <p15:guide id="11" pos="3880" userDrawn="1">
          <p15:clr>
            <a:srgbClr val="FFA489"/>
          </p15:clr>
        </p15:guide>
        <p15:guide id="12" pos="4688" userDrawn="1">
          <p15:clr>
            <a:srgbClr val="FFA489"/>
          </p15:clr>
        </p15:guide>
        <p15:guide id="13" pos="4768" userDrawn="1">
          <p15:clr>
            <a:srgbClr val="FFA489"/>
          </p15:clr>
        </p15:guide>
        <p15:guide id="14" pos="5568" userDrawn="1">
          <p15:clr>
            <a:srgbClr val="FFA489"/>
          </p15:clr>
        </p15:guide>
        <p15:guide id="15" pos="5648" userDrawn="1">
          <p15:clr>
            <a:srgbClr val="FFA489"/>
          </p15:clr>
        </p15:guide>
        <p15:guide id="16" pos="6456" userDrawn="1">
          <p15:clr>
            <a:srgbClr val="FFA489"/>
          </p15:clr>
        </p15:guide>
        <p15:guide id="17" pos="6536" userDrawn="1">
          <p15:clr>
            <a:srgbClr val="FFA489"/>
          </p15:clr>
        </p15:guide>
        <p15:guide id="18" pos="7336" userDrawn="1">
          <p15:clr>
            <a:srgbClr val="FFA489"/>
          </p15:clr>
        </p15:guide>
        <p15:guide id="19" orient="horz" userDrawn="1">
          <p15:clr>
            <a:srgbClr val="FFA489"/>
          </p15:clr>
        </p15:guide>
        <p15:guide id="20" orient="horz" pos="4320" userDrawn="1">
          <p15:clr>
            <a:srgbClr val="FFA489"/>
          </p15:clr>
        </p15:guide>
        <p15:guide id="21" orient="horz" pos="224" userDrawn="1">
          <p15:clr>
            <a:srgbClr val="FFA489"/>
          </p15:clr>
        </p15:guide>
        <p15:guide id="22" orient="horz" pos="3960" userDrawn="1">
          <p15:clr>
            <a:srgbClr val="FFA489"/>
          </p15:clr>
        </p15:guide>
        <p15:guide id="23" orient="horz" pos="720" userDrawn="1">
          <p15:clr>
            <a:srgbClr val="FFA489"/>
          </p15:clr>
        </p15:guide>
        <p15:guide id="24" orient="horz" pos="960" userDrawn="1">
          <p15:clr>
            <a:srgbClr val="FFA489"/>
          </p15:clr>
        </p15:guide>
        <p15:guide id="25" orient="horz" pos="1650" userDrawn="1">
          <p15:clr>
            <a:srgbClr val="FFA489"/>
          </p15:clr>
        </p15:guide>
        <p15:guide id="26" orient="horz" pos="1729" userDrawn="1">
          <p15:clr>
            <a:srgbClr val="FFA489"/>
          </p15:clr>
        </p15:guide>
        <p15:guide id="27" orient="horz" pos="2420" userDrawn="1">
          <p15:clr>
            <a:srgbClr val="FFA489"/>
          </p15:clr>
        </p15:guide>
        <p15:guide id="28" orient="horz" pos="2499" userDrawn="1">
          <p15:clr>
            <a:srgbClr val="FFA489"/>
          </p15:clr>
        </p15:guide>
        <p15:guide id="29" orient="horz" pos="3190" userDrawn="1">
          <p15:clr>
            <a:srgbClr val="FFA489"/>
          </p15:clr>
        </p15:guide>
        <p15:guide id="30" orient="horz" pos="3269" userDrawn="1">
          <p15:clr>
            <a:srgbClr val="FFA48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objects/electronics-devices/computer-components-pictures/technology-transistor-chip-electronics-hardware-motherboard-circuits-comput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goldfish-fantasy-imagination-fish-1229772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5FBFD7-AA60-6502-6103-489CAFD0C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100" y="1292772"/>
            <a:ext cx="7023100" cy="3993931"/>
          </a:xfrm>
        </p:spPr>
        <p:txBody>
          <a:bodyPr>
            <a:normAutofit fontScale="90000"/>
          </a:bodyPr>
          <a:lstStyle/>
          <a:p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Using Large Language Models (LLMs) with FHIR – Concepts, Use Cases &amp; Foundations</a:t>
            </a:r>
            <a:br>
              <a:rPr lang="en-US" sz="3100" dirty="0"/>
            </a:br>
            <a:br>
              <a:rPr lang="en-US" dirty="0"/>
            </a:br>
            <a:r>
              <a:rPr lang="en-US" sz="2700" dirty="0"/>
              <a:t>Patrick W. Jamieson, M.D.</a:t>
            </a:r>
            <a:br>
              <a:rPr lang="en-US" sz="2700" dirty="0"/>
            </a:br>
            <a:r>
              <a:rPr lang="en-US" sz="2700" dirty="0"/>
              <a:t>Technical Product Manager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Russ Leftwich, M.D.</a:t>
            </a:r>
            <a:br>
              <a:rPr lang="en-US" sz="2700" dirty="0"/>
            </a:br>
            <a:r>
              <a:rPr lang="en-US" sz="2700" dirty="0"/>
              <a:t>Senior Clinical Advisor, Interoperability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0C32A43-8C09-AEAD-3C75-BFC55D69E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br>
              <a:rPr lang="en-US" sz="3200" dirty="0">
                <a:solidFill>
                  <a:schemeClr val="accent1"/>
                </a:solidFill>
              </a:rPr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6056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061F-BC5E-F609-EE22-BBCF423F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Learning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CEFEA0-89C2-BF77-02F6-F3BAF85D2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the important of LLMs in Healthcare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core components of LLMs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Learn how to run LLMs locally with LM Studio to perform patient summarization using FHIR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4B3183-E907-8B89-DAEC-117B55A72F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Recognize the practical trade-offs between local and hosted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Grasp foundational skills in prompt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Explore other real-world use cases combining LLMs with FHIR</a:t>
            </a:r>
          </a:p>
        </p:txBody>
      </p:sp>
    </p:spTree>
    <p:extLst>
      <p:ext uri="{BB962C8B-B14F-4D97-AF65-F5344CB8AC3E}">
        <p14:creationId xmlns:p14="http://schemas.microsoft.com/office/powerpoint/2010/main" val="885975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1158-450D-313E-40EC-D3072181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an LLM?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4BEDA8-27FF-3DEC-2312-DE14BF857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“</a:t>
            </a:r>
            <a:r>
              <a:rPr lang="en-US" sz="2800" b="1" dirty="0"/>
              <a:t>A large language model is a type of deep learning model trained on vast amounts of text data using transformer architectures, with the goal of predicting and generating human-like text based on input sequences.”</a:t>
            </a:r>
          </a:p>
          <a:p>
            <a:pPr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1800" i="1" dirty="0"/>
              <a:t>Adapted from works by Vaswani et al. (2017), Brown et al. (2020, GPT-3), and </a:t>
            </a:r>
            <a:r>
              <a:rPr lang="en-US" sz="1800" i="1" dirty="0" err="1"/>
              <a:t>Bommasani</a:t>
            </a:r>
            <a:r>
              <a:rPr lang="en-US" sz="1800" i="1" dirty="0"/>
              <a:t> et al. (2021, Stanford Foundation Models paper).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55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946B-1B18-B0A3-D201-B8CCE129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Components in This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AE76-C1EB-45C1-917C-72B78763B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Large</a:t>
            </a:r>
            <a:r>
              <a:rPr lang="en-US" sz="2400" dirty="0"/>
              <a:t>: Refers to the </a:t>
            </a:r>
            <a:r>
              <a:rPr lang="en-US" sz="2400" b="1" dirty="0"/>
              <a:t>scale</a:t>
            </a:r>
            <a:r>
              <a:rPr lang="en-US" sz="2400" dirty="0"/>
              <a:t> of the model—billions of parameters trained on internet-scale corpora.</a:t>
            </a:r>
          </a:p>
          <a:p>
            <a:r>
              <a:rPr lang="en-US" sz="2400" b="1" dirty="0"/>
              <a:t>Language Model</a:t>
            </a:r>
            <a:r>
              <a:rPr lang="en-US" sz="2400" dirty="0"/>
              <a:t>: Predicts the </a:t>
            </a:r>
            <a:r>
              <a:rPr lang="en-US" sz="2400" b="1" dirty="0"/>
              <a:t>next token</a:t>
            </a:r>
            <a:r>
              <a:rPr lang="en-US" sz="2400" dirty="0"/>
              <a:t> in a sequence (the core objective in training).</a:t>
            </a:r>
          </a:p>
          <a:p>
            <a:r>
              <a:rPr lang="en-US" sz="2400" b="1" dirty="0"/>
              <a:t>Transformer-based</a:t>
            </a:r>
            <a:r>
              <a:rPr lang="en-US" sz="2400" dirty="0"/>
              <a:t>: Built on the </a:t>
            </a:r>
            <a:r>
              <a:rPr lang="en-US" sz="2400" b="1" dirty="0"/>
              <a:t>transformer architecture</a:t>
            </a:r>
            <a:r>
              <a:rPr lang="en-US" sz="2400" dirty="0"/>
              <a:t> from Vaswani et al., 2017.</a:t>
            </a:r>
          </a:p>
          <a:p>
            <a:r>
              <a:rPr lang="en-US" sz="2400" b="1" dirty="0"/>
              <a:t>Human-like text</a:t>
            </a:r>
            <a:r>
              <a:rPr lang="en-US" sz="2400" dirty="0"/>
              <a:t>: These models can </a:t>
            </a:r>
            <a:r>
              <a:rPr lang="en-US" sz="2400" b="1" dirty="0"/>
              <a:t>generate</a:t>
            </a:r>
            <a:r>
              <a:rPr lang="en-US" sz="2400" dirty="0"/>
              <a:t>, </a:t>
            </a:r>
            <a:r>
              <a:rPr lang="en-US" sz="2400" b="1" dirty="0"/>
              <a:t>summarize</a:t>
            </a:r>
            <a:r>
              <a:rPr lang="en-US" sz="2400" dirty="0"/>
              <a:t>, </a:t>
            </a:r>
            <a:r>
              <a:rPr lang="en-US" sz="2400" b="1" dirty="0"/>
              <a:t>translate</a:t>
            </a:r>
            <a:r>
              <a:rPr lang="en-US" sz="2400" dirty="0"/>
              <a:t>, and </a:t>
            </a:r>
            <a:r>
              <a:rPr lang="en-US" sz="2400" b="1" dirty="0"/>
              <a:t>answer</a:t>
            </a:r>
            <a:r>
              <a:rPr lang="en-US" sz="2400" dirty="0"/>
              <a:t> in natural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19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1800-7168-5A4D-7DB3-7D5CDC52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F0D79-1CF0-0832-3E84-7D527803A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Clinicians face information overload and decision fatigue.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674FE-A5DA-395E-3407-5E72340E1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Mayo Clinic</a:t>
            </a:r>
            <a:r>
              <a:rPr lang="en-US" dirty="0"/>
              <a:t> and others use LLMs to summarize patient records to assist diagnostic decision-making.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LLMs generate condition overviews or risk factor highlights for complex patients.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2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F23F-8DD2-634E-E23A-29285F54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9931-0562-DFAB-AD83-68FBE041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845DD-AC59-C71A-E26F-478A6FA4E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Physicians spend too much time on EHR documentation.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DD107-7A18-2685-1A9C-B6D74FFA0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b="1" dirty="0"/>
              <a:t>Ambience Healthcare</a:t>
            </a:r>
            <a:r>
              <a:rPr lang="en-US" dirty="0"/>
              <a:t> and </a:t>
            </a:r>
            <a:r>
              <a:rPr lang="en-US" b="1" dirty="0"/>
              <a:t>Abridge</a:t>
            </a:r>
            <a:r>
              <a:rPr lang="en-US" dirty="0"/>
              <a:t> use LLMs to generate SOAP notes from transcripts.</a:t>
            </a:r>
          </a:p>
          <a:p>
            <a:r>
              <a:rPr lang="en-US" b="1" dirty="0"/>
              <a:t>Amazon HealthScribe</a:t>
            </a:r>
            <a:r>
              <a:rPr lang="en-US" dirty="0"/>
              <a:t> applies LLMs to transcribe and summarize doctor-patient conversations.</a:t>
            </a:r>
          </a:p>
          <a:p>
            <a:r>
              <a:rPr lang="en-US" dirty="0"/>
              <a:t>Result: Clinicians reclaim hours per week in reduced charting time.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3DBF-6B0F-2872-67BE-0C8182ED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CAB4-A9BB-A2C9-B80B-AF5B7E7B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1F806-27B3-3711-B65D-D360F4FDD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Manually querying EHRs for complex patient populations is slow and error-prone.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ACB4E-3330-246D-C0D3-4FC7F2948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LLMs interpret natural language queries like:</a:t>
            </a:r>
            <a:br>
              <a:rPr lang="en-US" b="1" dirty="0"/>
            </a:br>
            <a:r>
              <a:rPr lang="en-US" b="1" dirty="0"/>
              <a:t>“Find all diabetic patients with HbA1c &gt; 8 and a history of neuropathy”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This is translated into SQL or FHIR queries using prompt-based reasoning or vector search.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Used by AI platforms like </a:t>
            </a:r>
            <a:r>
              <a:rPr lang="en-US" b="1" dirty="0" err="1"/>
              <a:t>LynxMD</a:t>
            </a:r>
            <a:r>
              <a:rPr lang="en-US" b="1" dirty="0"/>
              <a:t> and Hippocratic AI.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7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E4D0-7968-B5C0-18AD-3B16A4FF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6A93-6E7B-11CF-4325-68B7E015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D3200-90AB-E1C1-9E6E-E7D594B27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Literature is vast and grows daily; clinicians can't keep up.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50BF-C39B-C1DA-B25D-97A740E07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Tools like </a:t>
            </a:r>
            <a:r>
              <a:rPr lang="en-US" b="1" dirty="0" err="1"/>
              <a:t>BioGPT</a:t>
            </a:r>
            <a:r>
              <a:rPr lang="en-US" dirty="0"/>
              <a:t> and </a:t>
            </a:r>
            <a:r>
              <a:rPr lang="en-US" b="1" dirty="0"/>
              <a:t>PubMed GPT</a:t>
            </a:r>
            <a:r>
              <a:rPr lang="en-US" dirty="0"/>
              <a:t> summarize or extract insights from research papers.</a:t>
            </a:r>
          </a:p>
          <a:p>
            <a:r>
              <a:rPr lang="en-US" dirty="0"/>
              <a:t>Pharma researchers use LLMs to answer questions like:</a:t>
            </a:r>
            <a:br>
              <a:rPr lang="en-US" dirty="0"/>
            </a:br>
            <a:r>
              <a:rPr lang="en-US" i="1" dirty="0"/>
              <a:t>“What are current treatments targeting IL-6 pathways?”</a:t>
            </a:r>
            <a:endParaRPr lang="en-US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6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78CD7-6A35-6A8A-78D8-3C3FAE59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EC6D-7795-DE77-216A-2E46B831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C541A-5170-461A-374E-357BC07FA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Patients need reliable health information but access is limited.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0A0F-C51F-0D0F-D49E-0EC16FE34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Ada Health, Babylon, and others use LLMs for symptom checking and triage.</a:t>
            </a:r>
          </a:p>
          <a:p>
            <a:r>
              <a:rPr lang="en-US" dirty="0"/>
              <a:t>Chatbots provide context-aware guidance for medication adherence, side effect concerns, and appointment prep.</a:t>
            </a:r>
          </a:p>
          <a:p>
            <a:r>
              <a:rPr lang="en-US" dirty="0"/>
              <a:t>Ongoing research into using LLMs like MedPaLM for high-stakes medical Q&amp;A.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73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80CA-6911-380A-AC94-B54C3B4E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67AA-FB6D-5872-51AF-96D98BD4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34140-D730-F362-0A8B-409A3B4BD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EHR data is locked in free-text clinical notes.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204DB-10BF-2293-D73D-C8F2B6030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LLMs extract medications, conditions, labs, and timelines from narrative reports.</a:t>
            </a:r>
          </a:p>
          <a:p>
            <a:r>
              <a:rPr lang="en-US" dirty="0"/>
              <a:t>Transforms notes into FHIR-compliant resources for downstream use.</a:t>
            </a:r>
          </a:p>
          <a:p>
            <a:r>
              <a:rPr lang="en-US" dirty="0"/>
              <a:t>Supports clinical trials, registry reporting, and quality measures.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4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56BA-42BB-F4C7-8817-1DF80334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58FC-5F8F-963C-5CC4-FD843AA4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F06DB-58CE-2842-0214-5EC29C291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Identifying at-risk patients early is critical for intervention.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6DBA-4F6F-43FB-84C2-C2DDD0027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Combine embeddings of longitudinal notes and structured data.</a:t>
            </a:r>
          </a:p>
          <a:p>
            <a:r>
              <a:rPr lang="en-US" dirty="0"/>
              <a:t>Use LLMs to highlight concerning trends in vitals, language, or past diagnoses.</a:t>
            </a:r>
          </a:p>
          <a:p>
            <a:r>
              <a:rPr lang="en-US" dirty="0"/>
              <a:t>E.g., early detection of sepsis, suicide risk, or readmission risk.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91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6F1C32-A3FE-6EA8-E7CA-56888A04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/>
              <a:t>Core Components</a:t>
            </a:r>
          </a:p>
        </p:txBody>
      </p:sp>
      <p:pic>
        <p:nvPicPr>
          <p:cNvPr id="10" name="Content Placeholder 9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E1E3DF60-3ADA-A9A7-96B2-3FA00B81A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7161" r="2" b="254"/>
          <a:stretch>
            <a:fillRect/>
          </a:stretch>
        </p:blipFill>
        <p:spPr>
          <a:xfrm>
            <a:off x="546100" y="1649413"/>
            <a:ext cx="11099800" cy="4637087"/>
          </a:xfrm>
          <a:noFill/>
        </p:spPr>
      </p:pic>
    </p:spTree>
    <p:extLst>
      <p:ext uri="{BB962C8B-B14F-4D97-AF65-F5344CB8AC3E}">
        <p14:creationId xmlns:p14="http://schemas.microsoft.com/office/powerpoint/2010/main" val="3196190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8680D799-3562-D529-910A-8F698B27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Components Evolved Out of the Evolution of NLP</a:t>
            </a:r>
          </a:p>
        </p:txBody>
      </p:sp>
      <p:pic>
        <p:nvPicPr>
          <p:cNvPr id="12" name="Picture 11" descr="A blue and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E0F030DF-52CE-BA87-02E8-FD19D49D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309" y="1063244"/>
            <a:ext cx="3545352" cy="5311391"/>
          </a:xfrm>
          <a:prstGeom prst="rect">
            <a:avLst/>
          </a:prstGeom>
          <a:noFill/>
          <a:effectLst>
            <a:outerShdw blurRad="254000" algn="ct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1058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3417-6C34-7EEA-F5B9-CD638DF4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What Are Word Embeddings?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E55227B-40DD-DB20-5352-49121B77D07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80468872"/>
              </p:ext>
            </p:extLst>
          </p:nvPr>
        </p:nvGraphicFramePr>
        <p:xfrm>
          <a:off x="546100" y="1333500"/>
          <a:ext cx="10495943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0688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4114-95EC-C33F-03BE-6381D498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Word2Vec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44FCF9-AB00-DD46-A6DC-3C6F97ADC4D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55919394"/>
              </p:ext>
            </p:extLst>
          </p:nvPr>
        </p:nvGraphicFramePr>
        <p:xfrm>
          <a:off x="546100" y="1333500"/>
          <a:ext cx="10495943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556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379C08-98E6-3A94-8022-93212DF2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 (Word2Vec)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50000-0747-EB54-D1C6-0E5F056630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Given a word, predict surrounding context words.</a:t>
            </a:r>
          </a:p>
          <a:p>
            <a:pPr>
              <a:defRPr sz="1800"/>
            </a:pPr>
            <a:r>
              <a:rPr lang="en-US" dirty="0"/>
              <a:t>Trains model to understand the likelihood of word co-occurrence.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Example:</a:t>
            </a:r>
            <a:br>
              <a:rPr lang="en-US" dirty="0"/>
            </a:b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Input: 'diabetes'</a:t>
            </a:r>
          </a:p>
          <a:p>
            <a:pPr marL="0" indent="0">
              <a:buNone/>
              <a:defRPr sz="1800"/>
            </a:pPr>
            <a:r>
              <a:rPr lang="en-US" dirty="0"/>
              <a:t>Output: ['chronic', 'condition', 'blood', 'glucose']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EEB311-E7DF-2953-2833-A9A79A896B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Embeddings capture semantic relationships.</a:t>
            </a:r>
          </a:p>
          <a:p>
            <a:pPr>
              <a:defRPr sz="1800"/>
            </a:pPr>
            <a:r>
              <a:rPr lang="en-US" dirty="0"/>
              <a:t>Applications in search, recommendation, and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33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diabetes&#10;&#10;AI-generated content may be incorrect.">
            <a:extLst>
              <a:ext uri="{FF2B5EF4-FFF2-40B4-BE49-F238E27FC236}">
                <a16:creationId xmlns:a16="http://schemas.microsoft.com/office/drawing/2014/main" id="{477F3519-A377-2DBC-A095-3B27723E2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9" y="177799"/>
            <a:ext cx="6684211" cy="66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62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t>Why Order Matters in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dirty="0"/>
              <a:t>Language is sequential: the meaning of a word depends on its context.</a:t>
            </a: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dirty="0"/>
              <a:t>Example:</a:t>
            </a:r>
            <a:endParaRPr lang="en-US"/>
          </a:p>
          <a:p>
            <a:pPr marL="0" indent="0">
              <a:spcAft>
                <a:spcPts val="600"/>
              </a:spcAft>
              <a:buNone/>
              <a:defRPr sz="1800"/>
            </a:pPr>
            <a:r>
              <a:rPr dirty="0"/>
              <a:t>  • 'The patient took the medication' vs. 'The medication took the patient'</a:t>
            </a: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dirty="0"/>
              <a:t>Sequence models process inputs one token at a time to preserve word order.</a:t>
            </a:r>
            <a:endParaRPr lang="en-US"/>
          </a:p>
        </p:txBody>
      </p:sp>
      <p:pic>
        <p:nvPicPr>
          <p:cNvPr id="10" name="Picture Placeholder 9" descr="A crossword puzzle with words&#10;&#10;AI-generated content may be incorrect.">
            <a:extLst>
              <a:ext uri="{FF2B5EF4-FFF2-40B4-BE49-F238E27FC236}">
                <a16:creationId xmlns:a16="http://schemas.microsoft.com/office/drawing/2014/main" id="{413AA8F3-9764-9FB4-B7F0-2D70CCF5A6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" b="1775"/>
          <a:stretch/>
        </p:blipFill>
        <p:spPr>
          <a:xfrm>
            <a:off x="6159500" y="1524016"/>
            <a:ext cx="5486400" cy="4762467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t>The Importance of Neural Networks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600"/>
              </a:spcAft>
              <a:defRPr sz="1800"/>
            </a:pPr>
            <a:r>
              <a:t>Neural networks revolutionized natural language processing (NLP).</a:t>
            </a:r>
          </a:p>
          <a:p>
            <a:pPr>
              <a:spcAft>
                <a:spcPts val="600"/>
              </a:spcAft>
              <a:defRPr sz="1800"/>
            </a:pPr>
            <a:r>
              <a:t>Enable models to learn from data instead of relying on hand-coded rules.</a:t>
            </a:r>
          </a:p>
          <a:p>
            <a:pPr>
              <a:spcAft>
                <a:spcPts val="600"/>
              </a:spcAft>
              <a:defRPr sz="1800"/>
            </a:pPr>
            <a:r>
              <a:t>Capture complex patterns in grammar, semantics, and context.</a:t>
            </a:r>
          </a:p>
          <a:p>
            <a:pPr>
              <a:spcAft>
                <a:spcPts val="600"/>
              </a:spcAft>
              <a:defRPr sz="1800"/>
            </a:pPr>
            <a:r>
              <a:t>Support core tasks: translation, summarization, sentiment analysis, Q&amp;A.</a:t>
            </a:r>
          </a:p>
          <a:p>
            <a:pPr>
              <a:spcAft>
                <a:spcPts val="600"/>
              </a:spcAft>
              <a:defRPr sz="1800"/>
            </a:pPr>
            <a:r>
              <a:t>Key architectures evolved:</a:t>
            </a:r>
            <a:endParaRPr lang="en-US"/>
          </a:p>
          <a:p>
            <a:pPr marL="0" indent="0">
              <a:spcAft>
                <a:spcPts val="600"/>
              </a:spcAft>
              <a:buNone/>
              <a:defRPr sz="1800"/>
            </a:pPr>
            <a:r>
              <a:rPr lang="en-US"/>
              <a:t>	</a:t>
            </a:r>
            <a:r>
              <a:t>Feedforward Networks → RNNs → LSTMs → Transformers</a:t>
            </a:r>
          </a:p>
          <a:p>
            <a:pPr>
              <a:spcAft>
                <a:spcPts val="600"/>
              </a:spcAft>
              <a:defRPr sz="1800"/>
            </a:pPr>
            <a:r>
              <a:t>Foundation for modern LLMs like BERT, GPT, and T5.</a:t>
            </a:r>
          </a:p>
        </p:txBody>
      </p:sp>
      <p:pic>
        <p:nvPicPr>
          <p:cNvPr id="5" name="Picture 4" descr="A glowing neurons in a dark background&#10;&#10;AI-generated content may be incorrect.">
            <a:extLst>
              <a:ext uri="{FF2B5EF4-FFF2-40B4-BE49-F238E27FC236}">
                <a16:creationId xmlns:a16="http://schemas.microsoft.com/office/drawing/2014/main" id="{5B5C5764-308D-8334-B5FF-D198696B7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15" r="11273" b="-1"/>
          <a:stretch>
            <a:fillRect/>
          </a:stretch>
        </p:blipFill>
        <p:spPr>
          <a:xfrm>
            <a:off x="6819883" y="1391137"/>
            <a:ext cx="4153866" cy="36058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t>What Are Sequence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Sequence models are designed to handle ordered data like text or time series.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They process input in a specific order to capture context.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Examples include Recurrent Neural Networks (RNNs) and Long Short-Term Memory (LSTM) networks.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Foundation for understanding language before transformers.</a:t>
            </a:r>
            <a:endParaRPr lang="en-US" dirty="0"/>
          </a:p>
          <a:p>
            <a:pPr>
              <a:spcAft>
                <a:spcPts val="600"/>
              </a:spcAft>
              <a:defRPr sz="1800"/>
            </a:pPr>
            <a:endParaRPr lang="en-US" dirty="0"/>
          </a:p>
          <a:p>
            <a:pPr>
              <a:spcAft>
                <a:spcPts val="600"/>
              </a:spcAft>
              <a:defRPr sz="1800"/>
            </a:pPr>
            <a:endParaRPr lang="en-US" dirty="0"/>
          </a:p>
          <a:p>
            <a:pPr>
              <a:spcAft>
                <a:spcPts val="6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CC6DEFC0-86C0-1197-D000-FC18B4118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2" b="12178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200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Self-Attention: The 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Self-attention allows the model to focus on different words in the input.</a:t>
            </a:r>
          </a:p>
          <a:p>
            <a:pPr>
              <a:defRPr sz="1800"/>
            </a:pPr>
            <a:r>
              <a:rPr sz="2400" dirty="0"/>
              <a:t>It assigns weights to words based on relevance to the current word.</a:t>
            </a:r>
          </a:p>
          <a:p>
            <a:pPr>
              <a:defRPr sz="1800"/>
            </a:pPr>
            <a:endParaRPr lang="en-US" sz="2400" dirty="0"/>
          </a:p>
          <a:p>
            <a:pPr>
              <a:defRPr sz="1800"/>
            </a:pPr>
            <a:endParaRPr lang="en-US" sz="2400" dirty="0"/>
          </a:p>
          <a:p>
            <a:pPr marL="0" indent="0">
              <a:buNone/>
              <a:defRPr sz="1800"/>
            </a:pPr>
            <a:r>
              <a:rPr sz="2400" dirty="0"/>
              <a:t>Example:</a:t>
            </a:r>
            <a:endParaRPr lang="en-US" sz="2400" dirty="0"/>
          </a:p>
          <a:p>
            <a:pPr marL="0" indent="0">
              <a:buNone/>
              <a:defRPr sz="1800"/>
            </a:pPr>
            <a:endParaRPr sz="2400" dirty="0"/>
          </a:p>
          <a:p>
            <a:pPr marL="0" indent="0">
              <a:buNone/>
              <a:defRPr sz="1800"/>
            </a:pPr>
            <a:r>
              <a:rPr sz="2400" dirty="0"/>
              <a:t>  In 'The patient took the medication', attention helps relate 'patient' to 'took'.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Transformer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Consists of an Encoder and a Decoder</a:t>
            </a:r>
          </a:p>
          <a:p>
            <a:pPr>
              <a:defRPr sz="1800"/>
            </a:pPr>
            <a:r>
              <a:rPr sz="2400" dirty="0"/>
              <a:t>Each block uses:</a:t>
            </a:r>
          </a:p>
          <a:p>
            <a:pPr marL="0" indent="0">
              <a:buNone/>
              <a:defRPr sz="1800"/>
            </a:pPr>
            <a:r>
              <a:rPr sz="2400" dirty="0"/>
              <a:t>  • Multi-head self-attention</a:t>
            </a:r>
          </a:p>
          <a:p>
            <a:pPr marL="0" indent="0">
              <a:buNone/>
              <a:defRPr sz="1800"/>
            </a:pPr>
            <a:r>
              <a:rPr sz="2400" dirty="0"/>
              <a:t>  • Feed-forward neural network</a:t>
            </a:r>
          </a:p>
          <a:p>
            <a:pPr marL="0" indent="0">
              <a:buNone/>
              <a:defRPr sz="1800"/>
            </a:pPr>
            <a:r>
              <a:rPr sz="2400" dirty="0"/>
              <a:t>  • Add &amp; Norm layers</a:t>
            </a:r>
          </a:p>
          <a:p>
            <a:pPr>
              <a:defRPr sz="1800"/>
            </a:pPr>
            <a:r>
              <a:rPr sz="2400" dirty="0"/>
              <a:t>Stacks of layers enable deep context understanding.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Transformers Are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Can process input in parallel — faster than RNNs.</a:t>
            </a:r>
          </a:p>
          <a:p>
            <a:pPr>
              <a:defRPr sz="1800"/>
            </a:pPr>
            <a:r>
              <a:rPr sz="2400" dirty="0"/>
              <a:t>Capture long-range dependencies better.</a:t>
            </a:r>
          </a:p>
          <a:p>
            <a:pPr>
              <a:defRPr sz="1800"/>
            </a:pPr>
            <a:r>
              <a:rPr sz="2400" dirty="0"/>
              <a:t>Scalable: more layers = better performance.</a:t>
            </a:r>
          </a:p>
          <a:p>
            <a:pPr>
              <a:defRPr sz="1800"/>
            </a:pPr>
            <a:r>
              <a:rPr sz="2400" dirty="0"/>
              <a:t>Backbone of models like GPT, BERT, T5, and more.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GPT, BERT, and T5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GPT – Generative Pre-trained Transformer</a:t>
            </a:r>
          </a:p>
          <a:p>
            <a:pPr lvl="1">
              <a:defRPr sz="1800"/>
            </a:pPr>
            <a:r>
              <a:rPr dirty="0"/>
              <a:t>Generates text using pre-trained Transformer architecture.</a:t>
            </a:r>
          </a:p>
          <a:p>
            <a:pPr lvl="1">
              <a:defRPr sz="1800"/>
            </a:pPr>
            <a:r>
              <a:rPr dirty="0"/>
              <a:t>Example: GPT-4 (OpenAI).</a:t>
            </a:r>
          </a:p>
          <a:p>
            <a:pPr>
              <a:defRPr sz="1800"/>
            </a:pPr>
            <a:r>
              <a:rPr dirty="0"/>
              <a:t>BERT – Bidirectional Encoder Representations from Transformers</a:t>
            </a:r>
          </a:p>
          <a:p>
            <a:pPr lvl="1">
              <a:defRPr sz="1800"/>
            </a:pPr>
            <a:r>
              <a:rPr dirty="0"/>
              <a:t>Understands text by analyzing left and right context simultaneously.</a:t>
            </a:r>
          </a:p>
          <a:p>
            <a:pPr lvl="1">
              <a:defRPr sz="1800"/>
            </a:pPr>
            <a:r>
              <a:rPr dirty="0"/>
              <a:t>Example: Used in Google Search and medical NLP.</a:t>
            </a:r>
          </a:p>
          <a:p>
            <a:pPr>
              <a:defRPr sz="1800"/>
            </a:pPr>
            <a:r>
              <a:rPr dirty="0"/>
              <a:t>T5 – Text-to-Text Transfer Transformer</a:t>
            </a:r>
          </a:p>
          <a:p>
            <a:pPr lvl="1">
              <a:defRPr sz="1800"/>
            </a:pPr>
            <a:r>
              <a:rPr dirty="0"/>
              <a:t>Reformulates all NLP tasks as text-to-text problems.</a:t>
            </a:r>
          </a:p>
          <a:p>
            <a:pPr lvl="1">
              <a:defRPr sz="1800"/>
            </a:pPr>
            <a:r>
              <a:rPr dirty="0"/>
              <a:t>Example: Translation, summarization, question answering.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graph of a number of individuals&#10;&#10;AI-generated content may be incorrect.">
            <a:extLst>
              <a:ext uri="{FF2B5EF4-FFF2-40B4-BE49-F238E27FC236}">
                <a16:creationId xmlns:a16="http://schemas.microsoft.com/office/drawing/2014/main" id="{C231F501-A919-5E98-4BC0-22332375B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77799"/>
            <a:ext cx="9721516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3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3B80-41CA-0515-DCB3-E6BF3772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LLM Hallucinations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4BFF-5713-71BB-6E35-8013A02BC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 in FHIR: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An LLM returns a made-up FHIR query format like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/>
              <a:t>{ "$search": { "</a:t>
            </a:r>
            <a:r>
              <a:rPr lang="en-US" dirty="0" err="1"/>
              <a:t>last_name</a:t>
            </a:r>
            <a:r>
              <a:rPr lang="en-US" dirty="0"/>
              <a:t>": "Smith" } } </a:t>
            </a:r>
            <a:br>
              <a:rPr lang="en-US" dirty="0"/>
            </a:br>
            <a:endParaRPr lang="en-US" dirty="0"/>
          </a:p>
          <a:p>
            <a:pPr rtl="0">
              <a:buNone/>
            </a:pPr>
            <a:r>
              <a:rPr lang="en-US" dirty="0"/>
              <a:t>— not part of the FHIR standard.</a:t>
            </a:r>
          </a:p>
          <a:p>
            <a:pPr rtl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 It Matters:</a:t>
            </a:r>
            <a:br>
              <a:rPr lang="en-US" dirty="0"/>
            </a:br>
            <a:r>
              <a:rPr lang="en-US" dirty="0"/>
              <a:t>In healthcare and standards-based data like FHIR, hallucinations can lead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Misleading implementations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Non-compliant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Erosion of trust in AI tools</a:t>
            </a:r>
          </a:p>
          <a:p>
            <a:pPr rtl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8A26D-2E2D-E860-D2BF-D68E370DF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LLM "hallucination" refers to when a model confidently generates </a:t>
            </a:r>
            <a:r>
              <a:rPr lang="en-US" b="1" dirty="0"/>
              <a:t>false, fabricated, or misleading information</a:t>
            </a:r>
            <a:r>
              <a:rPr lang="en-US" dirty="0"/>
              <a:t> that appears plausible but is not grounded in real data.</a:t>
            </a:r>
          </a:p>
        </p:txBody>
      </p:sp>
    </p:spTree>
    <p:extLst>
      <p:ext uri="{BB962C8B-B14F-4D97-AF65-F5344CB8AC3E}">
        <p14:creationId xmlns:p14="http://schemas.microsoft.com/office/powerpoint/2010/main" val="791545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3BD8-18E6-0254-4090-24E9FECF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Causes of LLM Hallucinations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1ED0-AE23-FE50-9CA1-76BDAF83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1. Predictive Nature:</a:t>
            </a:r>
            <a:br>
              <a:rPr lang="en-US" dirty="0"/>
            </a:br>
            <a:r>
              <a:rPr lang="en-US" dirty="0"/>
              <a:t>LLMs generate the most statistically likely next word — not necessarily the correct or true one.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2. Lack of Grounding:</a:t>
            </a:r>
            <a:br>
              <a:rPr lang="en-US" dirty="0"/>
            </a:br>
            <a:r>
              <a:rPr lang="en-US" dirty="0"/>
              <a:t>Without real-time access to trusted data sources, responses are based on pretraining patterns, not facts.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3. Training Data Gaps:</a:t>
            </a:r>
            <a:br>
              <a:rPr lang="en-US" dirty="0"/>
            </a:br>
            <a:r>
              <a:rPr lang="en-US" dirty="0"/>
              <a:t>If the training set lacks formal documentation (e.g., HL7 FHIR specs), models invent plausible structures.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b="1" dirty="0"/>
              <a:t>4. Overgeneralization:</a:t>
            </a:r>
            <a:br>
              <a:rPr lang="en-US" dirty="0"/>
            </a:br>
            <a:r>
              <a:rPr lang="en-US" dirty="0"/>
              <a:t>Exposure to various API formats (</a:t>
            </a:r>
            <a:r>
              <a:rPr lang="en-US" dirty="0" err="1"/>
              <a:t>GraphQL</a:t>
            </a:r>
            <a:r>
              <a:rPr lang="en-US" dirty="0"/>
              <a:t>, SQL, etc.) leads to confused synthesis in domain-specific tasks.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369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5B0C8-0A87-9E30-E79D-A3DEFB95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Reducing LLM Hallucinations in FHIR Applications</a:t>
            </a:r>
            <a:br>
              <a:rPr lang="en-US" dirty="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F465-061B-491A-6FA0-D7C9178DB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Use Grounding Techniques: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Augment prompts with real documentation (FHIR spec URLs, examples)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Implement Retrieval-Augmented Generation (RAG)</a:t>
            </a:r>
            <a:r>
              <a:rPr lang="en-US" b="1"/>
              <a:t> Fine-Tune with Domain Data: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Train on curated, validated FHIR queries and responses</a:t>
            </a:r>
          </a:p>
          <a:p>
            <a:pPr>
              <a:spcAft>
                <a:spcPts val="600"/>
              </a:spcAft>
              <a:buNone/>
            </a:pPr>
            <a:r>
              <a:rPr lang="en-US" b="1"/>
              <a:t>Human-in-the-Loop: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Have clinicians or FHIR experts review and approve outputs</a:t>
            </a:r>
          </a:p>
          <a:p>
            <a:pPr>
              <a:spcAft>
                <a:spcPts val="600"/>
              </a:spcAft>
              <a:buNone/>
            </a:pPr>
            <a:r>
              <a:rPr lang="en-US" b="1"/>
              <a:t>Model Choice &amp; Prompt Engineering: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Use smaller, specialized models where possible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Frame prompts with clarity and constraints: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"Return a valid FHIR R4 REST API search query using standard parameters."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pic>
        <p:nvPicPr>
          <p:cNvPr id="16" name="Content Placeholder 15" descr="A person standing on a rock looking at a large explosion&#10;&#10;AI-generated content may be incorrect.">
            <a:extLst>
              <a:ext uri="{FF2B5EF4-FFF2-40B4-BE49-F238E27FC236}">
                <a16:creationId xmlns:a16="http://schemas.microsoft.com/office/drawing/2014/main" id="{8145C2B3-4EF2-1C7D-542D-FC457A551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59500" y="2352495"/>
            <a:ext cx="5486400" cy="3105509"/>
          </a:xfrm>
          <a:noFill/>
        </p:spPr>
      </p:pic>
    </p:spTree>
    <p:extLst>
      <p:ext uri="{BB962C8B-B14F-4D97-AF65-F5344CB8AC3E}">
        <p14:creationId xmlns:p14="http://schemas.microsoft.com/office/powerpoint/2010/main" val="3672781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2169-54B2-3B0E-1226-F60CDAD7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LLMs on Your Laptop</a:t>
            </a:r>
          </a:p>
        </p:txBody>
      </p:sp>
      <p:pic>
        <p:nvPicPr>
          <p:cNvPr id="6" name="Content Placeholder 5" descr="A computer with a book on the screen&#10;&#10;AI-generated content may be incorrect.">
            <a:extLst>
              <a:ext uri="{FF2B5EF4-FFF2-40B4-BE49-F238E27FC236}">
                <a16:creationId xmlns:a16="http://schemas.microsoft.com/office/drawing/2014/main" id="{87EC0954-EDD8-766D-2244-A16D1B0E3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2062956"/>
            <a:ext cx="5080000" cy="3810000"/>
          </a:xfrm>
        </p:spPr>
      </p:pic>
    </p:spTree>
    <p:extLst>
      <p:ext uri="{BB962C8B-B14F-4D97-AF65-F5344CB8AC3E}">
        <p14:creationId xmlns:p14="http://schemas.microsoft.com/office/powerpoint/2010/main" val="3290800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/>
              <a:t>What is LM Studio?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lang="en-US"/>
              <a:t>LM Studio is a desktop app for running local LLMs on your laptop.</a:t>
            </a:r>
          </a:p>
          <a:p>
            <a:pPr>
              <a:spcAft>
                <a:spcPts val="600"/>
              </a:spcAft>
              <a:defRPr sz="1800"/>
            </a:pPr>
            <a:r>
              <a:rPr lang="en-US"/>
              <a:t>Allows you to chat with models like Mistral, </a:t>
            </a:r>
            <a:r>
              <a:rPr lang="en-US" err="1"/>
              <a:t>LLaMA</a:t>
            </a:r>
            <a:r>
              <a:rPr lang="en-US"/>
              <a:t>, or Phi.</a:t>
            </a:r>
          </a:p>
          <a:p>
            <a:pPr>
              <a:spcAft>
                <a:spcPts val="600"/>
              </a:spcAft>
              <a:defRPr sz="1800"/>
            </a:pPr>
            <a:r>
              <a:rPr lang="en-US"/>
              <a:t>No internet required — great for privacy and offline work.</a:t>
            </a:r>
          </a:p>
          <a:p>
            <a:pPr>
              <a:spcAft>
                <a:spcPts val="600"/>
              </a:spcAft>
              <a:defRPr sz="1800"/>
            </a:pPr>
            <a:r>
              <a:rPr lang="en-US"/>
              <a:t>You can also connect to LM Studio from Python using an API.</a:t>
            </a:r>
          </a:p>
        </p:txBody>
      </p:sp>
      <p:pic>
        <p:nvPicPr>
          <p:cNvPr id="5" name="Content Placeholder 4" descr="A photo studio with lighting equipment&#10;&#10;AI-generated content may be incorrect.">
            <a:extLst>
              <a:ext uri="{FF2B5EF4-FFF2-40B4-BE49-F238E27FC236}">
                <a16:creationId xmlns:a16="http://schemas.microsoft.com/office/drawing/2014/main" id="{590333B0-FEB8-B9A0-FE28-69687A555B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50" y="1524000"/>
            <a:ext cx="4762500" cy="4762500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708" y="483787"/>
            <a:ext cx="10495943" cy="777875"/>
          </a:xfrm>
        </p:spPr>
        <p:txBody>
          <a:bodyPr>
            <a:normAutofit/>
          </a:bodyPr>
          <a:lstStyle/>
          <a:p>
            <a:r>
              <a:rPr sz="3600" dirty="0"/>
              <a:t>Using LM Studio: Basic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r>
              <a:rPr sz="2400" dirty="0"/>
              <a:t>1. Install LM Studio from https://</a:t>
            </a:r>
            <a:r>
              <a:rPr sz="2400" dirty="0" err="1"/>
              <a:t>lmstudio.ai</a:t>
            </a:r>
            <a:r>
              <a:rPr sz="2400" dirty="0"/>
              <a:t>/</a:t>
            </a:r>
          </a:p>
          <a:p>
            <a:pPr marL="0" indent="0">
              <a:buNone/>
              <a:defRPr sz="1800"/>
            </a:pPr>
            <a:r>
              <a:rPr sz="2400" dirty="0"/>
              <a:t>2. Launch the app and browse available models (e.g., from </a:t>
            </a:r>
            <a:r>
              <a:rPr sz="2400" dirty="0" err="1"/>
              <a:t>HuggingFace</a:t>
            </a:r>
            <a:r>
              <a:rPr sz="2400" dirty="0"/>
              <a:t>).</a:t>
            </a:r>
          </a:p>
          <a:p>
            <a:pPr marL="0" indent="0">
              <a:buNone/>
              <a:defRPr sz="1800"/>
            </a:pPr>
            <a:r>
              <a:rPr sz="2400" dirty="0"/>
              <a:t>3. Download a quantized model (GGUF format).</a:t>
            </a:r>
          </a:p>
          <a:p>
            <a:pPr marL="0" indent="0">
              <a:buNone/>
              <a:defRPr sz="1800"/>
            </a:pPr>
            <a:r>
              <a:rPr sz="2400" dirty="0"/>
              <a:t>4. Start the local inference server under 'Settings &gt; API Server'.</a:t>
            </a:r>
          </a:p>
          <a:p>
            <a:pPr marL="0" indent="0">
              <a:buNone/>
              <a:defRPr sz="1800"/>
            </a:pPr>
            <a:r>
              <a:rPr sz="2400" dirty="0"/>
              <a:t>5. Interact with the model using the built-in chat or via Python.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B26CE1-7E6E-D3BA-4606-78CF9E49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907" y="100149"/>
            <a:ext cx="6478476" cy="66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2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What is Hugging Face?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Hugging Face is a popular platform for sharing and using machine learning models.</a:t>
            </a:r>
          </a:p>
          <a:p>
            <a:pPr>
              <a:defRPr sz="1800"/>
            </a:pPr>
            <a:r>
              <a:rPr sz="2400" dirty="0"/>
              <a:t>Hosts thousands of open-source models (e.g., GPT2, BERT, Mistral).</a:t>
            </a:r>
          </a:p>
          <a:p>
            <a:pPr>
              <a:defRPr sz="1800"/>
            </a:pPr>
            <a:r>
              <a:rPr sz="2400" dirty="0"/>
              <a:t>Supports a wide range of NLP, vision, and audio tasks.</a:t>
            </a:r>
          </a:p>
          <a:p>
            <a:pPr>
              <a:defRPr sz="1800"/>
            </a:pPr>
            <a:r>
              <a:rPr sz="2400" dirty="0"/>
              <a:t>Includes tools like the Transformers library for model loading and inference.</a:t>
            </a:r>
          </a:p>
          <a:p>
            <a:pPr>
              <a:defRPr sz="1800"/>
            </a:pPr>
            <a:r>
              <a:rPr sz="2400" dirty="0"/>
              <a:t>Researchers use it to share pretrained models and datasets.</a:t>
            </a:r>
          </a:p>
          <a:p>
            <a:pPr>
              <a:defRPr sz="1800"/>
            </a:pPr>
            <a:r>
              <a:rPr sz="2400" dirty="0"/>
              <a:t>Developers use it to easily integrate state-of-the-art models into apps.</a:t>
            </a:r>
          </a:p>
          <a:p>
            <a:pPr>
              <a:defRPr sz="1800"/>
            </a:pPr>
            <a:r>
              <a:rPr sz="2400" dirty="0"/>
              <a:t>Hugely important in democratizing access to AI research and tooling.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atient note&#10;&#10;AI-generated content may be incorrect.">
            <a:extLst>
              <a:ext uri="{FF2B5EF4-FFF2-40B4-BE49-F238E27FC236}">
                <a16:creationId xmlns:a16="http://schemas.microsoft.com/office/drawing/2014/main" id="{866BD565-0C7C-FA01-8CA8-0BBA0AD8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998" y="75852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105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7C1FE4-E251-2835-5F03-217C82D6C065}"/>
              </a:ext>
            </a:extLst>
          </p:cNvPr>
          <p:cNvGraphicFramePr>
            <a:graphicFrameLocks noGrp="1"/>
          </p:cNvGraphicFramePr>
          <p:nvPr/>
        </p:nvGraphicFramePr>
        <p:xfrm>
          <a:off x="546100" y="2439829"/>
          <a:ext cx="11104563" cy="2926080"/>
        </p:xfrm>
        <a:graphic>
          <a:graphicData uri="http://schemas.openxmlformats.org/drawingml/2006/table">
            <a:tbl>
              <a:tblPr/>
              <a:tblGrid>
                <a:gridCol w="3701521">
                  <a:extLst>
                    <a:ext uri="{9D8B030D-6E8A-4147-A177-3AD203B41FA5}">
                      <a16:colId xmlns:a16="http://schemas.microsoft.com/office/drawing/2014/main" val="3640817858"/>
                    </a:ext>
                  </a:extLst>
                </a:gridCol>
                <a:gridCol w="3701521">
                  <a:extLst>
                    <a:ext uri="{9D8B030D-6E8A-4147-A177-3AD203B41FA5}">
                      <a16:colId xmlns:a16="http://schemas.microsoft.com/office/drawing/2014/main" val="2807227964"/>
                    </a:ext>
                  </a:extLst>
                </a:gridCol>
                <a:gridCol w="3701521">
                  <a:extLst>
                    <a:ext uri="{9D8B030D-6E8A-4147-A177-3AD203B41FA5}">
                      <a16:colId xmlns:a16="http://schemas.microsoft.com/office/drawing/2014/main" val="37467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Are Embeddings Required?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6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Single short note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LLM can process raw text directly.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86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Long note (chunked)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⚠️ Sometimes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Embeddings help find key chunks.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90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Query-based summarization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Used for relevance filtering (RAG-style).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Summarizing multiple 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 (recommended)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Embeddings organize &amp; rank important content.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1106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DE0D0D7-80B9-77B7-B8D3-DEAB7A59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Embeddings Needed for Summarization?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F034B-6167-705F-6CFF-70A43F617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6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3F93-AFDF-1E49-34B1-3B1A2BD4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t">
            <a:normAutofit/>
          </a:bodyPr>
          <a:lstStyle/>
          <a:p>
            <a:r>
              <a:rPr lang="en-US" dirty="0"/>
              <a:t>What is Patient/$everything?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926B-41D8-5776-5885-B57F85DC3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100" y="1143000"/>
            <a:ext cx="11099800" cy="4343400"/>
          </a:xfrm>
        </p:spPr>
        <p:txBody>
          <a:bodyPr anchor="ctr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FHIR operation</a:t>
            </a:r>
            <a:r>
              <a:rPr lang="en-US" dirty="0"/>
              <a:t> that retrieves all resources </a:t>
            </a:r>
            <a:r>
              <a:rPr lang="en-US" b="1" dirty="0"/>
              <a:t>related to a patient</a:t>
            </a:r>
            <a:r>
              <a:rPr lang="en-US" dirty="0"/>
              <a:t>, across resource types.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Enables a </a:t>
            </a:r>
            <a:r>
              <a:rPr lang="en-US" b="1" dirty="0"/>
              <a:t>comprehensive view</a:t>
            </a:r>
            <a:r>
              <a:rPr lang="en-US" dirty="0"/>
              <a:t> of a patient's health history in a single API call.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Returns a Bundle of resources: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Encounter, Observation, MedicationRequest, Condition, AllergyIntolerance, etc.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Read-only operation (does not alter data).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68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256999-446C-9BC8-BB1E-993EFD1789E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5CD3AC-1AAA-127C-3144-4F9E7821AC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EF374F-D90C-7C9D-A318-31BA028897C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13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heme/theme1.xml><?xml version="1.0" encoding="utf-8"?>
<a:theme xmlns:a="http://schemas.openxmlformats.org/drawingml/2006/main" name="InterSystems Dark">
  <a:themeElements>
    <a:clrScheme name="Office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5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oolkit_Dark.potx" id="{85178133-8F43-4129-B9A7-7931E2433E4F}" vid="{1F628C43-33C9-4793-9680-121BB52C7340}"/>
    </a:ext>
  </a:extLst>
</a:theme>
</file>

<file path=ppt/theme/theme2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45D81-FD79-49BE-A9DE-9724009E3F5F}">
  <we:reference id="wa200000729" version="3.19.222.0" store="en-US" storeType="OMEX"/>
  <we:alternateReferences>
    <we:reference id="WA200000729" version="3.19.222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D8318239364A44B6771AADAAB80E45" ma:contentTypeVersion="19" ma:contentTypeDescription="Create a new document." ma:contentTypeScope="" ma:versionID="1ac6381f9e1424c9301a32a258599715">
  <xsd:schema xmlns:xsd="http://www.w3.org/2001/XMLSchema" xmlns:xs="http://www.w3.org/2001/XMLSchema" xmlns:p="http://schemas.microsoft.com/office/2006/metadata/properties" xmlns:ns2="e9bfbe92-dbcc-4f39-ae79-e77cdac41135" xmlns:ns3="3dc99b8b-acf8-4151-9c01-377bbdf7dd33" targetNamespace="http://schemas.microsoft.com/office/2006/metadata/properties" ma:root="true" ma:fieldsID="c7487f85ef43cbb8899e64e9dd132be0" ns2:_="" ns3:_="">
    <xsd:import namespace="e9bfbe92-dbcc-4f39-ae79-e77cdac41135"/>
    <xsd:import namespace="3dc99b8b-acf8-4151-9c01-377bbdf7dd3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Description0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fbe92-dbcc-4f39-ae79-e77cdac4113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4226362-ffaf-42ed-9c7c-82201536b8d4}" ma:internalName="TaxCatchAll" ma:showField="CatchAllData" ma:web="e9bfbe92-dbcc-4f39-ae79-e77cdac411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99b8b-acf8-4151-9c01-377bbdf7dd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Description0" ma:index="12" nillable="true" ma:displayName="Description" ma:default="Insert details" ma:internalName="Description0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f367377-cea2-4f59-9866-8491a8f07a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c99b8b-acf8-4151-9c01-377bbdf7dd33">
      <Terms xmlns="http://schemas.microsoft.com/office/infopath/2007/PartnerControls"/>
    </lcf76f155ced4ddcb4097134ff3c332f>
    <TaxCatchAll xmlns="e9bfbe92-dbcc-4f39-ae79-e77cdac41135" xsi:nil="true"/>
    <Description0 xmlns="3dc99b8b-acf8-4151-9c01-377bbdf7dd33">Insert details</Description0>
  </documentManagement>
</p:properties>
</file>

<file path=customXml/itemProps1.xml><?xml version="1.0" encoding="utf-8"?>
<ds:datastoreItem xmlns:ds="http://schemas.openxmlformats.org/officeDocument/2006/customXml" ds:itemID="{D4CF5A6B-74B9-45E4-8F77-04A61412E841}">
  <ds:schemaRefs>
    <ds:schemaRef ds:uri="3dc99b8b-acf8-4151-9c01-377bbdf7dd33"/>
    <ds:schemaRef ds:uri="e9bfbe92-dbcc-4f39-ae79-e77cdac411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271F3A7-8AA1-4FC7-B82E-7D0D5D59BD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729C12-CBA5-4FB4-B252-3FB8A06021FC}">
  <ds:schemaRefs>
    <ds:schemaRef ds:uri="3dc99b8b-acf8-4151-9c01-377bbdf7dd33"/>
    <ds:schemaRef ds:uri="e9bfbe92-dbcc-4f39-ae79-e77cdac411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Toolkit_Dark</Template>
  <TotalTime>24306</TotalTime>
  <Words>1906</Words>
  <Application>Microsoft Macintosh PowerPoint</Application>
  <PresentationFormat>Widescreen</PresentationFormat>
  <Paragraphs>226</Paragraphs>
  <Slides>38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Verdana</vt:lpstr>
      <vt:lpstr>Verdana bold</vt:lpstr>
      <vt:lpstr>InterSystems Dark</vt:lpstr>
      <vt:lpstr>  Using Large Language Models (LLMs) with FHIR – Concepts, Use Cases &amp; Foundations  Patrick W. Jamieson, M.D. Technical Product Manager  Russ Leftwich, M.D. Senior Clinical Advisor, Interoperability </vt:lpstr>
      <vt:lpstr>Learning Objectives</vt:lpstr>
      <vt:lpstr>What is an LLM?</vt:lpstr>
      <vt:lpstr>Key Components in This Definition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Core Components</vt:lpstr>
      <vt:lpstr>Components Evolved Out of the Evolution of NLP</vt:lpstr>
      <vt:lpstr>What Are Word Embeddings?</vt:lpstr>
      <vt:lpstr>Word2Vec</vt:lpstr>
      <vt:lpstr>Skip-gram Model (Word2Vec)</vt:lpstr>
      <vt:lpstr>PowerPoint Presentation</vt:lpstr>
      <vt:lpstr>Why Order Matters in Language</vt:lpstr>
      <vt:lpstr>The Importance of Neural Networks in NLP</vt:lpstr>
      <vt:lpstr>What Are Sequence Models?</vt:lpstr>
      <vt:lpstr>PowerPoint Presentation</vt:lpstr>
      <vt:lpstr>Self-Attention: The Key Idea</vt:lpstr>
      <vt:lpstr>Transformer Architecture Overview</vt:lpstr>
      <vt:lpstr>Why Transformers Are Powerful</vt:lpstr>
      <vt:lpstr>GPT, BERT, and T5</vt:lpstr>
      <vt:lpstr>PowerPoint Presentation</vt:lpstr>
      <vt:lpstr>Understanding LLM Hallucinations</vt:lpstr>
      <vt:lpstr>Causes of LLM Hallucinations</vt:lpstr>
      <vt:lpstr>Reducing LLM Hallucinations in FHIR Applications </vt:lpstr>
      <vt:lpstr>Running LLMs on Your Laptop</vt:lpstr>
      <vt:lpstr>What is LM Studio?</vt:lpstr>
      <vt:lpstr>Using LM Studio: Basic Steps</vt:lpstr>
      <vt:lpstr>PowerPoint Presentation</vt:lpstr>
      <vt:lpstr>What is Hugging Face?</vt:lpstr>
      <vt:lpstr>PowerPoint Presentation</vt:lpstr>
      <vt:lpstr>When Are Embeddings Needed for Summarization?</vt:lpstr>
      <vt:lpstr>What is Patient/$everything?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Molly MacNeill</dc:creator>
  <cp:lastModifiedBy>Patrick Jamieson</cp:lastModifiedBy>
  <cp:revision>22</cp:revision>
  <cp:lastPrinted>2025-05-07T18:21:55Z</cp:lastPrinted>
  <dcterms:created xsi:type="dcterms:W3CDTF">2024-09-17T16:55:38Z</dcterms:created>
  <dcterms:modified xsi:type="dcterms:W3CDTF">2026-10-09T19:26:50Z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0x01010045D8318239364A44B6771AADAAB80E45</vt:lpwstr>
  </property>
  <property fmtid="{D5CDD505-2E9C-101B-9397-08002B2CF9AE}" pid="3" name="MediaServiceImageTags">
    <vt:lpwstr/>
  </property>
</Properties>
</file>